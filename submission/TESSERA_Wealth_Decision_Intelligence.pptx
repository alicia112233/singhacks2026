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9f177aa7584444" /><Relationship Type="http://schemas.openxmlformats.org/officeDocument/2006/relationships/extended-properties" Target="/docProps/app.xml" Id="R21d49fc5c1f64024" /><Relationship Type="http://schemas.openxmlformats.org/officeDocument/2006/relationships/officeDocument" Target="/ppt/presentation.xml" Id="Rf4b8b5601dfb4e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88a500dc2743bc"/>
  </p:sldMasterIdLst>
  <p:notesMasterIdLst>
    <p:notesMasterId xmlns:r="http://schemas.openxmlformats.org/officeDocument/2006/relationships" r:id="Rd2aba3517e254fbd"/>
  </p:notesMasterIdLst>
  <p:sldIdLst>
    <p:sldId xmlns:r="http://schemas.openxmlformats.org/officeDocument/2006/relationships" id="256" r:id="R65c66c4bddf04497"/>
    <p:sldId xmlns:r="http://schemas.openxmlformats.org/officeDocument/2006/relationships" id="257" r:id="R61c09e08c1a44317"/>
    <p:sldId xmlns:r="http://schemas.openxmlformats.org/officeDocument/2006/relationships" id="258" r:id="Rf74f1243f6ed4a65"/>
    <p:sldId xmlns:r="http://schemas.openxmlformats.org/officeDocument/2006/relationships" id="259" r:id="Ra90e3e591ae54695"/>
    <p:sldId xmlns:r="http://schemas.openxmlformats.org/officeDocument/2006/relationships" id="260" r:id="Ra8f22ea396a04d39"/>
    <p:sldId xmlns:r="http://schemas.openxmlformats.org/officeDocument/2006/relationships" id="261" r:id="Rce38d3d2e0734f25"/>
    <p:sldId xmlns:r="http://schemas.openxmlformats.org/officeDocument/2006/relationships" id="262" r:id="R4080582b298a47b1"/>
    <p:sldId xmlns:r="http://schemas.openxmlformats.org/officeDocument/2006/relationships" id="263" r:id="Rc512de3b2776499a"/>
    <p:sldId xmlns:r="http://schemas.openxmlformats.org/officeDocument/2006/relationships" id="264" r:id="R2367e2ec1ee4421e"/>
    <p:sldId xmlns:r="http://schemas.openxmlformats.org/officeDocument/2006/relationships" id="265" r:id="R50e4631ca33b4037"/>
    <p:sldId xmlns:r="http://schemas.openxmlformats.org/officeDocument/2006/relationships" id="266" r:id="R067547b0ed954441"/>
    <p:sldId xmlns:r="http://schemas.openxmlformats.org/officeDocument/2006/relationships" id="267" r:id="R44efb4af9a404e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b22d53809140c5" /><Relationship Type="http://schemas.openxmlformats.org/officeDocument/2006/relationships/slideMaster" Target="/ppt/slideMasters/slideMaster1.xml" Id="R8188a500dc2743bc" /><Relationship Type="http://schemas.openxmlformats.org/officeDocument/2006/relationships/notesMaster" Target="/ppt/notesMasters/notesMaster1.xml" Id="Rd2aba3517e254fbd" /><Relationship Type="http://schemas.openxmlformats.org/officeDocument/2006/relationships/presProps" Target="/ppt/presProps.xml" Id="R675ee9e6f88747f0" /><Relationship Type="http://schemas.openxmlformats.org/officeDocument/2006/relationships/viewProps" Target="/ppt/viewProps.xml" Id="R2ed33eb448c34f21" /><Relationship Type="http://schemas.openxmlformats.org/officeDocument/2006/relationships/tableStyles" Target="/ppt/tableStyles.xml" Id="R178c7e27bde54879" /><Relationship Type="http://schemas.openxmlformats.org/officeDocument/2006/relationships/slide" Target="/ppt/slides/slide1.xml" Id="R65c66c4bddf04497" /><Relationship Type="http://schemas.openxmlformats.org/officeDocument/2006/relationships/slide" Target="/ppt/slides/slide2.xml" Id="R61c09e08c1a44317" /><Relationship Type="http://schemas.openxmlformats.org/officeDocument/2006/relationships/slide" Target="/ppt/slides/slide3.xml" Id="Rf74f1243f6ed4a65" /><Relationship Type="http://schemas.openxmlformats.org/officeDocument/2006/relationships/slide" Target="/ppt/slides/slide4.xml" Id="Ra90e3e591ae54695" /><Relationship Type="http://schemas.openxmlformats.org/officeDocument/2006/relationships/slide" Target="/ppt/slides/slide5.xml" Id="Ra8f22ea396a04d39" /><Relationship Type="http://schemas.openxmlformats.org/officeDocument/2006/relationships/slide" Target="/ppt/slides/slide6.xml" Id="Rce38d3d2e0734f25" /><Relationship Type="http://schemas.openxmlformats.org/officeDocument/2006/relationships/slide" Target="/ppt/slides/slide7.xml" Id="R4080582b298a47b1" /><Relationship Type="http://schemas.openxmlformats.org/officeDocument/2006/relationships/slide" Target="/ppt/slides/slide8.xml" Id="Rc512de3b2776499a" /><Relationship Type="http://schemas.openxmlformats.org/officeDocument/2006/relationships/slide" Target="/ppt/slides/slide9.xml" Id="R2367e2ec1ee4421e" /><Relationship Type="http://schemas.openxmlformats.org/officeDocument/2006/relationships/slide" Target="/ppt/slides/slide10.xml" Id="R50e4631ca33b4037" /><Relationship Type="http://schemas.openxmlformats.org/officeDocument/2006/relationships/slide" Target="/ppt/slides/slide11.xml" Id="R067547b0ed954441" /><Relationship Type="http://schemas.openxmlformats.org/officeDocument/2006/relationships/slide" Target="/ppt/slides/slide12.xml" Id="R44efb4af9a404e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5a680974084d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2e9dd0a40e48da" /><Relationship Type="http://schemas.openxmlformats.org/officeDocument/2006/relationships/notesMaster" Target="/ppt/notesMasters/notesMaster1.xml" Id="R1cf348050ca94b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64137b9bc844a4" /><Relationship Type="http://schemas.openxmlformats.org/officeDocument/2006/relationships/notesMaster" Target="/ppt/notesMasters/notesMaster1.xml" Id="R576ec6f8de9346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f0885b0bc943cb" /><Relationship Type="http://schemas.openxmlformats.org/officeDocument/2006/relationships/notesMaster" Target="/ppt/notesMasters/notesMaster1.xml" Id="Rcee993c5c07448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efa062b87d48c2" /><Relationship Type="http://schemas.openxmlformats.org/officeDocument/2006/relationships/notesMaster" Target="/ppt/notesMasters/notesMaster1.xml" Id="R7ee6d03771cd4d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c3fa62cea74fc6" /><Relationship Type="http://schemas.openxmlformats.org/officeDocument/2006/relationships/notesMaster" Target="/ppt/notesMasters/notesMaster1.xml" Id="Rd3a37dbd0de340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4fbed5b55a41b7" /><Relationship Type="http://schemas.openxmlformats.org/officeDocument/2006/relationships/notesMaster" Target="/ppt/notesMasters/notesMaster1.xml" Id="R108bbc9e546344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5401c9cb4743f8" /><Relationship Type="http://schemas.openxmlformats.org/officeDocument/2006/relationships/notesMaster" Target="/ppt/notesMasters/notesMaster1.xml" Id="R3f66edfabece4f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99c655525f4aaa" /><Relationship Type="http://schemas.openxmlformats.org/officeDocument/2006/relationships/notesMaster" Target="/ppt/notesMasters/notesMaster1.xml" Id="R68cf4b34bac049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d981d80ddd4ac7" /><Relationship Type="http://schemas.openxmlformats.org/officeDocument/2006/relationships/notesMaster" Target="/ppt/notesMasters/notesMaster1.xml" Id="Rc16215d8e92748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6105679a704d02" /><Relationship Type="http://schemas.openxmlformats.org/officeDocument/2006/relationships/notesMaster" Target="/ppt/notesMasters/notesMaster1.xml" Id="Re4b37ad1376a4e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4879b49acb495f" /><Relationship Type="http://schemas.openxmlformats.org/officeDocument/2006/relationships/notesMaster" Target="/ppt/notesMasters/notesMaster1.xml" Id="R7c767c8d953a4c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946aca2fa4492c" /><Relationship Type="http://schemas.openxmlformats.org/officeDocument/2006/relationships/notesMaster" Target="/ppt/notesMasters/notesMaster1.xml" Id="Rfb21cd437e9d4c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826f0a8bf4e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51ba0a322d4ffc" /><Relationship Type="http://schemas.openxmlformats.org/officeDocument/2006/relationships/slideLayout" Target="/ppt/slideLayouts/slideLayout1.xml" Id="Rc0ec5ae27eef49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c5ae27eef49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9c966631c4574" /><Relationship Type="http://schemas.openxmlformats.org/officeDocument/2006/relationships/image" Target="/ppt/media/image.png" Id="R3f050ebfc04d4370" /><Relationship Type="http://schemas.openxmlformats.org/officeDocument/2006/relationships/notesSlide" Target="/ppt/notesSlides/notesSlide1.xml" Id="R0321f023c1d647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c112c87494b13" /><Relationship Type="http://schemas.openxmlformats.org/officeDocument/2006/relationships/notesSlide" Target="/ppt/notesSlides/notesSlide2.xml" Id="R69108a6f69d641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ea9506d994ff0" /><Relationship Type="http://schemas.openxmlformats.org/officeDocument/2006/relationships/notesSlide" Target="/ppt/notesSlides/notesSlide3.xml" Id="R520564742a1446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f528472c84ead" /><Relationship Type="http://schemas.openxmlformats.org/officeDocument/2006/relationships/notesSlide" Target="/ppt/notesSlides/notesSlide4.xml" Id="R9be656d355144b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6d51100684df9" /><Relationship Type="http://schemas.openxmlformats.org/officeDocument/2006/relationships/image" Target="/ppt/media/image2.png" Id="Rb596ebbd184f46ff" /><Relationship Type="http://schemas.openxmlformats.org/officeDocument/2006/relationships/notesSlide" Target="/ppt/notesSlides/notesSlide5.xml" Id="R973abc36809841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2834e530f4649" /><Relationship Type="http://schemas.openxmlformats.org/officeDocument/2006/relationships/notesSlide" Target="/ppt/notesSlides/notesSlide6.xml" Id="R87e86b306ed846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bd82a84ca4480" /><Relationship Type="http://schemas.openxmlformats.org/officeDocument/2006/relationships/notesSlide" Target="/ppt/notesSlides/notesSlide7.xml" Id="R4a2dd2e9d9024a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4275649394476" /><Relationship Type="http://schemas.openxmlformats.org/officeDocument/2006/relationships/notesSlide" Target="/ppt/notesSlides/notesSlide8.xml" Id="R7f92b17521d34b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bf09388fe4784" /><Relationship Type="http://schemas.openxmlformats.org/officeDocument/2006/relationships/notesSlide" Target="/ppt/notesSlides/notesSlide9.xml" Id="Rf844e373874644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50fb327914bbf" /><Relationship Type="http://schemas.openxmlformats.org/officeDocument/2006/relationships/notesSlide" Target="/ppt/notesSlides/notesSlide10.xml" Id="R171e3728cca146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23f242678477f" /><Relationship Type="http://schemas.openxmlformats.org/officeDocument/2006/relationships/notesSlide" Target="/ppt/notesSlides/notesSlide11.xml" Id="R8da64493fca147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1cbe5a0584aca" /><Relationship Type="http://schemas.openxmlformats.org/officeDocument/2006/relationships/notesSlide" Target="/ppt/notesSlides/notesSlide12.xml" Id="R2c11bb96b3ba45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AFDDECE-560E-4E7A-A871-B49A537A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essera-tile-1">
            <a:extLst xmlns:a="http://schemas.openxmlformats.org/drawingml/2006/main">
              <a:ext uri="{FF2B5EF4-FFF2-40B4-BE49-F238E27FC236}">
                <a16:creationId xmlns:a16="http://schemas.microsoft.com/office/drawing/2014/main" id="{EE7EB912-E81A-40DD-9FD3-66E1E27E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04850" y="4572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essera-tile-2">
            <a:extLst xmlns:a="http://schemas.openxmlformats.org/drawingml/2006/main">
              <a:ext uri="{FF2B5EF4-FFF2-40B4-BE49-F238E27FC236}">
                <a16:creationId xmlns:a16="http://schemas.microsoft.com/office/drawing/2014/main" id="{671B330C-F572-462E-BC61-0B688150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85825" y="4572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ssera-tile-3">
            <a:extLst xmlns:a="http://schemas.openxmlformats.org/drawingml/2006/main">
              <a:ext uri="{FF2B5EF4-FFF2-40B4-BE49-F238E27FC236}">
                <a16:creationId xmlns:a16="http://schemas.microsoft.com/office/drawing/2014/main" id="{6897AF41-15B1-40B6-896B-86AE739A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04850" y="6381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ssera-tile-4">
            <a:extLst xmlns:a="http://schemas.openxmlformats.org/drawingml/2006/main">
              <a:ext uri="{FF2B5EF4-FFF2-40B4-BE49-F238E27FC236}">
                <a16:creationId xmlns:a16="http://schemas.microsoft.com/office/drawing/2014/main" id="{9C8A995B-0391-4215-86B7-704FBDB0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85825" y="6381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940C2-3265-4629-B571-306C3166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TESSERA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C127C-5770-462F-9C87-5A41E387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781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WEALTH DECISION INTELLIGENCE</a:t>
            </a:r>
          </a:p>
        </p:txBody>
      </p:sp>
      <p:sp>
        <p:nvSpPr>
          <p:cNvPr id="8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08418860-F83B-4553-8943-E83AB343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956F5024-8E08-4678-87C2-10CEE82D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SINGHACKS 2026 · UNOFFICIAL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1D272-6E98-4FA7-93F2-69390ADA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096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portfolio report</a:t>
            </a:r>
          </a:p>
          <a:p xmlns:a="http://schemas.openxmlformats.org/drawingml/2006/main">
            <a:pPr algn="l">
              <a:defRPr sz="45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is not the 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0562A-1DEB-4B9A-8490-D75BA000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05175"/>
            <a:ext cx="5429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5CFC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CFCB"/>
                </a:solidFill>
                <a:latin typeface="Aptos"/>
                <a:ea typeface="Aptos"/>
                <a:cs typeface="Aptos"/>
              </a:rPr>
              <a:t>TESSERA finds the contradiction that deserves a conversation—then makes the evidence, scenario and next move inspectable.</a:t>
            </a:r>
          </a:p>
        </p:txBody>
      </p:sp>
      <p:sp>
        <p:nvSpPr>
          <p:cNvPr id="12" name="cover-screenshot-frame">
            <a:extLst xmlns:a="http://schemas.openxmlformats.org/drawingml/2006/main">
              <a:ext uri="{FF2B5EF4-FFF2-40B4-BE49-F238E27FC236}">
                <a16:creationId xmlns:a16="http://schemas.microsoft.com/office/drawing/2014/main" id="{8C4200B0-8790-458F-8A9E-6500D579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81125"/>
            <a:ext cx="4857750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19050">
            <a:solidFill>
              <a:srgbClr val="B78F5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50ebfc04d4370"/>
          <a:srcRect xmlns:a="http://schemas.openxmlformats.org/drawingml/2006/main" l="22" t="0" r="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457325"/>
            <a:ext cx="4705350" cy="2647950"/>
          </a:xfrm>
          <a:prstGeom xmlns:a="http://schemas.openxmlformats.org/drawingml/2006/main" prst="rect">
            <a:avLst/>
          </a:prstGeom>
        </p:spPr>
      </p:pic>
      <p:sp>
        <p:nvSpPr>
          <p:cNvPr id="14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6AA42C32-1CEE-469B-8EF9-7C81B4CF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2AA66-C8AF-4B01-AD23-F2D2E5F9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24325"/>
            <a:ext cx="447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1E"/>
                </a:solidFill>
                <a:latin typeface="Aptos"/>
                <a:ea typeface="Aptos"/>
                <a:cs typeface="Aptos"/>
              </a:rPr>
              <a:t>RUNNING PROTOTYPE · 26 AUG 2026</a:t>
            </a:r>
          </a:p>
        </p:txBody>
      </p:sp>
      <p:sp>
        <p:nvSpPr>
          <p:cNvPr id="16" name="cover-metric-rule">
            <a:extLst xmlns:a="http://schemas.openxmlformats.org/drawingml/2006/main">
              <a:ext uri="{FF2B5EF4-FFF2-40B4-BE49-F238E27FC236}">
                <a16:creationId xmlns:a16="http://schemas.microsoft.com/office/drawing/2014/main" id="{243A2DC0-2937-4A13-95C2-FE3E18D7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D46CE-AE90-4EF4-9F28-A494F385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7D6B5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E7D6B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883C6-F789-456C-B2F0-FB8126FA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95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AAA6"/>
                </a:solidFill>
                <a:latin typeface="Aptos"/>
                <a:ea typeface="Aptos"/>
                <a:cs typeface="Aptos"/>
              </a:rPr>
              <a:t>CLIENTS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A08DD-D2F7-4DAF-9B60-13D99A22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530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7D6B5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E7D6B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D61FC-AB44-4B56-A7A9-7D784DBD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AAA6"/>
                </a:solidFill>
                <a:latin typeface="Aptos"/>
                <a:ea typeface="Aptos"/>
                <a:cs typeface="Aptos"/>
              </a:rPr>
              <a:t>PORTFOLIOS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105B0-3DE8-4ABB-9571-BB55CE49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530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7D6B5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E7D6B5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F6D43-8E96-440E-8C78-716110FB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10200"/>
            <a:ext cx="1095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AAA6"/>
                </a:solidFill>
                <a:latin typeface="Aptos"/>
                <a:ea typeface="Aptos"/>
                <a:cs typeface="Aptos"/>
              </a:rPr>
              <a:t>SNAPSHOTS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A5856-B9E6-49F5-971B-9D9E3ECE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7D6B5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E7D6B5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46AB7F-0605-4F42-A3BB-9A7FBD18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4102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AAA6"/>
                </a:solidFill>
                <a:latin typeface="Aptos"/>
                <a:ea typeface="Aptos"/>
                <a:cs typeface="Aptos"/>
              </a:rPr>
              <a:t>RELATIONSHIP MANAGER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B4379-7E27-4D07-B1A7-9649F1C1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AAA6"/>
                </a:solidFill>
                <a:latin typeface="Aptos"/>
                <a:ea typeface="Aptos"/>
                <a:cs typeface="Aptos"/>
              </a:rPr>
              <a:t>Synthetic challenge data · Scenarios are illustrative, not forecasts · RM approval required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56EFC-DBB0-4505-BBC1-B3615F1A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7D6B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7D6B5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46780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4694E2E-6855-49E5-A7E9-2F2315C1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119D5137-7DFC-4633-84C5-EEC6A979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3729F906-D787-493A-8153-05079E27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E1C2D-1758-4610-8904-580B9B25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A static report can be accurate—and still miss the decision that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39DC5-BB7A-4931-837D-9FC01815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Private-wealth decisions live across client language, instrument behavior, future liabilities and policy—not inside one performance chart.</a:t>
            </a:r>
          </a:p>
        </p:txBody>
      </p:sp>
      <p:sp>
        <p:nvSpPr>
          <p:cNvPr id="6" name="problem-column-1">
            <a:extLst xmlns:a="http://schemas.openxmlformats.org/drawingml/2006/main">
              <a:ext uri="{FF2B5EF4-FFF2-40B4-BE49-F238E27FC236}">
                <a16:creationId xmlns:a16="http://schemas.microsoft.com/office/drawing/2014/main" id="{0F9444EE-977D-4C34-BF6F-F8952D22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895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7023B-67EA-49E1-B11C-33118A93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CLIENT SAYS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7606E-0911-488E-819C-34727EBD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438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“I do not want to sell anything at a loss.”</a:t>
            </a:r>
          </a:p>
        </p:txBody>
      </p:sp>
      <p:sp>
        <p:nvSpPr>
          <p:cNvPr id="9" name="problem-link-1">
            <a:extLst xmlns:a="http://schemas.openxmlformats.org/drawingml/2006/main">
              <a:ext uri="{FF2B5EF4-FFF2-40B4-BE49-F238E27FC236}">
                <a16:creationId xmlns:a16="http://schemas.microsoft.com/office/drawing/2014/main" id="{5B59A4B6-62D9-47CA-8351-1CECB39D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blem-column-2">
            <a:extLst xmlns:a="http://schemas.openxmlformats.org/drawingml/2006/main">
              <a:ext uri="{FF2B5EF4-FFF2-40B4-BE49-F238E27FC236}">
                <a16:creationId xmlns:a16="http://schemas.microsoft.com/office/drawing/2014/main" id="{CA11923E-DBBC-4B1C-BA84-5061825A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43150"/>
            <a:ext cx="2895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BE5CD-7C01-4B08-8830-5750FBC1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336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PORTFOLIO DOES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6E0D2-6A29-4BCD-AD4A-2813537C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90850"/>
            <a:ext cx="2438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66.6% fixed income; 20.8% in one Treasury due 2045.</a:t>
            </a:r>
          </a:p>
        </p:txBody>
      </p:sp>
      <p:sp>
        <p:nvSpPr>
          <p:cNvPr id="13" name="problem-link-2">
            <a:extLst xmlns:a="http://schemas.openxmlformats.org/drawingml/2006/main">
              <a:ext uri="{FF2B5EF4-FFF2-40B4-BE49-F238E27FC236}">
                <a16:creationId xmlns:a16="http://schemas.microsoft.com/office/drawing/2014/main" id="{510AC706-AE3B-42F2-AA57-CE0AEC44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blem-column-3">
            <a:extLst xmlns:a="http://schemas.openxmlformats.org/drawingml/2006/main">
              <a:ext uri="{FF2B5EF4-FFF2-40B4-BE49-F238E27FC236}">
                <a16:creationId xmlns:a16="http://schemas.microsoft.com/office/drawing/2014/main" id="{BA8F0AC8-F964-4F6C-A476-A68B6960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43150"/>
            <a:ext cx="2895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679E0-636B-4685-8B3F-82CAED5E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336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FUTURE DEMANDS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41750-1AAB-45C4-86F3-ADD8042F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90850"/>
            <a:ext cx="2438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Annual draw recorded as both USD 1.10m and USD 1.28m.</a:t>
            </a:r>
          </a:p>
        </p:txBody>
      </p:sp>
      <p:sp>
        <p:nvSpPr>
          <p:cNvPr id="17" name="decision-gap">
            <a:extLst xmlns:a="http://schemas.openxmlformats.org/drawingml/2006/main">
              <a:ext uri="{FF2B5EF4-FFF2-40B4-BE49-F238E27FC236}">
                <a16:creationId xmlns:a16="http://schemas.microsoft.com/office/drawing/2014/main" id="{527D638D-95ED-48F1-B30B-90CFC95F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43150"/>
            <a:ext cx="1257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A0D33-4B97-451F-A9B0-3EAF0EAF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590800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7D6B5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E7D6B5"/>
                </a:solidFill>
                <a:latin typeface="Georgia"/>
                <a:ea typeface="Georgia"/>
                <a:cs typeface="Georgia"/>
              </a:rPr>
              <a:t>THE</a:t>
            </a:r>
          </a:p>
          <a:p xmlns:a="http://schemas.openxmlformats.org/drawingml/2006/main">
            <a:pPr algn="ctr">
              <a:defRPr sz="1350" b="0">
                <a:solidFill>
                  <a:srgbClr val="E7D6B5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E7D6B5"/>
                </a:solidFill>
                <a:latin typeface="Georgia"/>
                <a:ea typeface="Georgia"/>
                <a:cs typeface="Georgia"/>
              </a:rPr>
              <a:t>DECISION</a:t>
            </a:r>
          </a:p>
          <a:p xmlns:a="http://schemas.openxmlformats.org/drawingml/2006/main">
            <a:pPr algn="ctr">
              <a:defRPr sz="1350" b="0">
                <a:solidFill>
                  <a:srgbClr val="E7D6B5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E7D6B5"/>
                </a:solidFill>
                <a:latin typeface="Georgia"/>
                <a:ea typeface="Georgia"/>
                <a:cs typeface="Georgia"/>
              </a:rPr>
              <a:t>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45811-1150-4D05-B006-CB8C73DA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457575"/>
            <a:ext cx="933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5CFC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5CFCB"/>
                </a:solidFill>
                <a:latin typeface="Aptos"/>
                <a:ea typeface="Aptos"/>
                <a:cs typeface="Aptos"/>
              </a:rPr>
              <a:t>Verify the need before recommending the trade.</a:t>
            </a:r>
          </a:p>
        </p:txBody>
      </p:sp>
      <p:sp>
        <p:nvSpPr>
          <p:cNvPr id="20" name="problem-source-rule">
            <a:extLst xmlns:a="http://schemas.openxmlformats.org/drawingml/2006/main">
              <a:ext uri="{FF2B5EF4-FFF2-40B4-BE49-F238E27FC236}">
                <a16:creationId xmlns:a16="http://schemas.microsoft.com/office/drawing/2014/main" id="{7909A1B2-3B92-4A7C-A4FE-986A1F50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F26BB-14A1-4811-9177-2E3F329C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ONE CLIENT DECISION CROSSES</a:t>
            </a:r>
          </a:p>
        </p:txBody>
      </p:sp>
      <p:sp>
        <p:nvSpPr>
          <p:cNvPr id="22" name="source-pill">
            <a:extLst xmlns:a="http://schemas.openxmlformats.org/drawingml/2006/main">
              <a:ext uri="{FF2B5EF4-FFF2-40B4-BE49-F238E27FC236}">
                <a16:creationId xmlns:a16="http://schemas.microsoft.com/office/drawing/2014/main" id="{4B6B369B-C03F-4006-8538-7F5230BD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892A7-C0B7-4C84-A1B5-51B54430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143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CLIENTS</a:t>
            </a:r>
          </a:p>
        </p:txBody>
      </p:sp>
      <p:sp>
        <p:nvSpPr>
          <p:cNvPr id="24" name="source-pill">
            <a:extLst xmlns:a="http://schemas.openxmlformats.org/drawingml/2006/main">
              <a:ext uri="{FF2B5EF4-FFF2-40B4-BE49-F238E27FC236}">
                <a16:creationId xmlns:a16="http://schemas.microsoft.com/office/drawing/2014/main" id="{B4EC6A5E-04AE-4A87-9798-1982935D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01967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7F755-B3C5-457C-992E-500AF40D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029200"/>
            <a:ext cx="1143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HOLDINGS</a:t>
            </a:r>
          </a:p>
        </p:txBody>
      </p:sp>
      <p:sp>
        <p:nvSpPr>
          <p:cNvPr id="26" name="source-pill">
            <a:extLst xmlns:a="http://schemas.openxmlformats.org/drawingml/2006/main">
              <a:ext uri="{FF2B5EF4-FFF2-40B4-BE49-F238E27FC236}">
                <a16:creationId xmlns:a16="http://schemas.microsoft.com/office/drawing/2014/main" id="{15081FB7-7877-42EA-A97A-35E7740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D77616-6D4A-4729-B954-9495101A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29200"/>
            <a:ext cx="1143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INSTRUMENTS</a:t>
            </a:r>
          </a:p>
        </p:txBody>
      </p:sp>
      <p:sp>
        <p:nvSpPr>
          <p:cNvPr id="28" name="source-pill">
            <a:extLst xmlns:a="http://schemas.openxmlformats.org/drawingml/2006/main">
              <a:ext uri="{FF2B5EF4-FFF2-40B4-BE49-F238E27FC236}">
                <a16:creationId xmlns:a16="http://schemas.microsoft.com/office/drawing/2014/main" id="{1C1EA4A0-1DDC-47AF-8C48-A6C05456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1967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08682E-3791-4058-903A-A6CC9CF8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29200"/>
            <a:ext cx="1143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CASH NEEDS</a:t>
            </a:r>
          </a:p>
        </p:txBody>
      </p:sp>
      <p:sp>
        <p:nvSpPr>
          <p:cNvPr id="30" name="source-pill">
            <a:extLst xmlns:a="http://schemas.openxmlformats.org/drawingml/2006/main">
              <a:ext uri="{FF2B5EF4-FFF2-40B4-BE49-F238E27FC236}">
                <a16:creationId xmlns:a16="http://schemas.microsoft.com/office/drawing/2014/main" id="{F8CCE861-B78B-4877-A62D-375E6919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1967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E870CC-432A-4881-9F8E-978CD6D7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29200"/>
            <a:ext cx="1143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RM NOTES</a:t>
            </a:r>
          </a:p>
        </p:txBody>
      </p:sp>
      <p:sp>
        <p:nvSpPr>
          <p:cNvPr id="32" name="source-pill">
            <a:extLst xmlns:a="http://schemas.openxmlformats.org/drawingml/2006/main">
              <a:ext uri="{FF2B5EF4-FFF2-40B4-BE49-F238E27FC236}">
                <a16:creationId xmlns:a16="http://schemas.microsoft.com/office/drawing/2014/main" id="{AB57E018-F7C2-481A-9FDA-9BDC4080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01967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949715-7206-4FC8-944C-3A468ABA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029200"/>
            <a:ext cx="1143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34" name="source-pill">
            <a:extLst xmlns:a="http://schemas.openxmlformats.org/drawingml/2006/main">
              <a:ext uri="{FF2B5EF4-FFF2-40B4-BE49-F238E27FC236}">
                <a16:creationId xmlns:a16="http://schemas.microsoft.com/office/drawing/2014/main" id="{77E2E495-F4F3-46BB-9399-E66E61F6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967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FA698B-AE0D-46BF-BA0A-E58E5843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29200"/>
            <a:ext cx="1143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MANDATE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E4361-4846-40D4-947B-B81C5B0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Today’s tools usually describe each source. The RM still has to synthesize the contradiction—manually, repeatedly and under time pressure.</a:t>
            </a:r>
          </a:p>
        </p:txBody>
      </p:sp>
      <p:sp>
        <p:nvSpPr>
          <p:cNvPr id="3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71313C9-BCEC-498D-8C8F-4AD4C001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55A410-4FDC-458B-8F6A-6DEE2333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Source: clients.csv · holdings.csv · planned_cash_needs.csv · rm_notes.json · synthetic 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985B96-510D-433B-90E3-CBF3AB25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3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95812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00DACB1-0793-4967-9ECA-3DB755D9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8D09AD6D-2A82-4EE4-B706-CB0AD608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2141CD43-9BD5-41E1-B599-4D53C075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THE PRODUCT INSIGHT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FDF7E-DD22-4002-90C8-D81EE3D5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Contradictions are the highest-signal unit of advice.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CA053-5FFC-4262-977D-4A9C753A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TESSERA ranks the gap between a client’s story and the evidence—not whichever asset moved most yesterday.</a:t>
            </a:r>
          </a:p>
        </p:txBody>
      </p:sp>
      <p:sp>
        <p:nvSpPr>
          <p:cNvPr id="6" name="insight-row-1">
            <a:extLst xmlns:a="http://schemas.openxmlformats.org/drawingml/2006/main">
              <a:ext uri="{FF2B5EF4-FFF2-40B4-BE49-F238E27FC236}">
                <a16:creationId xmlns:a16="http://schemas.microsoft.com/office/drawing/2014/main" id="{7CF2A09C-A736-4428-8115-AAF9218B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BECC7-213B-4EAD-9D91-B1520353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ED4CE-7786-4E58-9B55-842F6D4A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LAU CHI 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59ED0-D43B-4381-A717-66A6A4E4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24100"/>
            <a:ext cx="1571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B85D43"/>
                </a:solidFill>
                <a:latin typeface="Georgia"/>
                <a:ea typeface="Georgia"/>
                <a:cs typeface="Georgia"/>
              </a:defRPr>
            </a:pPr>
            <a:r>
              <a:rPr sz="2625" b="0">
                <a:solidFill>
                  <a:srgbClr val="B85D43"/>
                </a:solidFill>
                <a:latin typeface="Georgia"/>
                <a:ea typeface="Georgia"/>
                <a:cs typeface="Georgia"/>
              </a:rPr>
              <a:t>49.0%+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E607F-8BBC-46C4-9C07-20632377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62200"/>
            <a:ext cx="3000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Four wrappers of Hong Kong property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F617F-6D10-4AF4-8A51-3621FCA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90775"/>
            <a:ext cx="2590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HKD 60m due; LTV 69.41% vs 70%</a:t>
            </a:r>
          </a:p>
        </p:txBody>
      </p:sp>
      <p:sp>
        <p:nvSpPr>
          <p:cNvPr id="12" name="insight-row-2">
            <a:extLst xmlns:a="http://schemas.openxmlformats.org/drawingml/2006/main">
              <a:ext uri="{FF2B5EF4-FFF2-40B4-BE49-F238E27FC236}">
                <a16:creationId xmlns:a16="http://schemas.microsoft.com/office/drawing/2014/main" id="{F5623C1D-E3B7-4C2A-9AC2-84B1BA9C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44B5D-6ADB-48D3-81AB-2AE9F52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284AE-5645-4B29-AD52-FB5337E6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ABDULLAH AL-MANSOORI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3ED70-D731-474A-B481-C36DBBBE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05200"/>
            <a:ext cx="1571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B85D43"/>
                </a:solidFill>
                <a:latin typeface="Georgia"/>
                <a:ea typeface="Georgia"/>
                <a:cs typeface="Georgia"/>
              </a:defRPr>
            </a:pPr>
            <a:r>
              <a:rPr sz="2625" b="0">
                <a:solidFill>
                  <a:srgbClr val="B85D43"/>
                </a:solidFill>
                <a:latin typeface="Georgia"/>
                <a:ea typeface="Georgia"/>
                <a:cs typeface="Georgia"/>
              </a:rPr>
              <a:t>42.1%+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59D25-84B4-4612-AEE5-67B34FD3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43300"/>
            <a:ext cx="3000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Shipping &amp; energy after FCN look-through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D4DE4-7AC3-4A98-A093-ED065C86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71875"/>
            <a:ext cx="2590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Portfolio meant to diversify Gulf business</a:t>
            </a:r>
          </a:p>
        </p:txBody>
      </p:sp>
      <p:sp>
        <p:nvSpPr>
          <p:cNvPr id="18" name="insight-row-3">
            <a:extLst xmlns:a="http://schemas.openxmlformats.org/drawingml/2006/main">
              <a:ext uri="{FF2B5EF4-FFF2-40B4-BE49-F238E27FC236}">
                <a16:creationId xmlns:a16="http://schemas.microsoft.com/office/drawing/2014/main" id="{E4F0A56B-F629-4340-B32D-AC148D08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0184C-B525-4843-9D31-18C05CB5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295F4-D38D-4A6A-8EE6-015149D4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CHEUNG KWOK WING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CF130-C965-4294-875F-0343A34E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571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26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2045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68AE0-8973-4F3D-A5FF-EF5A5C7D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24400"/>
            <a:ext cx="3000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Longest bond maturity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13768-BF30-476B-A1CD-4FB3BE6D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52975"/>
            <a:ext cx="2590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Age 71; annual draw amount conflicts</a:t>
            </a:r>
          </a:p>
        </p:txBody>
      </p:sp>
      <p:sp>
        <p:nvSpPr>
          <p:cNvPr id="24" name="insight-row-end">
            <a:extLst xmlns:a="http://schemas.openxmlformats.org/drawingml/2006/main">
              <a:ext uri="{FF2B5EF4-FFF2-40B4-BE49-F238E27FC236}">
                <a16:creationId xmlns:a16="http://schemas.microsoft.com/office/drawing/2014/main" id="{C8ACE117-959E-41AB-A2C3-6AE5E901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insight-thesis">
            <a:extLst xmlns:a="http://schemas.openxmlformats.org/drawingml/2006/main">
              <a:ext uri="{FF2B5EF4-FFF2-40B4-BE49-F238E27FC236}">
                <a16:creationId xmlns:a16="http://schemas.microsoft.com/office/drawing/2014/main" id="{6AD3CD47-527A-4F1F-92D7-6A0C79BA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E4941-4611-4AA0-8CA4-A5B6626B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924550"/>
            <a:ext cx="1053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DECISION GAP = INTENT × PORTFOLIO × FUTURE × POLICY</a:t>
            </a:r>
          </a:p>
        </p:txBody>
      </p:sp>
      <p:sp>
        <p:nvSpPr>
          <p:cNvPr id="2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DD24355A-B026-4E62-B9F1-93597E51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02282-185F-45D4-A620-38B6083A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Source: TESSERA calculations from current holdings, instruments, facilities, cash needs and RM notes · 26 Aug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E86D8-1ED3-458C-960B-B5431C47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3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73003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71CA4EA-9B88-4567-B1AA-E52DC962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98746219-F6F0-4EE9-996A-6B642993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DC94D835-2461-4F0D-B971-AB44D647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THE TESSERA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F8A1D-E881-4571-860A-BDB464DA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19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Time, context and policy become one RM-controlled decision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04813-B9BB-4EF3-964C-DE17C2D1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B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C3BF"/>
                </a:solidFill>
                <a:latin typeface="Aptos"/>
                <a:ea typeface="Aptos"/>
                <a:cs typeface="Aptos"/>
              </a:rPr>
              <a:t>Three questions organize the product; one evidence passport travels with every answer.</a:t>
            </a:r>
          </a:p>
        </p:txBody>
      </p:sp>
      <p:sp>
        <p:nvSpPr>
          <p:cNvPr id="6" name="platform-spine">
            <a:extLst xmlns:a="http://schemas.openxmlformats.org/drawingml/2006/main">
              <a:ext uri="{FF2B5EF4-FFF2-40B4-BE49-F238E27FC236}">
                <a16:creationId xmlns:a16="http://schemas.microsoft.com/office/drawing/2014/main" id="{68B440DA-5F6F-4A6A-BB7A-D5CC7B46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node-1">
            <a:extLst xmlns:a="http://schemas.openxmlformats.org/drawingml/2006/main">
              <a:ext uri="{FF2B5EF4-FFF2-40B4-BE49-F238E27FC236}">
                <a16:creationId xmlns:a16="http://schemas.microsoft.com/office/drawing/2014/main" id="{22D0137D-DB39-4980-A2D7-854D3610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2288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0"/>
          </a:solidFill>
          <a:ln xmlns:a="http://schemas.openxmlformats.org/drawingml/2006/main" w="9525">
            <a:solidFill>
              <a:srgbClr val="4253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93C7B-CB40-4444-8565-2F2392AD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E4299-3DD2-4959-A260-54737ACD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HAPPENED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E153A-3440-47EA-87BE-B4C087A3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BB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BBB7"/>
                </a:solidFill>
                <a:latin typeface="Aptos"/>
                <a:ea typeface="Aptos"/>
                <a:cs typeface="Aptos"/>
              </a:rPr>
              <a:t>Replay five snapshots; separate value path from performance; link only controlled events.</a:t>
            </a:r>
          </a:p>
        </p:txBody>
      </p:sp>
      <p:sp>
        <p:nvSpPr>
          <p:cNvPr id="11" name="platform-marker-1">
            <a:extLst xmlns:a="http://schemas.openxmlformats.org/drawingml/2006/main">
              <a:ext uri="{FF2B5EF4-FFF2-40B4-BE49-F238E27FC236}">
                <a16:creationId xmlns:a16="http://schemas.microsoft.com/office/drawing/2014/main" id="{611042D5-31C4-4555-A998-85D8275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B78F50"/>
            </a:solidFill>
            <a:prstDash val="solid"/>
          </a:ln>
        </p:spPr>
      </p:sp>
      <p:sp>
        <p:nvSpPr>
          <p:cNvPr id="12" name="platform-marker-label-1">
            <a:extLst xmlns:a="http://schemas.openxmlformats.org/drawingml/2006/main">
              <a:ext uri="{FF2B5EF4-FFF2-40B4-BE49-F238E27FC236}">
                <a16:creationId xmlns:a16="http://schemas.microsoft.com/office/drawing/2014/main" id="{BEB12A08-B936-4864-BA1E-58EB3CF0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9575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B48F23F6-7765-4B7D-A5B9-697F2A69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2288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0"/>
          </a:solidFill>
          <a:ln xmlns:a="http://schemas.openxmlformats.org/drawingml/2006/main" w="9525">
            <a:solidFill>
              <a:srgbClr val="4253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A6F48-7C03-4D2A-B91A-D2BFCCA0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193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BB511-8739-426E-A220-948FB060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COULD HAPPEN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74DB3-F482-4B11-B394-98F2414A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2895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BB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BBB7"/>
                </a:solidFill>
                <a:latin typeface="Aptos"/>
                <a:ea typeface="Aptos"/>
                <a:cs typeface="Aptos"/>
              </a:rPr>
              <a:t>Look through instruments; expose assumptions; rehearse both sides of a scenario.</a:t>
            </a:r>
          </a:p>
        </p:txBody>
      </p:sp>
      <p:sp>
        <p:nvSpPr>
          <p:cNvPr id="17" name="platform-marker-2">
            <a:extLst xmlns:a="http://schemas.openxmlformats.org/drawingml/2006/main">
              <a:ext uri="{FF2B5EF4-FFF2-40B4-BE49-F238E27FC236}">
                <a16:creationId xmlns:a16="http://schemas.microsoft.com/office/drawing/2014/main" id="{6F2722CC-3BF4-4831-83A0-D57F73F2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B78F50"/>
            </a:solidFill>
            <a:prstDash val="solid"/>
          </a:ln>
        </p:spPr>
      </p:sp>
      <p:sp>
        <p:nvSpPr>
          <p:cNvPr id="18" name="platform-marker-label-2">
            <a:extLst xmlns:a="http://schemas.openxmlformats.org/drawingml/2006/main">
              <a:ext uri="{FF2B5EF4-FFF2-40B4-BE49-F238E27FC236}">
                <a16:creationId xmlns:a16="http://schemas.microsoft.com/office/drawing/2014/main" id="{621C09AE-7FC9-4B5E-9C97-5FB0E5FC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19575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9" name="node-3">
            <a:extLst xmlns:a="http://schemas.openxmlformats.org/drawingml/2006/main">
              <a:ext uri="{FF2B5EF4-FFF2-40B4-BE49-F238E27FC236}">
                <a16:creationId xmlns:a16="http://schemas.microsoft.com/office/drawing/2014/main" id="{50FA4B8B-6BEC-4EA4-AFBA-BC86E946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22288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0"/>
          </a:solidFill>
          <a:ln xmlns:a="http://schemas.openxmlformats.org/drawingml/2006/main" w="9525">
            <a:solidFill>
              <a:srgbClr val="4253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DBD77-5D9A-46C9-8067-BD5C699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93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64D5A-D8F0-4F17-8849-2F6755AA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SHOULD WE CONSIDER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2DC27C-69C9-4775-A68C-DE3A4D88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2895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BB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BBB7"/>
                </a:solidFill>
                <a:latin typeface="Aptos"/>
                <a:ea typeface="Aptos"/>
                <a:cs typeface="Aptos"/>
              </a:rPr>
              <a:t>Compile reversible options after mandate, liquidity, credit and data checks.</a:t>
            </a:r>
          </a:p>
        </p:txBody>
      </p:sp>
      <p:sp>
        <p:nvSpPr>
          <p:cNvPr id="23" name="platform-marker-3">
            <a:extLst xmlns:a="http://schemas.openxmlformats.org/drawingml/2006/main">
              <a:ext uri="{FF2B5EF4-FFF2-40B4-BE49-F238E27FC236}">
                <a16:creationId xmlns:a16="http://schemas.microsoft.com/office/drawing/2014/main" id="{659367C1-E97C-4F51-A764-3C0820B3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B78F50"/>
            </a:solidFill>
            <a:prstDash val="solid"/>
          </a:ln>
        </p:spPr>
      </p:sp>
      <p:sp>
        <p:nvSpPr>
          <p:cNvPr id="24" name="platform-marker-label-3">
            <a:extLst xmlns:a="http://schemas.openxmlformats.org/drawingml/2006/main">
              <a:ext uri="{FF2B5EF4-FFF2-40B4-BE49-F238E27FC236}">
                <a16:creationId xmlns:a16="http://schemas.microsoft.com/office/drawing/2014/main" id="{34F1CFB6-16BD-4B6D-A812-03C951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9575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5" name="node-4">
            <a:extLst xmlns:a="http://schemas.openxmlformats.org/drawingml/2006/main">
              <a:ext uri="{FF2B5EF4-FFF2-40B4-BE49-F238E27FC236}">
                <a16:creationId xmlns:a16="http://schemas.microsoft.com/office/drawing/2014/main" id="{9920F9AE-CD50-4FE5-8C9E-454D722F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95500"/>
            <a:ext cx="22288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0"/>
          </a:solidFill>
          <a:ln xmlns:a="http://schemas.openxmlformats.org/drawingml/2006/main" w="9525">
            <a:solidFill>
              <a:srgbClr val="4253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2EA6C-5B36-47BC-90B9-A706A1FD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193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F6BFDD-3DB1-40B5-A1B2-5FCC0290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WILL THE RM SAY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6BC811-8876-48CA-9985-24C25575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2895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BB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BBB7"/>
                </a:solidFill>
                <a:latin typeface="Aptos"/>
                <a:ea typeface="Aptos"/>
                <a:cs typeface="Aptos"/>
              </a:rPr>
              <a:t>Draft the opening, proof, question and caveat; approve, edit or reject.</a:t>
            </a:r>
          </a:p>
        </p:txBody>
      </p:sp>
      <p:sp>
        <p:nvSpPr>
          <p:cNvPr id="29" name="platform-marker-4">
            <a:extLst xmlns:a="http://schemas.openxmlformats.org/drawingml/2006/main">
              <a:ext uri="{FF2B5EF4-FFF2-40B4-BE49-F238E27FC236}">
                <a16:creationId xmlns:a16="http://schemas.microsoft.com/office/drawing/2014/main" id="{08B911FC-815E-43AD-A669-75F8E263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B78F50"/>
            </a:solidFill>
            <a:prstDash val="solid"/>
          </a:ln>
        </p:spPr>
      </p:sp>
      <p:sp>
        <p:nvSpPr>
          <p:cNvPr id="30" name="platform-marker-label-4">
            <a:extLst xmlns:a="http://schemas.openxmlformats.org/drawingml/2006/main">
              <a:ext uri="{FF2B5EF4-FFF2-40B4-BE49-F238E27FC236}">
                <a16:creationId xmlns:a16="http://schemas.microsoft.com/office/drawing/2014/main" id="{2958E836-D500-42BD-8CDB-E5DF7837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19575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1" name="governance-rail">
            <a:extLst xmlns:a="http://schemas.openxmlformats.org/drawingml/2006/main">
              <a:ext uri="{FF2B5EF4-FFF2-40B4-BE49-F238E27FC236}">
                <a16:creationId xmlns:a16="http://schemas.microsoft.com/office/drawing/2014/main" id="{F6036B4A-C74B-41C8-B672-0B70E057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CBBAF-D328-4458-BACA-4DDC5526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EVIDENCE PASSPORT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767CD8-6887-4DD2-9BF5-6586741E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Source row + as-of 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F9FAC3-4F89-476B-B11A-941CCBA7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578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Authority + confidence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EA3E31-2398-4355-95C7-8DA0093F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578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Mandate + suitability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02C3DE-7D5A-4B01-858B-9A0A1372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2578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Scenario assumptions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C4E293-F2ED-45E1-81C4-DFFF4E53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25780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RM decision + rationale</a:t>
            </a:r>
          </a:p>
        </p:txBody>
      </p:sp>
      <p:sp>
        <p:nvSpPr>
          <p:cNvPr id="38" name="passport-separator-1">
            <a:extLst xmlns:a="http://schemas.openxmlformats.org/drawingml/2006/main">
              <a:ext uri="{FF2B5EF4-FFF2-40B4-BE49-F238E27FC236}">
                <a16:creationId xmlns:a16="http://schemas.microsoft.com/office/drawing/2014/main" id="{D8EBA74D-F25C-4633-B3EF-4548DBB6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153025"/>
            <a:ext cx="95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assport-separator-2">
            <a:extLst xmlns:a="http://schemas.openxmlformats.org/drawingml/2006/main">
              <a:ext uri="{FF2B5EF4-FFF2-40B4-BE49-F238E27FC236}">
                <a16:creationId xmlns:a16="http://schemas.microsoft.com/office/drawing/2014/main" id="{06919DBA-EDD3-498E-B7FC-350EFDE2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53025"/>
            <a:ext cx="95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passport-separator-3">
            <a:extLst xmlns:a="http://schemas.openxmlformats.org/drawingml/2006/main">
              <a:ext uri="{FF2B5EF4-FFF2-40B4-BE49-F238E27FC236}">
                <a16:creationId xmlns:a16="http://schemas.microsoft.com/office/drawing/2014/main" id="{5490F8EA-7148-409F-90B8-0FA93FA3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153025"/>
            <a:ext cx="95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assport-separator-4">
            <a:extLst xmlns:a="http://schemas.openxmlformats.org/drawingml/2006/main">
              <a:ext uri="{FF2B5EF4-FFF2-40B4-BE49-F238E27FC236}">
                <a16:creationId xmlns:a16="http://schemas.microsoft.com/office/drawing/2014/main" id="{6BE358DB-CA8B-47DC-833D-E6C1C52B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153025"/>
            <a:ext cx="95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3FD42928-FDB0-46EB-B62C-03F64842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A3715A-92E1-4A28-96AE-16C87975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EAAA6"/>
                </a:solidFill>
                <a:latin typeface="Aptos"/>
                <a:ea typeface="Aptos"/>
                <a:cs typeface="Aptos"/>
              </a:rPr>
              <a:t>Product architecture · deterministic evidence compiler in prototype; purpose-limited private model in production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0A6925-8775-47A6-A49E-83C481D8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3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E7D6B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E7D6B5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4542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FF38CAA-392D-4AB5-B3CA-1BADAD13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6ebbd184f46ff"/>
          <a:srcRect xmlns:a="http://schemas.openxmlformats.org/drawingml/2006/main" l="0" t="14306" r="0" b="143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066800"/>
            <a:ext cx="12192000" cy="4895850"/>
          </a:xfrm>
          <a:prstGeom xmlns:a="http://schemas.openxmlformats.org/drawingml/2006/main" prst="rect">
            <a:avLst/>
          </a:prstGeom>
        </p:spPr>
      </p:pic>
      <p:sp>
        <p:nvSpPr>
          <p:cNvPr id="3" name="screenshot-title-band">
            <a:extLst xmlns:a="http://schemas.openxmlformats.org/drawingml/2006/main">
              <a:ext uri="{FF2B5EF4-FFF2-40B4-BE49-F238E27FC236}">
                <a16:creationId xmlns:a16="http://schemas.microsoft.com/office/drawing/2014/main" id="{6302C69C-3D45-4CC7-9924-F9BF19DC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E45006F9-63A4-43C1-B9E8-9FCDF79A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BDBA1011-8916-48E7-96EC-C7B11C18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THE RM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4D80A-F243-43A5-A08F-CC6D31F0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 RM can see the five conversations that matter before markets open.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0A02A-4140-4024-9CB6-63F38A22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7048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E7D6B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E7D6B5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8" name="screenshot-proof-band">
            <a:extLst xmlns:a="http://schemas.openxmlformats.org/drawingml/2006/main">
              <a:ext uri="{FF2B5EF4-FFF2-40B4-BE49-F238E27FC236}">
                <a16:creationId xmlns:a16="http://schemas.microsoft.com/office/drawing/2014/main" id="{4323F513-8263-4FC3-B464-C22FE0BC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6265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DFE7E-5E32-4000-A2F5-D7A9135C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CAPACITY-AWARE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E5B79-7715-41FF-88A0-ED6E754A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Only five conversations enter Now.</a:t>
            </a:r>
          </a:p>
        </p:txBody>
      </p:sp>
      <p:sp>
        <p:nvSpPr>
          <p:cNvPr id="11" name="screenshot-band-separator">
            <a:extLst xmlns:a="http://schemas.openxmlformats.org/drawingml/2006/main">
              <a:ext uri="{FF2B5EF4-FFF2-40B4-BE49-F238E27FC236}">
                <a16:creationId xmlns:a16="http://schemas.microsoft.com/office/drawing/2014/main" id="{0259F7F0-5030-4181-A7C6-6C642D14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6267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2F121-6626-45D1-99DA-B9F5FEB3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153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WHY NOW IS VISIBLE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29A37-36C5-484C-8CEA-E6201E20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381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Every score opens into exact evidence and the next RM move.</a:t>
            </a:r>
          </a:p>
        </p:txBody>
      </p:sp>
    </p:spTree>
    <p:extLst>
      <p:ext uri="{BB962C8B-B14F-4D97-AF65-F5344CB8AC3E}">
        <p14:creationId xmlns:p14="http://schemas.microsoft.com/office/powerpoint/2010/main" val="10940464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9C63388-FC6B-4521-85EE-F8249027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2FB1306C-B775-4322-9178-18A8EA53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701669A7-6126-4F25-B5FE-4CDCC983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CLIENT PROOF · LAU CHI 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951F9-4187-424C-ACB2-ECF0E0EF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5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Four wrappers create one 49.0% property bet—and just 0.59 LTV points remain.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5D041-5060-47F1-A262-76ACD1FB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8763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The asset-class report fragments the risk. Look-through and credit math put it back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C87CA-E95D-49EB-AFF5-7943F8E2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BANK-HELD PORTFOLIO LOOK-THROUGH</a:t>
            </a:r>
          </a:p>
        </p:txBody>
      </p:sp>
      <p:sp>
        <p:nvSpPr>
          <p:cNvPr id="7" name="lau-stack-1">
            <a:extLst xmlns:a="http://schemas.openxmlformats.org/drawingml/2006/main">
              <a:ext uri="{FF2B5EF4-FFF2-40B4-BE49-F238E27FC236}">
                <a16:creationId xmlns:a16="http://schemas.microsoft.com/office/drawing/2014/main" id="{9F2CDBE1-9F0C-4732-ADE9-6CC0E30A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974522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lau-stack-2">
            <a:extLst xmlns:a="http://schemas.openxmlformats.org/drawingml/2006/main">
              <a:ext uri="{FF2B5EF4-FFF2-40B4-BE49-F238E27FC236}">
                <a16:creationId xmlns:a16="http://schemas.microsoft.com/office/drawing/2014/main" id="{2A9144BE-9279-4D66-9D69-1147B152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122" y="2628900"/>
            <a:ext cx="64139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lau-stack-3">
            <a:extLst xmlns:a="http://schemas.openxmlformats.org/drawingml/2006/main">
              <a:ext uri="{FF2B5EF4-FFF2-40B4-BE49-F238E27FC236}">
                <a16:creationId xmlns:a16="http://schemas.microsoft.com/office/drawing/2014/main" id="{A7BC2E65-ED13-4683-93A0-43A0B8EF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516" y="2628900"/>
            <a:ext cx="47234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lau-stack-4">
            <a:extLst xmlns:a="http://schemas.openxmlformats.org/drawingml/2006/main">
              <a:ext uri="{FF2B5EF4-FFF2-40B4-BE49-F238E27FC236}">
                <a16:creationId xmlns:a16="http://schemas.microsoft.com/office/drawing/2014/main" id="{35032FCD-3D22-45F9-BBF2-EEC96C8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861" y="2628900"/>
            <a:ext cx="34804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D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lau-stack-5">
            <a:extLst xmlns:a="http://schemas.openxmlformats.org/drawingml/2006/main">
              <a:ext uri="{FF2B5EF4-FFF2-40B4-BE49-F238E27FC236}">
                <a16:creationId xmlns:a16="http://schemas.microsoft.com/office/drawing/2014/main" id="{63F9BC72-5270-452F-B957-4A3267A5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905" y="2628900"/>
            <a:ext cx="253574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lau-legend-1">
            <a:extLst xmlns:a="http://schemas.openxmlformats.org/drawingml/2006/main">
              <a:ext uri="{FF2B5EF4-FFF2-40B4-BE49-F238E27FC236}">
                <a16:creationId xmlns:a16="http://schemas.microsoft.com/office/drawing/2014/main" id="{498BD3BC-B8F0-433B-9974-7289A936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43C39-F5A7-457A-8BA0-C123ACB0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623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E"/>
                </a:solidFill>
                <a:latin typeface="Aptos"/>
                <a:ea typeface="Aptos"/>
                <a:cs typeface="Aptos"/>
              </a:rPr>
              <a:t>Direct Mid-Levels property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02501-AA42-4B53-8A7A-6887A26B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62325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19.6%</a:t>
            </a:r>
          </a:p>
        </p:txBody>
      </p:sp>
      <p:sp>
        <p:nvSpPr>
          <p:cNvPr id="15" name="lau-legend-rule-1">
            <a:extLst xmlns:a="http://schemas.openxmlformats.org/drawingml/2006/main">
              <a:ext uri="{FF2B5EF4-FFF2-40B4-BE49-F238E27FC236}">
                <a16:creationId xmlns:a16="http://schemas.microsoft.com/office/drawing/2014/main" id="{C25DA11F-1108-429C-9B14-A4CB9191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5760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au-legend-2">
            <a:extLst xmlns:a="http://schemas.openxmlformats.org/drawingml/2006/main">
              <a:ext uri="{FF2B5EF4-FFF2-40B4-BE49-F238E27FC236}">
                <a16:creationId xmlns:a16="http://schemas.microsoft.com/office/drawing/2014/main" id="{53CBB4E3-1F09-4473-A24D-F93E9936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5411F-E403-4D02-A913-437B5ED2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100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E"/>
                </a:solidFill>
                <a:latin typeface="Aptos"/>
                <a:ea typeface="Aptos"/>
                <a:cs typeface="Aptos"/>
              </a:rPr>
              <a:t>Golden Harbour perpetual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BE742-41C9-4BC9-BEA6-69A569C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12.9%</a:t>
            </a:r>
          </a:p>
        </p:txBody>
      </p:sp>
      <p:sp>
        <p:nvSpPr>
          <p:cNvPr id="19" name="lau-legend-rule-2">
            <a:extLst xmlns:a="http://schemas.openxmlformats.org/drawingml/2006/main">
              <a:ext uri="{FF2B5EF4-FFF2-40B4-BE49-F238E27FC236}">
                <a16:creationId xmlns:a16="http://schemas.microsoft.com/office/drawing/2014/main" id="{D536DD75-6C1E-4C09-B339-99A9DD8B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05275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lau-legend-3">
            <a:extLst xmlns:a="http://schemas.openxmlformats.org/drawingml/2006/main">
              <a:ext uri="{FF2B5EF4-FFF2-40B4-BE49-F238E27FC236}">
                <a16:creationId xmlns:a16="http://schemas.microsoft.com/office/drawing/2014/main" id="{7AAFB9B1-655A-4D69-BAC8-E9DCB60A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CF35C-1AB8-43C8-A21D-5A3555A6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576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E"/>
                </a:solidFill>
                <a:latin typeface="Aptos"/>
                <a:ea typeface="Aptos"/>
                <a:cs typeface="Aptos"/>
              </a:rPr>
              <a:t>Golden Harbour equity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E3B390-5A8A-4B42-AA23-49C21D4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57675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9.5%</a:t>
            </a:r>
          </a:p>
        </p:txBody>
      </p:sp>
      <p:sp>
        <p:nvSpPr>
          <p:cNvPr id="23" name="lau-legend-rule-3">
            <a:extLst xmlns:a="http://schemas.openxmlformats.org/drawingml/2006/main">
              <a:ext uri="{FF2B5EF4-FFF2-40B4-BE49-F238E27FC236}">
                <a16:creationId xmlns:a16="http://schemas.microsoft.com/office/drawing/2014/main" id="{E4E5A5E1-CBE2-40EE-80BD-345937D7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5295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lau-legend-4">
            <a:extLst xmlns:a="http://schemas.openxmlformats.org/drawingml/2006/main">
              <a:ext uri="{FF2B5EF4-FFF2-40B4-BE49-F238E27FC236}">
                <a16:creationId xmlns:a16="http://schemas.microsoft.com/office/drawing/2014/main" id="{A712DB48-C849-495B-AB8F-92D90CC2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D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177342-8521-4977-AB98-9E759DF4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053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E"/>
                </a:solidFill>
                <a:latin typeface="Aptos"/>
                <a:ea typeface="Aptos"/>
                <a:cs typeface="Aptos"/>
              </a:rPr>
              <a:t>Golden Harbour accumulator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BF49C-0231-4335-AA55-9C589E9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05350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7.0%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DF9EC-A1D0-4556-ADB3-3CA4D871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57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D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5D43"/>
                </a:solidFill>
                <a:latin typeface="Aptos"/>
                <a:ea typeface="Aptos"/>
                <a:cs typeface="Aptos"/>
              </a:rPr>
              <a:t>+ operating business exposure outside the dataset</a:t>
            </a:r>
          </a:p>
        </p:txBody>
      </p:sp>
      <p:sp>
        <p:nvSpPr>
          <p:cNvPr id="28" name="ltv-panel">
            <a:extLst xmlns:a="http://schemas.openxmlformats.org/drawingml/2006/main">
              <a:ext uri="{FF2B5EF4-FFF2-40B4-BE49-F238E27FC236}">
                <a16:creationId xmlns:a16="http://schemas.microsoft.com/office/drawing/2014/main" id="{45D12E4E-7AA3-4E65-A482-463F4BD5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4102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0A8AAA-A27C-47EA-9A18-F7624614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THE REPORTED HEADROOM IS NOT THE TRIGGER BUFFER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8FF9C5-1B6D-4103-9DE7-531A74CD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43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69.41%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BA62A4-2B2A-46E7-8EE0-0566C1F1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38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CURRENT LTV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2C9BF8-F067-41EA-91BB-9FD04DF3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43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B85D43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B85D43"/>
                </a:solidFill>
                <a:latin typeface="Georgia"/>
                <a:ea typeface="Georgia"/>
                <a:cs typeface="Georgia"/>
              </a:rPr>
              <a:t>70.00%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4CF0F9-B572-4E9D-926A-7FBC576A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38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MARGIN-CALL TRIGGER</a:t>
            </a:r>
          </a:p>
        </p:txBody>
      </p:sp>
      <p:sp>
        <p:nvSpPr>
          <p:cNvPr id="34" name="ltv-gauge-bg">
            <a:extLst xmlns:a="http://schemas.openxmlformats.org/drawingml/2006/main">
              <a:ext uri="{FF2B5EF4-FFF2-40B4-BE49-F238E27FC236}">
                <a16:creationId xmlns:a16="http://schemas.microsoft.com/office/drawing/2014/main" id="{507EFA7D-3551-414E-8985-72228505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95700"/>
            <a:ext cx="443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ltv-gauge-current">
            <a:extLst xmlns:a="http://schemas.openxmlformats.org/drawingml/2006/main">
              <a:ext uri="{FF2B5EF4-FFF2-40B4-BE49-F238E27FC236}">
                <a16:creationId xmlns:a16="http://schemas.microsoft.com/office/drawing/2014/main" id="{C1AC0C23-B74F-4690-9BEC-4E78A426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95700"/>
            <a:ext cx="385108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ltv-trigger-marker">
            <a:extLst xmlns:a="http://schemas.openxmlformats.org/drawingml/2006/main">
              <a:ext uri="{FF2B5EF4-FFF2-40B4-BE49-F238E27FC236}">
                <a16:creationId xmlns:a16="http://schemas.microsoft.com/office/drawing/2014/main" id="{07CE03E5-47C2-43A1-9452-4261DD7E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194" y="35433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D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3BF5AB-F797-4162-B608-D47CE489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659" y="39624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24FA44-3C8E-42D1-A318-8D96C963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8444" y="35147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5D4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5D43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39" name="ltv-proof-rule">
            <a:extLst xmlns:a="http://schemas.openxmlformats.org/drawingml/2006/main">
              <a:ext uri="{FF2B5EF4-FFF2-40B4-BE49-F238E27FC236}">
                <a16:creationId xmlns:a16="http://schemas.microsoft.com/office/drawing/2014/main" id="{0A33BEF4-8EBB-4517-8AAB-513F72B4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333875"/>
            <a:ext cx="443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8E2018-9CF5-4789-B7DF-E666B47C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3390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HKD 25.56m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D39ECB-8EC3-4CD6-93BC-A98D7EA0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991100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REPORTED HEADROOM: LENDING VALUE MINUS DRAWN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30511F-4340-443A-916C-E7713411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3390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5D43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B85D43"/>
                </a:solidFill>
                <a:latin typeface="Georgia"/>
                <a:ea typeface="Georgia"/>
                <a:cs typeface="Georgia"/>
              </a:rPr>
              <a:t>HKD 0.71m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A871C2-2B2F-419F-971F-A9EE540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91100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ACTUAL LENDING-VALUE CUSHION TO 70%</a:t>
            </a:r>
          </a:p>
        </p:txBody>
      </p:sp>
      <p:sp>
        <p:nvSpPr>
          <p:cNvPr id="44" name="ltv-callout">
            <a:extLst xmlns:a="http://schemas.openxmlformats.org/drawingml/2006/main">
              <a:ext uri="{FF2B5EF4-FFF2-40B4-BE49-F238E27FC236}">
                <a16:creationId xmlns:a16="http://schemas.microsoft.com/office/drawing/2014/main" id="{C3734E44-08AE-460C-B85D-CD004DCF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438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BF9E45-1DBA-4CF9-9017-38073615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14950"/>
            <a:ext cx="4171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85D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5D43"/>
                </a:solidFill>
                <a:latin typeface="Aptos"/>
                <a:ea typeface="Aptos"/>
                <a:cs typeface="Aptos"/>
              </a:rPr>
              <a:t>A 0.85% fall in eligible lending value reaches the trigger.</a:t>
            </a:r>
          </a:p>
        </p:txBody>
      </p:sp>
      <p:sp>
        <p:nvSpPr>
          <p:cNvPr id="46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4E7C4F32-B890-47E1-BAEB-CE49906E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06435F-1EB0-4218-8E07-CACFBDA0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Source: holdings.csv · instruments.csv · credit_facilities.csv CF-0002 · planned_cash_needs.csv CN-013 · synthetic data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3BF4C1-1824-4599-B7A1-4E9463CD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3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32320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AD7DE67-F270-4F8C-A196-C2674765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13D09598-4D16-46AB-9D5B-9BF86CAE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A8A356A0-FBB8-451E-B47E-F1203252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SCENARIO PROOF · ABDULLAH AL-MANSOORI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F25E3-58F5-4BC1-A374-827603D9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The diversification portfolio quietly became a second shipping-and-energy bet.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492FD-71FB-4DAB-AF1D-603AA9CE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904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Recent gains make the contradiction harder to see—and more important to rehearse in both directions.</a:t>
            </a:r>
          </a:p>
        </p:txBody>
      </p:sp>
      <p:sp>
        <p:nvSpPr>
          <p:cNvPr id="6" name="abdullah-lookthrough">
            <a:extLst xmlns:a="http://schemas.openxmlformats.org/drawingml/2006/main">
              <a:ext uri="{FF2B5EF4-FFF2-40B4-BE49-F238E27FC236}">
                <a16:creationId xmlns:a16="http://schemas.microsoft.com/office/drawing/2014/main" id="{3FAAD2C8-4726-40B2-9A22-2B98BD26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6863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356CD-7CDA-4090-A153-8E1EC803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LOOK-THROUGH FLOOR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63037-F511-4D1B-85E2-E1F9131D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42.1%+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9D7FB-9D85-49EA-AF47-64981838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43275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FC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5CFCB"/>
                </a:solidFill>
                <a:latin typeface="Aptos"/>
                <a:ea typeface="Aptos"/>
                <a:cs typeface="Aptos"/>
              </a:rPr>
              <a:t>bank-held shipping &amp; energy exposure</a:t>
            </a:r>
          </a:p>
        </p:txBody>
      </p:sp>
      <p:sp>
        <p:nvSpPr>
          <p:cNvPr id="10" name="abdullah-legend-1">
            <a:extLst xmlns:a="http://schemas.openxmlformats.org/drawingml/2006/main">
              <a:ext uri="{FF2B5EF4-FFF2-40B4-BE49-F238E27FC236}">
                <a16:creationId xmlns:a16="http://schemas.microsoft.com/office/drawing/2014/main" id="{99CF9656-A389-402E-AD33-9FF690EA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29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5407B-D325-4D37-BB43-31CA5C76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00475"/>
            <a:ext cx="2724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Shipping &amp; energy FCN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C208A-7FF6-4E47-B650-5A6C0505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00475"/>
            <a:ext cx="781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7D6B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E7D6B5"/>
                </a:solidFill>
                <a:latin typeface="Aptos Mono"/>
                <a:ea typeface="Aptos Mono"/>
                <a:cs typeface="Aptos Mono"/>
              </a:rPr>
              <a:t>12.9%</a:t>
            </a:r>
          </a:p>
        </p:txBody>
      </p:sp>
      <p:sp>
        <p:nvSpPr>
          <p:cNvPr id="13" name="abdullah-legend-2">
            <a:extLst xmlns:a="http://schemas.openxmlformats.org/drawingml/2006/main">
              <a:ext uri="{FF2B5EF4-FFF2-40B4-BE49-F238E27FC236}">
                <a16:creationId xmlns:a16="http://schemas.microsoft.com/office/drawing/2014/main" id="{56EAF561-56E9-4919-B61D-D7F03434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2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4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1D295-0333-4B45-9D2F-96AEAE36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00525"/>
            <a:ext cx="2724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Pacific Orient Shipping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BC1F9-B021-43FE-82AF-A400BE2A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781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7D6B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E7D6B5"/>
                </a:solidFill>
                <a:latin typeface="Aptos Mono"/>
                <a:ea typeface="Aptos Mono"/>
                <a:cs typeface="Aptos Mono"/>
              </a:rPr>
              <a:t>11.4%</a:t>
            </a:r>
          </a:p>
        </p:txBody>
      </p:sp>
      <p:sp>
        <p:nvSpPr>
          <p:cNvPr id="16" name="abdullah-legend-3">
            <a:extLst xmlns:a="http://schemas.openxmlformats.org/drawingml/2006/main">
              <a:ext uri="{FF2B5EF4-FFF2-40B4-BE49-F238E27FC236}">
                <a16:creationId xmlns:a16="http://schemas.microsoft.com/office/drawing/2014/main" id="{E4B7ECF6-3506-41DE-A820-3F5420D4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29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D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8E968-D840-404B-AA32-856D99BC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00575"/>
            <a:ext cx="2724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 energy majors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99AA3-040C-462F-9D5B-DBF04B1F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00575"/>
            <a:ext cx="781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7D6B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E7D6B5"/>
                </a:solidFill>
                <a:latin typeface="Aptos Mono"/>
                <a:ea typeface="Aptos Mono"/>
                <a:cs typeface="Aptos Mono"/>
              </a:rPr>
              <a:t>8.9%</a:t>
            </a:r>
          </a:p>
        </p:txBody>
      </p:sp>
      <p:sp>
        <p:nvSpPr>
          <p:cNvPr id="19" name="abdullah-legend-4">
            <a:extLst xmlns:a="http://schemas.openxmlformats.org/drawingml/2006/main">
              <a:ext uri="{FF2B5EF4-FFF2-40B4-BE49-F238E27FC236}">
                <a16:creationId xmlns:a16="http://schemas.microsoft.com/office/drawing/2014/main" id="{20F0349C-CE9E-42CB-A2E3-D8BDB13F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29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4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2CB5E-D968-4374-B0D7-CCDFC57C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00625"/>
            <a:ext cx="2724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Asia shipping &amp; logistics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D5D53-98D4-4CC2-8229-4498F5A0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00625"/>
            <a:ext cx="781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7D6B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E7D6B5"/>
                </a:solidFill>
                <a:latin typeface="Aptos Mono"/>
                <a:ea typeface="Aptos Mono"/>
                <a:cs typeface="Aptos Mono"/>
              </a:rPr>
              <a:t>8.9%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55EA7-7BF0-4016-B378-E549AA03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911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AAA6"/>
                </a:solidFill>
                <a:latin typeface="Aptos"/>
                <a:ea typeface="Aptos"/>
                <a:cs typeface="Aptos"/>
              </a:rPr>
              <a:t>+ Gulf logistics business is qualitative and excluded from the percentage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EC6EB-8D77-474D-A3D8-E5F39953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521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COUNTERFACTUALS, NOT FORECASTS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01420-93B7-4258-B3C4-500EEA25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5391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“If the Strait reopened next month, how much of this year’s gain are you willing to give back?”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F1F76-DA35-4A38-915F-146A5E9F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14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5D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5D43"/>
                </a:solidFill>
                <a:latin typeface="Aptos"/>
                <a:ea typeface="Aptos"/>
                <a:cs typeface="Aptos"/>
              </a:rPr>
              <a:t>STRAIT REOPENS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107BA-39D6-473A-93BF-2E85519E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38525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85D43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B85D43"/>
                </a:solidFill>
                <a:latin typeface="Georgia"/>
                <a:ea typeface="Georgia"/>
                <a:cs typeface="Georgia"/>
              </a:rPr>
              <a:t>−6.3%</a:t>
            </a:r>
          </a:p>
        </p:txBody>
      </p:sp>
      <p:sp>
        <p:nvSpPr>
          <p:cNvPr id="27" name="scenario-bg-1">
            <a:extLst xmlns:a="http://schemas.openxmlformats.org/drawingml/2006/main">
              <a:ext uri="{FF2B5EF4-FFF2-40B4-BE49-F238E27FC236}">
                <a16:creationId xmlns:a16="http://schemas.microsoft.com/office/drawing/2014/main" id="{68D51178-EEA1-4AFC-ACDD-20A5DFBF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481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cenario-bar-1">
            <a:extLst xmlns:a="http://schemas.openxmlformats.org/drawingml/2006/main">
              <a:ext uri="{FF2B5EF4-FFF2-40B4-BE49-F238E27FC236}">
                <a16:creationId xmlns:a16="http://schemas.microsoft.com/office/drawing/2014/main" id="{6DD59DE7-2027-4B30-85E6-96764859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D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3175B6-97F4-47B2-8631-C31B459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771900"/>
            <a:ext cx="6477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5D4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85D43"/>
                </a:solidFill>
                <a:latin typeface="Aptos Mono"/>
                <a:ea typeface="Aptos Mono"/>
                <a:cs typeface="Aptos Mono"/>
              </a:rPr>
              <a:t>−USD 2.02m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2F24C7-68C6-4D71-97B3-D91A3A74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67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Normalization shocks to FCN, shipping and energy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AF3F10-DA03-49C1-85BA-54A8168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148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BLOCKADE WORSENS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6A1F2C-A6F7-4A3D-A5F4-BEC0DBCB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38650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2D5C56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2D5C56"/>
                </a:solidFill>
                <a:latin typeface="Georgia"/>
                <a:ea typeface="Georgia"/>
                <a:cs typeface="Georgia"/>
              </a:rPr>
              <a:t>+4.7%</a:t>
            </a:r>
          </a:p>
        </p:txBody>
      </p:sp>
      <p:sp>
        <p:nvSpPr>
          <p:cNvPr id="33" name="scenario-bg-2">
            <a:extLst xmlns:a="http://schemas.openxmlformats.org/drawingml/2006/main">
              <a:ext uri="{FF2B5EF4-FFF2-40B4-BE49-F238E27FC236}">
                <a16:creationId xmlns:a16="http://schemas.microsoft.com/office/drawing/2014/main" id="{BAE9B6DE-96CE-4E97-A0AA-5ACB5458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481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cenario-bar-2">
            <a:extLst xmlns:a="http://schemas.openxmlformats.org/drawingml/2006/main">
              <a:ext uri="{FF2B5EF4-FFF2-40B4-BE49-F238E27FC236}">
                <a16:creationId xmlns:a16="http://schemas.microsoft.com/office/drawing/2014/main" id="{CDECC85B-1D93-4147-A09B-B466385E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2562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5F6BD5-F037-439F-9A8F-07408D99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72025"/>
            <a:ext cx="6477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rPr>
              <a:t>+USD 1.50m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62B264-2442-4546-B02D-7300FE3D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67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Risk-premium extension, no probability assigned</a:t>
            </a:r>
          </a:p>
        </p:txBody>
      </p:sp>
      <p:sp>
        <p:nvSpPr>
          <p:cNvPr id="37" name="scenario-question-rule">
            <a:extLst xmlns:a="http://schemas.openxmlformats.org/drawingml/2006/main">
              <a:ext uri="{FF2B5EF4-FFF2-40B4-BE49-F238E27FC236}">
                <a16:creationId xmlns:a16="http://schemas.microsoft.com/office/drawing/2014/main" id="{9A13CC6A-FA9A-4469-B566-CD5F77AF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67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822105-1888-4A18-A90A-F71CAB31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388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78F5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78F50"/>
                </a:solidFill>
                <a:latin typeface="Aptos"/>
                <a:ea typeface="Aptos"/>
                <a:cs typeface="Aptos"/>
              </a:rPr>
              <a:t>NEXT RM MOVE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5C550F-80AD-457A-8268-0AC928E8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610225"/>
            <a:ext cx="411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Ring-fence USD 5m of 2027 seed capital before extending the thesis.</a:t>
            </a:r>
          </a:p>
        </p:txBody>
      </p:sp>
      <p:sp>
        <p:nvSpPr>
          <p:cNvPr id="40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F9CA806A-429D-401C-BD94-94D240D3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F76601-ACC3-4F9F-9A9F-641BFA12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Source: holdings.csv · instruments.csv SYN-SP-0505 · event_log.csv 2026-08-05 · scenarios are illustrative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18FFDA-BEC4-44C4-B1B5-DE90764B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3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58579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0CCA7FB-61CC-4C6D-A448-6C52E6D0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5567857E-B135-4106-8DB0-D7F20DF6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5B3EA2DE-C746-48A9-8868-FE4515C9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TRUST PROOF · CHEUNG KWOK 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9E573-A96D-4ED0-861F-53BAAE35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The trustworthy answer begins with: “We need to verify your draw.”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23D54-0C8B-4DC0-B8ED-1A1ACE4B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A model that silently picks the convenient number is not an advisory system.</a:t>
            </a:r>
          </a:p>
        </p:txBody>
      </p:sp>
      <p:sp>
        <p:nvSpPr>
          <p:cNvPr id="6" name="conflict-panel">
            <a:extLst xmlns:a="http://schemas.openxmlformats.org/drawingml/2006/main">
              <a:ext uri="{FF2B5EF4-FFF2-40B4-BE49-F238E27FC236}">
                <a16:creationId xmlns:a16="http://schemas.microsoft.com/office/drawing/2014/main" id="{C5361D92-62AD-4AB1-99E8-E0C962AB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4972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4869B-A70B-40AF-9859-BC05C0EF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THE RECORDS DISAGREE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B722F-ADA6-41B6-A771-8068B674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USD 1.10m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A0B21-D6B9-4410-AB94-26681D7C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LATEST RM NOTE · N-016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0AC04-24EB-4515-A455-B149C801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419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B85D43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B85D43"/>
                </a:solidFill>
                <a:latin typeface="Georgia"/>
                <a:ea typeface="Georgia"/>
                <a:cs typeface="Georgia"/>
              </a:rPr>
              <a:t>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A18C5-6549-459B-A2F0-62671A50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336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B85D43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B85D43"/>
                </a:solidFill>
                <a:latin typeface="Georgia"/>
                <a:ea typeface="Georgia"/>
                <a:cs typeface="Georgia"/>
              </a:rPr>
              <a:t>USD 1.28m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C7BCC-0D1A-4C6B-B4FB-214B23DF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9087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PLANNED NEED · CN-012</a:t>
            </a:r>
          </a:p>
        </p:txBody>
      </p:sp>
      <p:sp>
        <p:nvSpPr>
          <p:cNvPr id="13" name="conflict-action">
            <a:extLst xmlns:a="http://schemas.openxmlformats.org/drawingml/2006/main">
              <a:ext uri="{FF2B5EF4-FFF2-40B4-BE49-F238E27FC236}">
                <a16:creationId xmlns:a16="http://schemas.microsoft.com/office/drawing/2014/main" id="{A08EE641-BD82-42E3-8A07-2063BA9A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5053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D1FE3-2C2F-4CB4-9EF4-5C8D98DA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95675"/>
            <a:ext cx="42576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5D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5D43"/>
                </a:solidFill>
                <a:latin typeface="Aptos"/>
                <a:ea typeface="Aptos"/>
                <a:cs typeface="Aptos"/>
              </a:rPr>
              <a:t>CONFIDENCE ↓  ·  TURN THE CONFLICT INTO THE FIRST QUESTION</a:t>
            </a:r>
          </a:p>
        </p:txBody>
      </p:sp>
      <p:sp>
        <p:nvSpPr>
          <p:cNvPr id="15" name="conversation-panel">
            <a:extLst xmlns:a="http://schemas.openxmlformats.org/drawingml/2006/main">
              <a:ext uri="{FF2B5EF4-FFF2-40B4-BE49-F238E27FC236}">
                <a16:creationId xmlns:a16="http://schemas.microsoft.com/office/drawing/2014/main" id="{FF8B613C-0ED3-4335-BFFA-58F3938A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05025"/>
            <a:ext cx="571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BC12D-912C-4AAB-B80D-42FB5C53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CONVERSATION OPEN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39647-EE22-4628-96D5-BF9E2A65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504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“The issue is not whether the bonds repay—it is whether their timetable still fits yours.”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8ACE8-2BAC-42E5-83E2-D80F915C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290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AAA6"/>
                </a:solidFill>
                <a:latin typeface="Aptos"/>
                <a:ea typeface="Aptos"/>
                <a:cs typeface="Aptos"/>
              </a:rPr>
              <a:t>RM-approved draft · no trade instruction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119C4-D12E-4316-9C3A-6FD06B88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THE LIFE HORIZON AND THE ASSET HORIZON HAVE DRIFTED APART</a:t>
            </a:r>
          </a:p>
        </p:txBody>
      </p:sp>
      <p:sp>
        <p:nvSpPr>
          <p:cNvPr id="20" name="horizon-line">
            <a:extLst xmlns:a="http://schemas.openxmlformats.org/drawingml/2006/main">
              <a:ext uri="{FF2B5EF4-FFF2-40B4-BE49-F238E27FC236}">
                <a16:creationId xmlns:a16="http://schemas.microsoft.com/office/drawing/2014/main" id="{95169826-E2EB-4CD5-8A31-9714DF7C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003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horizon-point-1">
            <a:extLst xmlns:a="http://schemas.openxmlformats.org/drawingml/2006/main">
              <a:ext uri="{FF2B5EF4-FFF2-40B4-BE49-F238E27FC236}">
                <a16:creationId xmlns:a16="http://schemas.microsoft.com/office/drawing/2014/main" id="{DFE4D87E-CB9A-4AB7-8EF9-31CA1F38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B78F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7215C-70E2-4ADA-B8D4-A4522432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78F50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B78F50"/>
                </a:solidFill>
                <a:latin typeface="Georgia"/>
                <a:ea typeface="Georgia"/>
                <a:cs typeface="Georgia"/>
              </a:rPr>
              <a:t>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EE03C-54E5-487C-8C08-DAEE7EFA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00675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AGE 71</a:t>
            </a:r>
          </a:p>
          <a:p xmlns:a="http://schemas.openxmlformats.org/drawingml/2006/main">
            <a:pPr algn="ctr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24" name="horizon-point-2">
            <a:extLst xmlns:a="http://schemas.openxmlformats.org/drawingml/2006/main">
              <a:ext uri="{FF2B5EF4-FFF2-40B4-BE49-F238E27FC236}">
                <a16:creationId xmlns:a16="http://schemas.microsoft.com/office/drawing/2014/main" id="{9907D76D-6221-4F24-BBB4-4B4E289D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1692" y="5095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2D5C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B2364-867B-47D6-875A-FCFDC981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892" y="47053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D5C56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D5C56"/>
                </a:solidFill>
                <a:latin typeface="Georgia"/>
                <a:ea typeface="Georgia"/>
                <a:cs typeface="Georgia"/>
              </a:rPr>
              <a:t>2038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135CE-3169-420D-AC5B-345D7EB3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492" y="5400675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12-YEAR HORIZON</a:t>
            </a:r>
          </a:p>
          <a:p xmlns:a="http://schemas.openxmlformats.org/drawingml/2006/main">
            <a:pPr algn="ctr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ENDS</a:t>
            </a:r>
          </a:p>
        </p:txBody>
      </p:sp>
      <p:sp>
        <p:nvSpPr>
          <p:cNvPr id="27" name="horizon-point-3">
            <a:extLst xmlns:a="http://schemas.openxmlformats.org/drawingml/2006/main">
              <a:ext uri="{FF2B5EF4-FFF2-40B4-BE49-F238E27FC236}">
                <a16:creationId xmlns:a16="http://schemas.microsoft.com/office/drawing/2014/main" id="{3FB81610-64C5-4895-B36A-824F5FCB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095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D43"/>
          </a:solidFill>
          <a:ln xmlns:a="http://schemas.openxmlformats.org/drawingml/2006/main" w="0">
            <a:solidFill>
              <a:srgbClr val="B85D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79D832-5E32-4608-9215-8A3158AC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7053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85D43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B85D43"/>
                </a:solidFill>
                <a:latin typeface="Georgia"/>
                <a:ea typeface="Georgia"/>
                <a:cs typeface="Georgia"/>
              </a:rPr>
              <a:t>2045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9CE5F-11AE-4443-ADEE-590913B6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00675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LARGEST BOND</a:t>
            </a:r>
          </a:p>
          <a:p xmlns:a="http://schemas.openxmlformats.org/drawingml/2006/main">
            <a:pPr algn="ctr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MATURES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4F3A05-1992-4FC8-ABC1-F89EB7D1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66.6%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CD7A52-6BAA-4F92-BDCA-7137BA99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FIXED INCOME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657E1C-BAEB-4F03-9511-9E7AF919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8293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20.8%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450AC4-D421-4E8A-8B2E-12847ADE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2674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ONE TREASURY DUE 2045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80AC55-D631-4516-AA73-49E8532A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8293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1.5 yrs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A9B43E-0886-4989-917E-760EDA91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674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66F"/>
                </a:solidFill>
                <a:latin typeface="Aptos"/>
                <a:ea typeface="Aptos"/>
                <a:cs typeface="Aptos"/>
              </a:rPr>
              <a:t>CASH-ONLY RUNWAY AT USD 1.28M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E5C966-EE72-4460-A89E-AD0A726F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905500"/>
            <a:ext cx="3676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Value paths include flows; do not call the decline ‘performance’ without attribution.</a:t>
            </a:r>
          </a:p>
        </p:txBody>
      </p:sp>
      <p:sp>
        <p:nvSpPr>
          <p:cNvPr id="37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9ADBF185-395B-4BE3-89E9-933D547E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DA6070-975D-4ABB-BD03-CF7C5840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Source: holdings.csv 2026-08-26 · planned_cash_needs.csv CN-012 · rm_notes.json N-016 · synthetic 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935512-74FE-4E83-A3B1-3C707825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3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66135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CA4917C-C15D-4E5C-9810-1BFA2784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D222C706-5104-4F0B-B0AD-2D13F502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F06090EE-79BA-4C90-A159-9A99EC56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GOVERNANCE BY CONSTRUCTION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0F646-3A55-4306-8A1E-E36E5B17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model may write the sentence. It cannot choose its own 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0D74E-2167-4C46-B5AA-F89B50EF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3B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C3BF"/>
                </a:solidFill>
                <a:latin typeface="Aptos"/>
                <a:ea typeface="Aptos"/>
                <a:cs typeface="Aptos"/>
              </a:rPr>
              <a:t>Purpose-limited evidence, policy-before-language and a human decision ledger make trust part of the architecture.</a:t>
            </a:r>
          </a:p>
        </p:txBody>
      </p:sp>
      <p:sp>
        <p:nvSpPr>
          <p:cNvPr id="6" name="node-1">
            <a:extLst xmlns:a="http://schemas.openxmlformats.org/drawingml/2006/main">
              <a:ext uri="{FF2B5EF4-FFF2-40B4-BE49-F238E27FC236}">
                <a16:creationId xmlns:a16="http://schemas.microsoft.com/office/drawing/2014/main" id="{D5384A20-4947-46A7-BC0D-AAC45948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72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0"/>
          </a:solidFill>
          <a:ln xmlns:a="http://schemas.openxmlformats.org/drawingml/2006/main" w="9525">
            <a:solidFill>
              <a:srgbClr val="4253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132EF-61F3-434C-8D56-615F18AD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8D955-B173-4CD2-9534-711F93FE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419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Bank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158D5-6104-4E3B-8E91-2E3E91DD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BB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BBB7"/>
                </a:solidFill>
                <a:latin typeface="Aptos"/>
                <a:ea typeface="Aptos"/>
                <a:cs typeface="Aptos"/>
              </a:rPr>
              <a:t>5 snapshots + notes</a:t>
            </a:r>
          </a:p>
        </p:txBody>
      </p:sp>
      <p:sp>
        <p:nvSpPr>
          <p:cNvPr id="10" name="architecture-link-1">
            <a:extLst xmlns:a="http://schemas.openxmlformats.org/drawingml/2006/main">
              <a:ext uri="{FF2B5EF4-FFF2-40B4-BE49-F238E27FC236}">
                <a16:creationId xmlns:a16="http://schemas.microsoft.com/office/drawing/2014/main" id="{C1EFABEF-38D5-41AD-8140-10E22B72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0512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node-2">
            <a:extLst xmlns:a="http://schemas.openxmlformats.org/drawingml/2006/main">
              <a:ext uri="{FF2B5EF4-FFF2-40B4-BE49-F238E27FC236}">
                <a16:creationId xmlns:a16="http://schemas.microsoft.com/office/drawing/2014/main" id="{E6187A99-F00E-45B2-A5C1-5DE7AC5C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38375"/>
            <a:ext cx="172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0"/>
          </a:solidFill>
          <a:ln xmlns:a="http://schemas.openxmlformats.org/drawingml/2006/main" w="9525">
            <a:solidFill>
              <a:srgbClr val="4253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4EB76-7C6A-4328-BFFB-E2188455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CB610-BFF9-44EF-8ED5-F29AE68C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19375"/>
            <a:ext cx="1419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Temporal joins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A59E8-8829-4F92-BFFB-137FBEE7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71825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BB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BBB7"/>
                </a:solidFill>
                <a:latin typeface="Aptos"/>
                <a:ea typeface="Aptos"/>
                <a:cs typeface="Aptos"/>
              </a:rPr>
              <a:t>as-of safe + lag flags</a:t>
            </a:r>
          </a:p>
        </p:txBody>
      </p:sp>
      <p:sp>
        <p:nvSpPr>
          <p:cNvPr id="15" name="architecture-link-2">
            <a:extLst xmlns:a="http://schemas.openxmlformats.org/drawingml/2006/main">
              <a:ext uri="{FF2B5EF4-FFF2-40B4-BE49-F238E27FC236}">
                <a16:creationId xmlns:a16="http://schemas.microsoft.com/office/drawing/2014/main" id="{7CAA28F1-A9E6-42CD-8DBE-02DA92A5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0512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node-3">
            <a:extLst xmlns:a="http://schemas.openxmlformats.org/drawingml/2006/main">
              <a:ext uri="{FF2B5EF4-FFF2-40B4-BE49-F238E27FC236}">
                <a16:creationId xmlns:a16="http://schemas.microsoft.com/office/drawing/2014/main" id="{1F175B6F-D3E0-425B-AD81-A39F3532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172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0"/>
          </a:solidFill>
          <a:ln xmlns:a="http://schemas.openxmlformats.org/drawingml/2006/main" w="9525">
            <a:solidFill>
              <a:srgbClr val="4253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C6338-1C56-4098-BA56-AB0D959A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B6E19-2D0A-4687-9884-1B04FFFA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19375"/>
            <a:ext cx="1419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Policy compiler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1221A-BEA4-48C6-8566-BDFAF6E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71825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BB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BBB7"/>
                </a:solidFill>
                <a:latin typeface="Aptos"/>
                <a:ea typeface="Aptos"/>
                <a:cs typeface="Aptos"/>
              </a:rPr>
              <a:t>mandate + event authority</a:t>
            </a:r>
          </a:p>
        </p:txBody>
      </p:sp>
      <p:sp>
        <p:nvSpPr>
          <p:cNvPr id="20" name="architecture-link-3">
            <a:extLst xmlns:a="http://schemas.openxmlformats.org/drawingml/2006/main">
              <a:ext uri="{FF2B5EF4-FFF2-40B4-BE49-F238E27FC236}">
                <a16:creationId xmlns:a16="http://schemas.microsoft.com/office/drawing/2014/main" id="{22B1000B-5AC9-4C66-B9EC-31317D6B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0512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node-4">
            <a:extLst xmlns:a="http://schemas.openxmlformats.org/drawingml/2006/main">
              <a:ext uri="{FF2B5EF4-FFF2-40B4-BE49-F238E27FC236}">
                <a16:creationId xmlns:a16="http://schemas.microsoft.com/office/drawing/2014/main" id="{2D6E163B-5494-4A4B-8FAE-D1B47EAA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38375"/>
            <a:ext cx="172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0"/>
          </a:solidFill>
          <a:ln xmlns:a="http://schemas.openxmlformats.org/drawingml/2006/main" w="9525">
            <a:solidFill>
              <a:srgbClr val="4253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A6D4C-BFB7-4FCC-8307-76E55F7B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8FC5A-7952-4C15-8973-E26D97A3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19375"/>
            <a:ext cx="1419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Evidence bundle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5E361-9744-4257-A8F1-FD8B1741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BB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BBB7"/>
                </a:solidFill>
                <a:latin typeface="Aptos"/>
                <a:ea typeface="Aptos"/>
                <a:cs typeface="Aptos"/>
              </a:rPr>
              <a:t>minimum relevant rows</a:t>
            </a:r>
          </a:p>
        </p:txBody>
      </p:sp>
      <p:sp>
        <p:nvSpPr>
          <p:cNvPr id="25" name="architecture-link-4">
            <a:extLst xmlns:a="http://schemas.openxmlformats.org/drawingml/2006/main">
              <a:ext uri="{FF2B5EF4-FFF2-40B4-BE49-F238E27FC236}">
                <a16:creationId xmlns:a16="http://schemas.microsoft.com/office/drawing/2014/main" id="{58B93C04-2F10-4ED6-9E10-3ECC0F56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0512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node-5">
            <a:extLst xmlns:a="http://schemas.openxmlformats.org/drawingml/2006/main">
              <a:ext uri="{FF2B5EF4-FFF2-40B4-BE49-F238E27FC236}">
                <a16:creationId xmlns:a16="http://schemas.microsoft.com/office/drawing/2014/main" id="{BC8693C4-1ACC-4405-8E83-93C4CA0B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172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0"/>
          </a:solidFill>
          <a:ln xmlns:a="http://schemas.openxmlformats.org/drawingml/2006/main" w="9525">
            <a:solidFill>
              <a:srgbClr val="4253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2AD508-4119-4C29-89FB-18A740EE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F09E6-CAA3-41E1-A0E7-1E435723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1419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Private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B70B7-3C2A-4F2D-926A-802EE8B2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71825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BB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BBB7"/>
                </a:solidFill>
                <a:latin typeface="Aptos"/>
                <a:ea typeface="Aptos"/>
                <a:cs typeface="Aptos"/>
              </a:rPr>
              <a:t>narrative inside bank</a:t>
            </a:r>
          </a:p>
        </p:txBody>
      </p:sp>
      <p:sp>
        <p:nvSpPr>
          <p:cNvPr id="30" name="architecture-link-5">
            <a:extLst xmlns:a="http://schemas.openxmlformats.org/drawingml/2006/main">
              <a:ext uri="{FF2B5EF4-FFF2-40B4-BE49-F238E27FC236}">
                <a16:creationId xmlns:a16="http://schemas.microsoft.com/office/drawing/2014/main" id="{9DDAECEF-3403-4CB4-8A2F-C633CF22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0512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node-6">
            <a:extLst xmlns:a="http://schemas.openxmlformats.org/drawingml/2006/main">
              <a:ext uri="{FF2B5EF4-FFF2-40B4-BE49-F238E27FC236}">
                <a16:creationId xmlns:a16="http://schemas.microsoft.com/office/drawing/2014/main" id="{F6DBDBFD-7793-4FB9-896D-29528FE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38375"/>
            <a:ext cx="172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0"/>
          </a:solidFill>
          <a:ln xmlns:a="http://schemas.openxmlformats.org/drawingml/2006/main" w="9525">
            <a:solidFill>
              <a:srgbClr val="4253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D56CE5-0E0E-4D0A-A993-83FD9EAB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62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216417-AC22-44D9-BA72-00E5D3EC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19375"/>
            <a:ext cx="1419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RM decision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AEBA32-58A0-4D90-8A5B-34C72036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71825"/>
            <a:ext cx="1419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BB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BBB7"/>
                </a:solidFill>
                <a:latin typeface="Aptos"/>
                <a:ea typeface="Aptos"/>
                <a:cs typeface="Aptos"/>
              </a:rPr>
              <a:t>approve / edit / reject</a:t>
            </a:r>
          </a:p>
        </p:txBody>
      </p:sp>
      <p:sp>
        <p:nvSpPr>
          <p:cNvPr id="35" name="controls-panel">
            <a:extLst xmlns:a="http://schemas.openxmlformats.org/drawingml/2006/main">
              <a:ext uri="{FF2B5EF4-FFF2-40B4-BE49-F238E27FC236}">
                <a16:creationId xmlns:a16="http://schemas.microsoft.com/office/drawing/2014/main" id="{74865EC8-6477-4A1F-808E-D18F50C1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16A517-B4F9-4D37-B38C-6BD96A4B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FIVE NON-NEGOTIABLES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DC911C-EDA3-4271-B80C-EDFC080D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2FA831-E198-4CA7-BFB0-D721449E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790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Authoritative events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A2C245-B290-4F26-AB72-571DB530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809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2026 market claims only from event_log.csv</a:t>
            </a:r>
          </a:p>
        </p:txBody>
      </p:sp>
      <p:sp>
        <p:nvSpPr>
          <p:cNvPr id="40" name="control-separator-1">
            <a:extLst xmlns:a="http://schemas.openxmlformats.org/drawingml/2006/main">
              <a:ext uri="{FF2B5EF4-FFF2-40B4-BE49-F238E27FC236}">
                <a16:creationId xmlns:a16="http://schemas.microsoft.com/office/drawing/2014/main" id="{1C4CA4EA-D6E0-4341-BA10-6CA2FC0A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600575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6FBD00-7C47-456A-A0DE-3C0194C9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6291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9C7F97-4200-43E7-9AAD-C199749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05375"/>
            <a:ext cx="1790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Suitability first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FF3315-0115-43AF-BFFD-E472DFD0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38750"/>
            <a:ext cx="1809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mandate, exclusions, credit and liquidity before prose</a:t>
            </a:r>
          </a:p>
        </p:txBody>
      </p:sp>
      <p:sp>
        <p:nvSpPr>
          <p:cNvPr id="44" name="control-separator-2">
            <a:extLst xmlns:a="http://schemas.openxmlformats.org/drawingml/2006/main">
              <a:ext uri="{FF2B5EF4-FFF2-40B4-BE49-F238E27FC236}">
                <a16:creationId xmlns:a16="http://schemas.microsoft.com/office/drawing/2014/main" id="{7566DFE9-ED3A-4097-9BE6-11377C00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00575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5C77CF-74F9-4D84-BBB7-1B6FBE41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291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8AF38C-AFC6-48F9-8F4D-1C752BCD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05375"/>
            <a:ext cx="1790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Conflicts stay visible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9954ED-5FAD-4425-813F-FECA44D0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38750"/>
            <a:ext cx="1809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uncertainty becomes a question, never an average</a:t>
            </a:r>
          </a:p>
        </p:txBody>
      </p:sp>
      <p:sp>
        <p:nvSpPr>
          <p:cNvPr id="48" name="control-separator-3">
            <a:extLst xmlns:a="http://schemas.openxmlformats.org/drawingml/2006/main">
              <a:ext uri="{FF2B5EF4-FFF2-40B4-BE49-F238E27FC236}">
                <a16:creationId xmlns:a16="http://schemas.microsoft.com/office/drawing/2014/main" id="{359C55C5-5F47-483F-91DD-DE38E9C6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600575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71CE5A-4BC7-4CBB-BBA8-01541A4F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6291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CE3527-B5CA-43EB-AFC9-54F9ED86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05375"/>
            <a:ext cx="1790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Zero public-LLM egress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10D90C-F4E5-42C1-9AAE-21AFD604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238750"/>
            <a:ext cx="1809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private deployment + purpose-limited evidence</a:t>
            </a:r>
          </a:p>
        </p:txBody>
      </p:sp>
      <p:sp>
        <p:nvSpPr>
          <p:cNvPr id="52" name="control-separator-4">
            <a:extLst xmlns:a="http://schemas.openxmlformats.org/drawingml/2006/main">
              <a:ext uri="{FF2B5EF4-FFF2-40B4-BE49-F238E27FC236}">
                <a16:creationId xmlns:a16="http://schemas.microsoft.com/office/drawing/2014/main" id="{9D7624B7-E835-4726-9CEE-436344E2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00575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F42730-86C9-4E99-8DA0-28A34E11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291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4C3989-FF1C-40B8-AAE2-2ED7C717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05375"/>
            <a:ext cx="1790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Human accountability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08CCF7-8F03-49E6-9E41-D1D99C32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38750"/>
            <a:ext cx="1809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decision, edit and rationale remain attached</a:t>
            </a:r>
          </a:p>
        </p:txBody>
      </p:sp>
      <p:sp>
        <p:nvSpPr>
          <p:cNvPr id="56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7706294E-9B1D-4957-86E2-18B2D805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BA762D-AA2D-49FC-A753-79E13E68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EAAA6"/>
                </a:solidFill>
                <a:latin typeface="Aptos"/>
                <a:ea typeface="Aptos"/>
                <a:cs typeface="Aptos"/>
              </a:rPr>
              <a:t>Prototype governance: 0 duplicate-grain rows · 0 orphan references · 1 lagged mark · 1 surfaced record conflict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7CB454-9C7B-484B-8705-819AE0F1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3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E7D6B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E7D6B5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65771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C0CF51C-D80C-49DB-AD84-96A7DAB1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D676F46C-357D-4EC4-AF14-E77D83A9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8CDF3F24-11C4-4960-A611-AB6DB070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WORK DONE SO FAR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82968-CCF0-40D0-B457-DF651DCB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The trust-critical loop is working end to end—not mocked in slides.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E0214-A414-4B15-8CAA-7391D996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A dependency-light prototype recalculates the evidence bundle directly from the supplied files on every request.</a:t>
            </a:r>
          </a:p>
        </p:txBody>
      </p:sp>
      <p:sp>
        <p:nvSpPr>
          <p:cNvPr id="6" name="work-metrics">
            <a:extLst xmlns:a="http://schemas.openxmlformats.org/drawingml/2006/main">
              <a:ext uri="{FF2B5EF4-FFF2-40B4-BE49-F238E27FC236}">
                <a16:creationId xmlns:a16="http://schemas.microsoft.com/office/drawing/2014/main" id="{581AFAFA-6E5E-47A6-8AC9-673B4987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8765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E3E2D-C7F7-4F2E-8A2C-D5B745D4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E7D6B5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E7D6B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4C286-A45A-4607-9A5F-B3472DC4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AAA6"/>
                </a:solidFill>
                <a:latin typeface="Aptos"/>
                <a:ea typeface="Aptos"/>
                <a:cs typeface="Aptos"/>
              </a:rPr>
              <a:t>SOURCE DATASETS JOINED</a:t>
            </a:r>
          </a:p>
        </p:txBody>
      </p:sp>
      <p:sp>
        <p:nvSpPr>
          <p:cNvPr id="9" name="work-rule-1">
            <a:extLst xmlns:a="http://schemas.openxmlformats.org/drawingml/2006/main">
              <a:ext uri="{FF2B5EF4-FFF2-40B4-BE49-F238E27FC236}">
                <a16:creationId xmlns:a16="http://schemas.microsoft.com/office/drawing/2014/main" id="{A2481824-B7D6-432D-BF3C-505C35DD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4C2BA-6DE5-41A9-94CA-C6F50416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E7D6B5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E7D6B5"/>
                </a:solidFill>
                <a:latin typeface="Georgia"/>
                <a:ea typeface="Georgia"/>
                <a:cs typeface="Georgia"/>
              </a:rPr>
              <a:t>20 /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C13F2-6EED-4573-96AB-4285CDCA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AAA6"/>
                </a:solidFill>
                <a:latin typeface="Aptos"/>
                <a:ea typeface="Aptos"/>
                <a:cs typeface="Aptos"/>
              </a:rPr>
              <a:t>CLIENTS / PORTFOLIOS RANKED</a:t>
            </a:r>
          </a:p>
        </p:txBody>
      </p:sp>
      <p:sp>
        <p:nvSpPr>
          <p:cNvPr id="12" name="work-rule-2">
            <a:extLst xmlns:a="http://schemas.openxmlformats.org/drawingml/2006/main">
              <a:ext uri="{FF2B5EF4-FFF2-40B4-BE49-F238E27FC236}">
                <a16:creationId xmlns:a16="http://schemas.microsoft.com/office/drawing/2014/main" id="{ECAEA2AB-3D9D-4E98-95C0-D9D81293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4B47C-0B64-4F0B-BD45-7E8EA214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E7D6B5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E7D6B5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D2E67-E996-434F-845A-51B556F8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AAA6"/>
                </a:solidFill>
                <a:latin typeface="Aptos"/>
                <a:ea typeface="Aptos"/>
                <a:cs typeface="Aptos"/>
              </a:rPr>
              <a:t>DEEP DECISION ROOMS</a:t>
            </a:r>
          </a:p>
        </p:txBody>
      </p:sp>
      <p:sp>
        <p:nvSpPr>
          <p:cNvPr id="15" name="work-rule-3">
            <a:extLst xmlns:a="http://schemas.openxmlformats.org/drawingml/2006/main">
              <a:ext uri="{FF2B5EF4-FFF2-40B4-BE49-F238E27FC236}">
                <a16:creationId xmlns:a16="http://schemas.microsoft.com/office/drawing/2014/main" id="{3B67D3C6-E194-45DC-91B2-DAA8B789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DD99F-7D26-4254-8455-ED9D8297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143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7D6B5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E7D6B5"/>
                </a:solidFill>
                <a:latin typeface="Georgia"/>
                <a:ea typeface="Georgia"/>
                <a:cs typeface="Georgia"/>
              </a:rPr>
              <a:t>8 / 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839F8-2B73-4895-9B78-DCA570B4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AAA6"/>
                </a:solidFill>
                <a:latin typeface="Aptos"/>
                <a:ea typeface="Aptos"/>
                <a:cs typeface="Aptos"/>
              </a:rPr>
              <a:t>ANALYTICAL &amp; GOVERNANCE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62390-D804-4F63-9F52-947EB5A1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1526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RUNNING SYSTEM</a:t>
            </a:r>
          </a:p>
        </p:txBody>
      </p:sp>
      <p:sp>
        <p:nvSpPr>
          <p:cNvPr id="19" name="code-row-1">
            <a:extLst xmlns:a="http://schemas.openxmlformats.org/drawingml/2006/main">
              <a:ext uri="{FF2B5EF4-FFF2-40B4-BE49-F238E27FC236}">
                <a16:creationId xmlns:a16="http://schemas.microsoft.com/office/drawing/2014/main" id="{CE88B1F7-0E19-49E1-8678-5FAC0245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543175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A1538-FDB3-43C5-BBD0-0DA022F1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289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app.py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B5E86-4BD8-40C8-BA51-E759A5F8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local API + static server</a:t>
            </a:r>
          </a:p>
        </p:txBody>
      </p:sp>
      <p:sp>
        <p:nvSpPr>
          <p:cNvPr id="22" name="code-row-2">
            <a:extLst xmlns:a="http://schemas.openxmlformats.org/drawingml/2006/main">
              <a:ext uri="{FF2B5EF4-FFF2-40B4-BE49-F238E27FC236}">
                <a16:creationId xmlns:a16="http://schemas.microsoft.com/office/drawing/2014/main" id="{B4FA45FE-C6AF-4AD4-87BD-58EAD2C4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67075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F489B-36DC-423B-A8D5-9BA67240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528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tessera/engine.py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3EFFD-DA2C-4041-8E82-87056A72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3528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joins · checks · ranking · scenarios · evidence</a:t>
            </a:r>
          </a:p>
        </p:txBody>
      </p:sp>
      <p:sp>
        <p:nvSpPr>
          <p:cNvPr id="25" name="code-row-3">
            <a:extLst xmlns:a="http://schemas.openxmlformats.org/drawingml/2006/main">
              <a:ext uri="{FF2B5EF4-FFF2-40B4-BE49-F238E27FC236}">
                <a16:creationId xmlns:a16="http://schemas.microsoft.com/office/drawing/2014/main" id="{EDC0CF30-53E6-4C2D-887F-D3022909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990975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31357-07EE-49AA-9229-651598A2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767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web/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9394C-0D36-43A3-97F0-6BF57F95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0767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interactive RM workbench</a:t>
            </a:r>
          </a:p>
        </p:txBody>
      </p:sp>
      <p:sp>
        <p:nvSpPr>
          <p:cNvPr id="28" name="code-row-4">
            <a:extLst xmlns:a="http://schemas.openxmlformats.org/drawingml/2006/main">
              <a:ext uri="{FF2B5EF4-FFF2-40B4-BE49-F238E27FC236}">
                <a16:creationId xmlns:a16="http://schemas.microsoft.com/office/drawing/2014/main" id="{8559B571-9869-4315-908E-5A3A7406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14875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2B6BD-92ED-429C-9610-68E24C4B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006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201E"/>
                </a:solidFill>
                <a:latin typeface="Aptos Mono"/>
                <a:ea typeface="Aptos Mono"/>
                <a:cs typeface="Aptos Mono"/>
              </a:rPr>
              <a:t>tests/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B5FC34-6738-4806-AD25-4A7CA3FD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006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regression suite for calculations and control logic</a:t>
            </a:r>
          </a:p>
        </p:txBody>
      </p:sp>
      <p:sp>
        <p:nvSpPr>
          <p:cNvPr id="31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9D12768C-BAFE-4762-8E30-05BD94C5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5245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5D1E62-0CBD-4C7D-9CA7-BE82C55B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534025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5C5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D5C56"/>
                </a:solidFill>
                <a:latin typeface="Aptos Mono"/>
                <a:ea typeface="Aptos Mono"/>
                <a:cs typeface="Aptos Mono"/>
              </a:rPr>
              <a:t>python app.py  →  localhost:8000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74BBDE-0165-45B0-A3E4-FE2F95F6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3667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IMPLEMENTED DECISION LOOP</a:t>
            </a:r>
          </a:p>
        </p:txBody>
      </p:sp>
      <p:sp>
        <p:nvSpPr>
          <p:cNvPr id="34" name="done-marker-1">
            <a:extLst xmlns:a="http://schemas.openxmlformats.org/drawingml/2006/main">
              <a:ext uri="{FF2B5EF4-FFF2-40B4-BE49-F238E27FC236}">
                <a16:creationId xmlns:a16="http://schemas.microsoft.com/office/drawing/2014/main" id="{F532AF68-C54C-473C-AC04-DA679A47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62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2D5C5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8BCCF1-DF21-4668-9502-AAFF11F8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52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3AA108-5A48-461F-9251-A1F5B7B1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527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E"/>
                </a:solidFill>
                <a:latin typeface="Aptos"/>
                <a:ea typeface="Aptos"/>
                <a:cs typeface="Aptos"/>
              </a:rPr>
              <a:t>Five-snapshot replay with no performance overclaim</a:t>
            </a:r>
          </a:p>
        </p:txBody>
      </p:sp>
      <p:sp>
        <p:nvSpPr>
          <p:cNvPr id="37" name="done-rule-1">
            <a:extLst xmlns:a="http://schemas.openxmlformats.org/drawingml/2006/main">
              <a:ext uri="{FF2B5EF4-FFF2-40B4-BE49-F238E27FC236}">
                <a16:creationId xmlns:a16="http://schemas.microsoft.com/office/drawing/2014/main" id="{D1034DD8-5377-44FB-9B14-086B9AF8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done-marker-2">
            <a:extLst xmlns:a="http://schemas.openxmlformats.org/drawingml/2006/main">
              <a:ext uri="{FF2B5EF4-FFF2-40B4-BE49-F238E27FC236}">
                <a16:creationId xmlns:a16="http://schemas.microsoft.com/office/drawing/2014/main" id="{15EEE744-2F55-4431-85DE-0D8D6757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2D5C5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936B99-278A-4BEA-9E0C-BA5C6B71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57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E72897-4787-4E19-9EE8-0088DCFD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5752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E"/>
                </a:solidFill>
                <a:latin typeface="Aptos"/>
                <a:ea typeface="Aptos"/>
                <a:cs typeface="Aptos"/>
              </a:rPr>
              <a:t>Cross-portfolio + structured-product look-through</a:t>
            </a:r>
          </a:p>
        </p:txBody>
      </p:sp>
      <p:sp>
        <p:nvSpPr>
          <p:cNvPr id="41" name="done-rule-2">
            <a:extLst xmlns:a="http://schemas.openxmlformats.org/drawingml/2006/main">
              <a:ext uri="{FF2B5EF4-FFF2-40B4-BE49-F238E27FC236}">
                <a16:creationId xmlns:a16="http://schemas.microsoft.com/office/drawing/2014/main" id="{96A96DE1-F55C-45DB-8CBB-FE212262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19475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done-marker-3">
            <a:extLst xmlns:a="http://schemas.openxmlformats.org/drawingml/2006/main">
              <a:ext uri="{FF2B5EF4-FFF2-40B4-BE49-F238E27FC236}">
                <a16:creationId xmlns:a16="http://schemas.microsoft.com/office/drawing/2014/main" id="{CD68E6DC-4BAE-4D83-9F29-56189A19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71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2D5C5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E9AF2B-3549-4989-A909-747FB528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62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948721-FD78-4A38-A7B6-BB064473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E"/>
                </a:solidFill>
                <a:latin typeface="Aptos"/>
                <a:ea typeface="Aptos"/>
                <a:cs typeface="Aptos"/>
              </a:rPr>
              <a:t>Mandate, exclusion, liquidity, credit and data checks</a:t>
            </a:r>
          </a:p>
        </p:txBody>
      </p:sp>
      <p:sp>
        <p:nvSpPr>
          <p:cNvPr id="45" name="done-rule-3">
            <a:extLst xmlns:a="http://schemas.openxmlformats.org/drawingml/2006/main">
              <a:ext uri="{FF2B5EF4-FFF2-40B4-BE49-F238E27FC236}">
                <a16:creationId xmlns:a16="http://schemas.microsoft.com/office/drawing/2014/main" id="{45C3540A-BF23-42C0-BFEB-DD700D12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2430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done-marker-4">
            <a:extLst xmlns:a="http://schemas.openxmlformats.org/drawingml/2006/main">
              <a:ext uri="{FF2B5EF4-FFF2-40B4-BE49-F238E27FC236}">
                <a16:creationId xmlns:a16="http://schemas.microsoft.com/office/drawing/2014/main" id="{6A43A6E3-3CB1-4029-B843-1CFE6BC3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2D5C5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696C0B-6EA0-4D98-8FE5-8E412B4F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67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5ABF71-2AF0-4A6A-B76D-44F4D53E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6717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E"/>
                </a:solidFill>
                <a:latin typeface="Aptos"/>
                <a:ea typeface="Aptos"/>
                <a:cs typeface="Aptos"/>
              </a:rPr>
              <a:t>Transparent scenario sensitivities—no probabilities</a:t>
            </a:r>
          </a:p>
        </p:txBody>
      </p:sp>
      <p:sp>
        <p:nvSpPr>
          <p:cNvPr id="49" name="done-rule-4">
            <a:extLst xmlns:a="http://schemas.openxmlformats.org/drawingml/2006/main">
              <a:ext uri="{FF2B5EF4-FFF2-40B4-BE49-F238E27FC236}">
                <a16:creationId xmlns:a16="http://schemas.microsoft.com/office/drawing/2014/main" id="{50B23D19-1EFB-4D24-84FC-554F7644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done-marker-5">
            <a:extLst xmlns:a="http://schemas.openxmlformats.org/drawingml/2006/main">
              <a:ext uri="{FF2B5EF4-FFF2-40B4-BE49-F238E27FC236}">
                <a16:creationId xmlns:a16="http://schemas.microsoft.com/office/drawing/2014/main" id="{B67AFDB8-1B57-4A46-A19D-20B4FAED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81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2D5C5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75B332-3169-465E-9538-D15E35D6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72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AD2E30-B4AF-4042-A548-A6FFDB29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E"/>
                </a:solidFill>
                <a:latin typeface="Aptos"/>
                <a:ea typeface="Aptos"/>
                <a:cs typeface="Aptos"/>
              </a:rPr>
              <a:t>Conversation brief + evidence passport</a:t>
            </a:r>
          </a:p>
        </p:txBody>
      </p:sp>
      <p:sp>
        <p:nvSpPr>
          <p:cNvPr id="53" name="done-rule-5">
            <a:extLst xmlns:a="http://schemas.openxmlformats.org/drawingml/2006/main">
              <a:ext uri="{FF2B5EF4-FFF2-40B4-BE49-F238E27FC236}">
                <a16:creationId xmlns:a16="http://schemas.microsoft.com/office/drawing/2014/main" id="{6F902FFD-ED98-4AE5-90A0-92469C27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339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done-marker-6">
            <a:extLst xmlns:a="http://schemas.openxmlformats.org/drawingml/2006/main">
              <a:ext uri="{FF2B5EF4-FFF2-40B4-BE49-F238E27FC236}">
                <a16:creationId xmlns:a16="http://schemas.microsoft.com/office/drawing/2014/main" id="{13792273-4C97-4E06-9923-AA766ECF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86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2D5C5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C13909-8607-4CAC-AABF-DD98BA2A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76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09BAD8-163B-4DFD-A24A-A21176FD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7682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E"/>
                </a:solidFill>
                <a:latin typeface="Aptos"/>
                <a:ea typeface="Aptos"/>
                <a:cs typeface="Aptos"/>
              </a:rPr>
              <a:t>RM approve / edit actions logged in demo state</a:t>
            </a:r>
          </a:p>
        </p:txBody>
      </p:sp>
      <p:sp>
        <p:nvSpPr>
          <p:cNvPr id="57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DD6EE609-88AB-4E8B-87BE-1DD5D782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D849B7-443A-44F4-B19E-CA9FFF2E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Verification: Python unit tests 8/8 pass · JavaScript syntax check passes · local HTTP health and API endpoints pass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F3CF7B-7A34-4225-86CE-9A2D9358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3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78341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AF95685-1A9A-4E24-8619-6695407E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9405B4FB-747B-4A4C-AB8F-DBDB658E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36431EA0-C3BD-4AA4-8945-17077765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FROM PROTOTYPE TO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E4C2E-BC80-4F20-93FD-412929DB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5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A 12-week shadow-to-live pilot can prove decision quality before scaling generation.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00E7D-CFC8-4E00-824C-A5066455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Start with RM decisions and evidence quality; only then optimize language, scale and commercial outcomes.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FF95A-A7A2-4FBF-9D1A-7437C8BC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PROPOSED PILOT</a:t>
            </a:r>
          </a:p>
        </p:txBody>
      </p:sp>
      <p:sp>
        <p:nvSpPr>
          <p:cNvPr id="7" name="pilot-spine">
            <a:extLst xmlns:a="http://schemas.openxmlformats.org/drawingml/2006/main">
              <a:ext uri="{FF2B5EF4-FFF2-40B4-BE49-F238E27FC236}">
                <a16:creationId xmlns:a16="http://schemas.microsoft.com/office/drawing/2014/main" id="{4899565C-27E0-4F2C-A2DA-3C4EE65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pilot-phase-1">
            <a:extLst xmlns:a="http://schemas.openxmlformats.org/drawingml/2006/main">
              <a:ext uri="{FF2B5EF4-FFF2-40B4-BE49-F238E27FC236}">
                <a16:creationId xmlns:a16="http://schemas.microsoft.com/office/drawing/2014/main" id="{F078F5F2-542D-4B07-89F8-A6DC9AC2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181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F132F-C651-4A4F-A4E4-A2960196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F90FB-70EF-4F0D-9AD7-70BFE48E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955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WEEKS 1–4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03E6F-E537-44E2-9A98-56AA717F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Historical replay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CDCB1-B3B5-4DDC-8D53-D2994613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3 RMs · ~60 clients</a:t>
            </a:r>
          </a:p>
          <a:p xmlns:a="http://schemas.openxmlformats.org/drawingml/2006/main">
            <a:pPr algn="l">
              <a:defRPr sz="9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Tune contradictions against known decisions; no client output.</a:t>
            </a:r>
          </a:p>
        </p:txBody>
      </p:sp>
      <p:sp>
        <p:nvSpPr>
          <p:cNvPr id="13" name="pilot-marker-1">
            <a:extLst xmlns:a="http://schemas.openxmlformats.org/drawingml/2006/main">
              <a:ext uri="{FF2B5EF4-FFF2-40B4-BE49-F238E27FC236}">
                <a16:creationId xmlns:a16="http://schemas.microsoft.com/office/drawing/2014/main" id="{A71C3A42-F318-415C-ABEE-92F2E5DD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333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B78F50"/>
            </a:solidFill>
            <a:prstDash val="solid"/>
          </a:ln>
        </p:spPr>
      </p:sp>
      <p:sp>
        <p:nvSpPr>
          <p:cNvPr id="14" name="pilot-phase-2">
            <a:extLst xmlns:a="http://schemas.openxmlformats.org/drawingml/2006/main">
              <a:ext uri="{FF2B5EF4-FFF2-40B4-BE49-F238E27FC236}">
                <a16:creationId xmlns:a16="http://schemas.microsoft.com/office/drawing/2014/main" id="{FDDA69CB-FB52-48D4-B3EE-A15ECD64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24125"/>
            <a:ext cx="3181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B3760-E7E7-47F5-BE42-E4FA0FC4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68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83AB4-F342-4F0D-B2E6-4144BD64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955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WEEKS 5–8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B1FC6-35CA-4748-86F8-51A9C299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57525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Shadow mode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B1E7B-C59A-47C8-A367-E3C17C55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95675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Compare queue with RM judgement.</a:t>
            </a:r>
          </a:p>
          <a:p xmlns:a="http://schemas.openxmlformats.org/drawingml/2006/main">
            <a:pPr algn="l">
              <a:defRPr sz="9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Record false positives, omissions and overrides.</a:t>
            </a:r>
          </a:p>
        </p:txBody>
      </p:sp>
      <p:sp>
        <p:nvSpPr>
          <p:cNvPr id="19" name="pilot-marker-2">
            <a:extLst xmlns:a="http://schemas.openxmlformats.org/drawingml/2006/main">
              <a:ext uri="{FF2B5EF4-FFF2-40B4-BE49-F238E27FC236}">
                <a16:creationId xmlns:a16="http://schemas.microsoft.com/office/drawing/2014/main" id="{1C31F7BD-AE1F-4E48-A297-6034CCF2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33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B78F50"/>
            </a:solidFill>
            <a:prstDash val="solid"/>
          </a:ln>
        </p:spPr>
      </p:sp>
      <p:sp>
        <p:nvSpPr>
          <p:cNvPr id="20" name="pilot-phase-3">
            <a:extLst xmlns:a="http://schemas.openxmlformats.org/drawingml/2006/main">
              <a:ext uri="{FF2B5EF4-FFF2-40B4-BE49-F238E27FC236}">
                <a16:creationId xmlns:a16="http://schemas.microsoft.com/office/drawing/2014/main" id="{1D63A970-684D-493A-B195-3B326367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24125"/>
            <a:ext cx="41338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9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AFB36-0A34-48ED-82C9-ECCBC6C4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8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8F5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E72A93-EEA3-48C4-B4B7-B21777C9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95575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WEEKS 9–12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914648-39B0-4B3E-83A8-7A17990B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57525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Controlled live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305F5-2FF8-46A1-BC8B-4D451A85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95675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Draft briefs for selected meetings.</a:t>
            </a:r>
          </a:p>
          <a:p xmlns:a="http://schemas.openxmlformats.org/drawingml/2006/main">
            <a:pPr algn="l">
              <a:defRPr sz="9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RM approval mandatory; compliance samples the ledger.</a:t>
            </a:r>
          </a:p>
        </p:txBody>
      </p:sp>
      <p:sp>
        <p:nvSpPr>
          <p:cNvPr id="25" name="pilot-marker-3">
            <a:extLst xmlns:a="http://schemas.openxmlformats.org/drawingml/2006/main">
              <a:ext uri="{FF2B5EF4-FFF2-40B4-BE49-F238E27FC236}">
                <a16:creationId xmlns:a16="http://schemas.microsoft.com/office/drawing/2014/main" id="{EBA448D0-9A9E-40D5-AC94-35C2F18C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333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B78F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505F40-9DA6-45C0-8D67-9C6F06A5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VALUE HYPOTHESIS TO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B3A70-7006-4389-AB66-E4438FE3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2333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Better signal selection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4666CD-5B6E-4A32-AD1E-5613A332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fewer noisy alerts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062480-39D6-4E5E-8E38-1A461404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911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78F5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8F5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3DCCEF-A8CE-46AC-925B-FBB2C41B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14925"/>
            <a:ext cx="2333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Faster meeting prep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E0CFE7-5395-4B56-AE59-123BA3C3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4830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evidence already compiled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D2A6EA-83D7-416F-8D49-25A09243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911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78F5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8F5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5115C1-30DD-46EA-830D-1E65B34F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14925"/>
            <a:ext cx="2333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More timely conversations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BD7382-6FDC-4705-B529-ECC70BFA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4830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right client, right moment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67FC60-ECE6-49F4-AAC0-D0A84073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911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78F5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8F5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689A1E-DFAA-4BEB-9CDA-65B26762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14925"/>
            <a:ext cx="2333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17201E"/>
                </a:solidFill>
                <a:latin typeface="Georgia"/>
                <a:ea typeface="Georgia"/>
                <a:cs typeface="Georgia"/>
              </a:rPr>
              <a:t>Trust + risk control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A1CB24-F378-402D-96EB-B060B61B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4830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retention, engagement, conduct</a:t>
            </a:r>
          </a:p>
        </p:txBody>
      </p:sp>
      <p:sp>
        <p:nvSpPr>
          <p:cNvPr id="38" name="pilot-measures">
            <a:extLst xmlns:a="http://schemas.openxmlformats.org/drawingml/2006/main">
              <a:ext uri="{FF2B5EF4-FFF2-40B4-BE49-F238E27FC236}">
                <a16:creationId xmlns:a16="http://schemas.microsoft.com/office/drawing/2014/main" id="{2F757C1B-82B5-4812-9309-F0DBA2A5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87DCE2-7311-46A6-A88F-DBE58113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629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5C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5C56"/>
                </a:solidFill>
                <a:latin typeface="Aptos"/>
                <a:ea typeface="Aptos"/>
                <a:cs typeface="Aptos"/>
              </a:rPr>
              <a:t>MEASURE: minutes to brief · evidence coverage · RM override rate · priority conversations completed · suitability exceptions</a:t>
            </a:r>
          </a:p>
        </p:txBody>
      </p:sp>
      <p:sp>
        <p:nvSpPr>
          <p:cNvPr id="40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361FCE0A-9815-4A3B-87BD-111CB8BE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20BEB2-32BB-4E7F-A843-601092D3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76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766F"/>
                </a:solidFill>
                <a:latin typeface="Aptos"/>
                <a:ea typeface="Aptos"/>
                <a:cs typeface="Aptos"/>
              </a:rPr>
              <a:t>Pilot scope and measures are proposals, not achieved adoption or financial results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6CDE9F-5C0E-4563-B6B2-7F304684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34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2D5C56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37318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A190A7D-C233-4964-8483-0EC934C9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essera-tile-1">
            <a:extLst xmlns:a="http://schemas.openxmlformats.org/drawingml/2006/main">
              <a:ext uri="{FF2B5EF4-FFF2-40B4-BE49-F238E27FC236}">
                <a16:creationId xmlns:a16="http://schemas.microsoft.com/office/drawing/2014/main" id="{D9B812F8-DAC1-4399-9ED3-9545A08A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76275" y="457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essera-tile-2">
            <a:extLst xmlns:a="http://schemas.openxmlformats.org/drawingml/2006/main">
              <a:ext uri="{FF2B5EF4-FFF2-40B4-BE49-F238E27FC236}">
                <a16:creationId xmlns:a16="http://schemas.microsoft.com/office/drawing/2014/main" id="{195FF2C2-850B-486B-80D6-9BA2C55C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47725" y="457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ssera-tile-3">
            <a:extLst xmlns:a="http://schemas.openxmlformats.org/drawingml/2006/main">
              <a:ext uri="{FF2B5EF4-FFF2-40B4-BE49-F238E27FC236}">
                <a16:creationId xmlns:a16="http://schemas.microsoft.com/office/drawing/2014/main" id="{64F4F595-6350-449B-8891-CC3C47EF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76275" y="628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ssera-tile-4">
            <a:extLst xmlns:a="http://schemas.openxmlformats.org/drawingml/2006/main">
              <a:ext uri="{FF2B5EF4-FFF2-40B4-BE49-F238E27FC236}">
                <a16:creationId xmlns:a16="http://schemas.microsoft.com/office/drawing/2014/main" id="{36C7577A-6DF1-4C86-8731-E46D5CA8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47725" y="628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B36E7366-5983-4F83-8B99-530F0C80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B10FCB80-469E-435A-AA55-2B5D2082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THE CLOSE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1441B-19FB-4AC7-8408-5AE6DDB2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286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Make the portfolio defensible.</a:t>
            </a:r>
          </a:p>
          <a:p xmlns:a="http://schemas.openxmlformats.org/drawingml/2006/main">
            <a:pPr algn="l">
              <a:defRPr sz="34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Make the future discussable.</a:t>
            </a:r>
          </a:p>
          <a:p xmlns:a="http://schemas.openxmlformats.org/drawingml/2006/main">
            <a:pPr algn="l">
              <a:defRPr sz="34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Make the RM indispensable.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00930-93C6-427B-9ECA-373ABE08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5381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CFC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CFCB"/>
                </a:solidFill>
                <a:latin typeface="Aptos"/>
                <a:ea typeface="Aptos"/>
                <a:cs typeface="Aptos"/>
              </a:rPr>
              <a:t>TESSERA turns portfolio contradictions into evidence-backed, scenario-aware conversations—with the Relationship Manager always in control.</a:t>
            </a:r>
          </a:p>
        </p:txBody>
      </p:sp>
      <p:sp>
        <p:nvSpPr>
          <p:cNvPr id="10" name="handoff-panel">
            <a:extLst xmlns:a="http://schemas.openxmlformats.org/drawingml/2006/main">
              <a:ext uri="{FF2B5EF4-FFF2-40B4-BE49-F238E27FC236}">
                <a16:creationId xmlns:a16="http://schemas.microsoft.com/office/drawing/2014/main" id="{AE9845AA-2B29-453F-BF9E-8FBD589F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391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0"/>
          </a:solidFill>
          <a:ln xmlns:a="http://schemas.openxmlformats.org/drawingml/2006/main" w="9525">
            <a:solidFill>
              <a:srgbClr val="4253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34CC0-CBDC-41FB-9B71-422B1307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4662D-EF81-4B5B-B8C1-53784C37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4381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python app.py  →  localhost:8000</a:t>
            </a:r>
          </a:p>
        </p:txBody>
      </p:sp>
      <p:sp>
        <p:nvSpPr>
          <p:cNvPr id="13" name="handoff-rule">
            <a:extLst xmlns:a="http://schemas.openxmlformats.org/drawingml/2006/main">
              <a:ext uri="{FF2B5EF4-FFF2-40B4-BE49-F238E27FC236}">
                <a16:creationId xmlns:a16="http://schemas.microsoft.com/office/drawing/2014/main" id="{DE5F87DD-F6DD-45EC-81DA-BF57021B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E5020-D8E5-473C-98B2-08861131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CODE REPOSITORY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AD83F-532A-40BB-8411-59F415D7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4762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5CFC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5CFCB"/>
                </a:solidFill>
                <a:latin typeface="Aptos"/>
                <a:ea typeface="Aptos"/>
                <a:cs typeface="Aptos"/>
              </a:rPr>
              <a:t>This submission repository · replace with public review URL if needed</a:t>
            </a:r>
          </a:p>
        </p:txBody>
      </p:sp>
      <p:sp>
        <p:nvSpPr>
          <p:cNvPr id="16" name="team-photo-placeholder">
            <a:extLst xmlns:a="http://schemas.openxmlformats.org/drawingml/2006/main">
              <a:ext uri="{FF2B5EF4-FFF2-40B4-BE49-F238E27FC236}">
                <a16:creationId xmlns:a16="http://schemas.microsoft.com/office/drawing/2014/main" id="{C2479FCF-CBAE-4A58-8B5D-3A40BE0C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66775"/>
            <a:ext cx="48387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28"/>
          </a:solidFill>
          <a:ln xmlns:a="http://schemas.openxmlformats.org/drawingml/2006/main" w="19050">
            <a:solidFill>
              <a:srgbClr val="B78F50"/>
            </a:solidFill>
            <a:prstDash val="solid"/>
          </a:ln>
        </p:spPr>
      </p:sp>
      <p:sp>
        <p:nvSpPr>
          <p:cNvPr id="17" name="photo-top-rule">
            <a:extLst xmlns:a="http://schemas.openxmlformats.org/drawingml/2006/main">
              <a:ext uri="{FF2B5EF4-FFF2-40B4-BE49-F238E27FC236}">
                <a16:creationId xmlns:a16="http://schemas.microsoft.com/office/drawing/2014/main" id="{9D0A6CB3-3D7C-4CA8-9028-CAA1637C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104900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hoto-bottom-rule">
            <a:extLst xmlns:a="http://schemas.openxmlformats.org/drawingml/2006/main">
              <a:ext uri="{FF2B5EF4-FFF2-40B4-BE49-F238E27FC236}">
                <a16:creationId xmlns:a16="http://schemas.microsoft.com/office/drawing/2014/main" id="{B7013B6B-C2C1-4BA2-8D26-C067208C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4D3C8-59D0-489C-ADB5-41523894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001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TEAM PICTURE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1F1CA-9BCE-4E56-9561-CA04F82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84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INSERT REAL</a:t>
            </a:r>
          </a:p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GROUP PHOTO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53164-24A5-414B-9FA3-BDE5E41F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81375"/>
            <a:ext cx="3543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6B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6B2"/>
                </a:solidFill>
                <a:latin typeface="Aptos"/>
                <a:ea typeface="Aptos"/>
                <a:cs typeface="Aptos"/>
              </a:rPr>
              <a:t>No team image was present in the repository.</a:t>
            </a:r>
          </a:p>
          <a:p xmlns:a="http://schemas.openxmlformats.org/drawingml/2006/main">
            <a:pPr algn="ctr">
              <a:defRPr sz="975" b="0">
                <a:solidFill>
                  <a:srgbClr val="AAB6B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6B2"/>
                </a:solidFill>
                <a:latin typeface="Aptos"/>
                <a:ea typeface="Aptos"/>
                <a:cs typeface="Aptos"/>
              </a:rPr>
              <a:t>Replace this editable placeholder before hand-in.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3CC39-E775-41AF-B514-3D92BCC8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385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7D6B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D6B5"/>
                </a:solidFill>
                <a:latin typeface="Aptos"/>
                <a:ea typeface="Aptos"/>
                <a:cs typeface="Aptos"/>
              </a:rPr>
              <a:t>TEAM NAME · MEMBER NAMES</a:t>
            </a:r>
          </a:p>
        </p:txBody>
      </p:sp>
      <p:sp>
        <p:nvSpPr>
          <p:cNvPr id="23" name="final-ask">
            <a:extLst xmlns:a="http://schemas.openxmlformats.org/drawingml/2006/main">
              <a:ext uri="{FF2B5EF4-FFF2-40B4-BE49-F238E27FC236}">
                <a16:creationId xmlns:a16="http://schemas.microsoft.com/office/drawing/2014/main" id="{8409F8D8-21CA-49F0-AF6E-907D3A6D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9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F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A22B9-0192-41A1-B589-12C13428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48350"/>
            <a:ext cx="1047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E"/>
                </a:solidFill>
                <a:latin typeface="Aptos"/>
                <a:ea typeface="Aptos"/>
                <a:cs typeface="Aptos"/>
              </a:rPr>
              <a:t>ASK: PILOT TESSERA IN SHADOW MODE WITH REAL RM DECISIONS, THEN EARN THE RIGHT TO GENERATE.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5A1A09-A0A1-42E1-8E9A-9709065A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EAAA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EAAA6"/>
                </a:solidFill>
                <a:latin typeface="Aptos"/>
                <a:ea typeface="Aptos"/>
                <a:cs typeface="Aptos"/>
              </a:rPr>
              <a:t>Synthetic challenge data · unofficial concept · not investment advice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E1F6DA-98DA-4D00-856C-A4FF517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E7D6B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E7D6B5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45612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2026-09-04T09:59:35.4120000Z</dcterms:created>
  <dcterms:modified xsi:type="dcterms:W3CDTF">2026-09-04T09:59:35.4120000Z</dcterms:modified>
</coreProperties>
</file>