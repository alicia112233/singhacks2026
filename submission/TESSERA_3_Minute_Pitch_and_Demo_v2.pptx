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7e5af432cd4cc5" /><Relationship Type="http://schemas.openxmlformats.org/officeDocument/2006/relationships/extended-properties" Target="/docProps/app.xml" Id="Rd4b9d79f6f474af6" /><Relationship Type="http://schemas.openxmlformats.org/officeDocument/2006/relationships/officeDocument" Target="/ppt/presentation.xml" Id="R8449218f7cb24857" /></Relationships>
</file>

<file path=ppt/presentation.xml><?xml version="1.0" encoding="utf-8"?>
<p:presentation xmlns:p="http://schemas.openxmlformats.org/presentationml/2006/main">
  <p:sldMasterIdLst>
    <p:sldMasterId xmlns:r="http://schemas.openxmlformats.org/officeDocument/2006/relationships" id="2147483648" r:id="Reffd3725c313453e"/>
  </p:sldMasterIdLst>
  <p:notesMasterIdLst>
    <p:notesMasterId xmlns:r="http://schemas.openxmlformats.org/officeDocument/2006/relationships" r:id="Rd3a1299a7e374249"/>
  </p:notesMasterIdLst>
  <p:sldIdLst>
    <p:sldId xmlns:r="http://schemas.openxmlformats.org/officeDocument/2006/relationships" id="256" r:id="R273d56d07fbd4be4"/>
    <p:sldId xmlns:r="http://schemas.openxmlformats.org/officeDocument/2006/relationships" id="257" r:id="Rfaf5cbc660104294"/>
    <p:sldId xmlns:r="http://schemas.openxmlformats.org/officeDocument/2006/relationships" id="258" r:id="R27b9addae0e242f2"/>
    <p:sldId xmlns:r="http://schemas.openxmlformats.org/officeDocument/2006/relationships" id="259" r:id="R060aeceb9b0f49a6"/>
    <p:sldId xmlns:r="http://schemas.openxmlformats.org/officeDocument/2006/relationships" id="260" r:id="Rbda34d82f4364eb3"/>
    <p:sldId xmlns:r="http://schemas.openxmlformats.org/officeDocument/2006/relationships" id="261" r:id="R3389251666554db4"/>
    <p:sldId xmlns:r="http://schemas.openxmlformats.org/officeDocument/2006/relationships" id="262" r:id="R2d509aefe5a84fe7"/>
    <p:sldId xmlns:r="http://schemas.openxmlformats.org/officeDocument/2006/relationships" id="263" r:id="Rcb0bfc6481154909"/>
    <p:sldId xmlns:r="http://schemas.openxmlformats.org/officeDocument/2006/relationships" id="264" r:id="R481740b62e7a45a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0a73c9d3ac04a1f" /><Relationship Type="http://schemas.openxmlformats.org/officeDocument/2006/relationships/slideMaster" Target="/ppt/slideMasters/slideMaster1.xml" Id="Reffd3725c313453e" /><Relationship Type="http://schemas.openxmlformats.org/officeDocument/2006/relationships/notesMaster" Target="/ppt/notesMasters/notesMaster1.xml" Id="Rd3a1299a7e374249" /><Relationship Type="http://schemas.openxmlformats.org/officeDocument/2006/relationships/presProps" Target="/ppt/presProps.xml" Id="Rc2eb6e60ad744de0" /><Relationship Type="http://schemas.openxmlformats.org/officeDocument/2006/relationships/viewProps" Target="/ppt/viewProps.xml" Id="Rb45bfac4906841ff" /><Relationship Type="http://schemas.openxmlformats.org/officeDocument/2006/relationships/tableStyles" Target="/ppt/tableStyles.xml" Id="Re8d6f774195f48d5" /><Relationship Type="http://schemas.openxmlformats.org/officeDocument/2006/relationships/slide" Target="/ppt/slides/slide1.xml" Id="R273d56d07fbd4be4" /><Relationship Type="http://schemas.openxmlformats.org/officeDocument/2006/relationships/slide" Target="/ppt/slides/slide2.xml" Id="Rfaf5cbc660104294" /><Relationship Type="http://schemas.openxmlformats.org/officeDocument/2006/relationships/slide" Target="/ppt/slides/slide3.xml" Id="R27b9addae0e242f2" /><Relationship Type="http://schemas.openxmlformats.org/officeDocument/2006/relationships/slide" Target="/ppt/slides/slide4.xml" Id="R060aeceb9b0f49a6" /><Relationship Type="http://schemas.openxmlformats.org/officeDocument/2006/relationships/slide" Target="/ppt/slides/slide5.xml" Id="Rbda34d82f4364eb3" /><Relationship Type="http://schemas.openxmlformats.org/officeDocument/2006/relationships/slide" Target="/ppt/slides/slide6.xml" Id="R3389251666554db4" /><Relationship Type="http://schemas.openxmlformats.org/officeDocument/2006/relationships/slide" Target="/ppt/slides/slide7.xml" Id="R2d509aefe5a84fe7" /><Relationship Type="http://schemas.openxmlformats.org/officeDocument/2006/relationships/slide" Target="/ppt/slides/slide8.xml" Id="Rcb0bfc6481154909" /><Relationship Type="http://schemas.openxmlformats.org/officeDocument/2006/relationships/slide" Target="/ppt/slides/slide9.xml" Id="R481740b62e7a45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14233dfb0e41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138aeaf96f4388" /><Relationship Type="http://schemas.openxmlformats.org/officeDocument/2006/relationships/notesMaster" Target="/ppt/notesMasters/notesMaster1.xml" Id="R15f8bfb652c54e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a68c03ec9146e8" /><Relationship Type="http://schemas.openxmlformats.org/officeDocument/2006/relationships/notesMaster" Target="/ppt/notesMasters/notesMaster1.xml" Id="R13958164ec0948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590ae9290e4294" /><Relationship Type="http://schemas.openxmlformats.org/officeDocument/2006/relationships/notesMaster" Target="/ppt/notesMasters/notesMaster1.xml" Id="R975ca4baee0546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864722bda84352" /><Relationship Type="http://schemas.openxmlformats.org/officeDocument/2006/relationships/notesMaster" Target="/ppt/notesMasters/notesMaster1.xml" Id="R1bd9b4bd120342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789d047392400c" /><Relationship Type="http://schemas.openxmlformats.org/officeDocument/2006/relationships/notesMaster" Target="/ppt/notesMasters/notesMaster1.xml" Id="Rba6d3372eb5a4c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8780f9c7324be6" /><Relationship Type="http://schemas.openxmlformats.org/officeDocument/2006/relationships/notesMaster" Target="/ppt/notesMasters/notesMaster1.xml" Id="R3f9b64f7115649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ec846cca564e14" /><Relationship Type="http://schemas.openxmlformats.org/officeDocument/2006/relationships/notesMaster" Target="/ppt/notesMasters/notesMaster1.xml" Id="R96ab7b80b25644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e2cc3fa54440f6" /><Relationship Type="http://schemas.openxmlformats.org/officeDocument/2006/relationships/notesMaster" Target="/ppt/notesMasters/notesMaster1.xml" Id="R94620172e6a349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bb4142fcd04e2e" /><Relationship Type="http://schemas.openxmlformats.org/officeDocument/2006/relationships/notesMaster" Target="/ppt/notesMasters/notesMaster1.xml" Id="Raf882d143ba041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Twenty clients, one RM, and far more data than one person can review before markets open. A portfolio report can be accurate and still miss the conversation that matters. TESSERA finds that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 — Our USP is simple: we do not rank yesterday’s volatility; we rank contradictions between what the client wants and what the evidence says. These are three curated decision rooms, not the numerical top three: Lau proves concentration plus collateral risk, Abdullah proves look-through and outside-business correlation, and Cheung proves honest handling of conflicting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0:40–1:00 — TESSERA turns fragmented records into four RM questions: what happened, what could happen, what should we consider, and what will the RM say? Suitability and data controls run before wording, every answer carries its evidence passport, and Priscilla remains responsible for the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1:00–1:25 — Abdullah asked to diversify away from Gulf shipping. Yet 42.1% of his bank-held portfolio is linked to shipping and energy after looking through the FCN—and his operating business depends on the same conditions. He also needs USD 5m for a Singapore family office, versus USD 2.4m in cash. His recent gains make this contradiction harder to see. LIVE DEMO 1:25–2:30: open Abdullah’s decision room; show client says / portfolio does / future demands; toggle Strait reopens and blockade worsens; open the evidence passport; finish on ring-fencing the seed capital. Say explicitly that scenarios are sensitivities, not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2:30–2:45 — This is not a slide mock-up. The prototype joins eleven datasets, ranks the full client book, opens a review room for every client, recalculates scenarios, and logs RM decisions. Eighteen tests pass. In production, the adapters change; the evidence, control, and decision workflow remains.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 — TESSERA makes the portfolio defensible, the future discussable, and the RM indispensable. Our ask is a shadow-mode pilot with real RM decisions: prove decision quality first, then earn the right to generate. Stop here for Q&amp;A; slides A1–A3 are backups only. Before submission, replace the visible team-photo, team-name, and public-repository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Why Lau? Four wrappers create a 49.0% property exposure, HKD 60m is due, and facility LTV sits 0.59 points below the trigger. The real cushion is HKD 0.71m, not the much larger reported headroom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Why Cheung? The planned need and latest RM note conflict. TESSERA does not invent a convenient answer; it lowers confidence and turns verification into the first client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How does this fit a bank? Read-only bank records feed temporal joins and a versioned policy compiler. Any language model is purpose-limited and privately hosted. The RM’s approve, edit, or reject decision remains attached to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d7348715a84c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a8e2ab7e4040e8" /><Relationship Type="http://schemas.openxmlformats.org/officeDocument/2006/relationships/slideLayout" Target="/ppt/slideLayouts/slideLayout1.xml" Id="Rae2355ae25df43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2355ae25df43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24536763bb4f86" /><Relationship Type="http://schemas.openxmlformats.org/officeDocument/2006/relationships/image" Target="/ppt/media/image.png" Id="Rb8bb493c73694593" /><Relationship Type="http://schemas.openxmlformats.org/officeDocument/2006/relationships/notesSlide" Target="/ppt/notesSlides/notesSlide1.xml" Id="R0af36e3ddf3540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5fc47aadc54607" /><Relationship Type="http://schemas.openxmlformats.org/officeDocument/2006/relationships/notesSlide" Target="/ppt/notesSlides/notesSlide2.xml" Id="Rd2084e9eec0244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0207c637b34633" /><Relationship Type="http://schemas.openxmlformats.org/officeDocument/2006/relationships/notesSlide" Target="/ppt/notesSlides/notesSlide3.xml" Id="Rc8baa3781bae45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6f2cccf88247b2" /><Relationship Type="http://schemas.openxmlformats.org/officeDocument/2006/relationships/notesSlide" Target="/ppt/notesSlides/notesSlide4.xml" Id="Re3a6968fcb884d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85cecc3e6f42aa" /><Relationship Type="http://schemas.openxmlformats.org/officeDocument/2006/relationships/notesSlide" Target="/ppt/notesSlides/notesSlide5.xml" Id="R0ce5a952c49a4d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58a4bb2c724db6" /><Relationship Type="http://schemas.openxmlformats.org/officeDocument/2006/relationships/notesSlide" Target="/ppt/notesSlides/notesSlide6.xml" Id="Rfb8bb12ebc914e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2418f394a1423e" /><Relationship Type="http://schemas.openxmlformats.org/officeDocument/2006/relationships/notesSlide" Target="/ppt/notesSlides/notesSlide7.xml" Id="R136d1c88b3c545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404bc24ebf4b9a" /><Relationship Type="http://schemas.openxmlformats.org/officeDocument/2006/relationships/notesSlide" Target="/ppt/notesSlides/notesSlide8.xml" Id="Reaf4b1dabb7241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e87b607e38465c" /><Relationship Type="http://schemas.openxmlformats.org/officeDocument/2006/relationships/notesSlide" Target="/ppt/notesSlides/notesSlide9.xml" Id="Ra64b306333944dd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2AFDDECE-560E-4E7A-A871-B49A537A0E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tessera-tile-1">
            <a:extLst xmlns:a="http://schemas.openxmlformats.org/drawingml/2006/main">
              <a:ext uri="{FF2B5EF4-FFF2-40B4-BE49-F238E27FC236}">
                <a16:creationId xmlns:a16="http://schemas.microsoft.com/office/drawing/2014/main" id="{EE7EB912-E81A-40DD-9FD3-66E1E27EAA7F}"/>
              </a:ext>
            </a:extLst>
          </p:cNvPr>
          <p:cNvSpPr>
            <a:spLocks xmlns:a="http://schemas.openxmlformats.org/drawingml/2006/main" noGrp="1"/>
          </p:cNvSpPr>
          <p:nvPr/>
        </p:nvSpPr>
        <p:spPr>
          <a:xfrm xmlns:a="http://schemas.openxmlformats.org/drawingml/2006/main" rot="2700000">
            <a:off x="704850" y="457200"/>
            <a:ext cx="142875" cy="142875"/>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tessera-tile-2">
            <a:extLst xmlns:a="http://schemas.openxmlformats.org/drawingml/2006/main">
              <a:ext uri="{FF2B5EF4-FFF2-40B4-BE49-F238E27FC236}">
                <a16:creationId xmlns:a16="http://schemas.microsoft.com/office/drawing/2014/main" id="{671B330C-F572-462E-BC61-0B688150063D}"/>
              </a:ext>
            </a:extLst>
          </p:cNvPr>
          <p:cNvSpPr>
            <a:spLocks xmlns:a="http://schemas.openxmlformats.org/drawingml/2006/main" noGrp="1"/>
          </p:cNvSpPr>
          <p:nvPr/>
        </p:nvSpPr>
        <p:spPr>
          <a:xfrm xmlns:a="http://schemas.openxmlformats.org/drawingml/2006/main" rot="2700000">
            <a:off x="885825" y="457200"/>
            <a:ext cx="142875" cy="142875"/>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4" name="tessera-tile-3">
            <a:extLst xmlns:a="http://schemas.openxmlformats.org/drawingml/2006/main">
              <a:ext uri="{FF2B5EF4-FFF2-40B4-BE49-F238E27FC236}">
                <a16:creationId xmlns:a16="http://schemas.microsoft.com/office/drawing/2014/main" id="{6897AF41-15B1-40B6-896B-86AE739A0AB2}"/>
              </a:ext>
            </a:extLst>
          </p:cNvPr>
          <p:cNvSpPr>
            <a:spLocks xmlns:a="http://schemas.openxmlformats.org/drawingml/2006/main" noGrp="1"/>
          </p:cNvSpPr>
          <p:nvPr/>
        </p:nvSpPr>
        <p:spPr>
          <a:xfrm xmlns:a="http://schemas.openxmlformats.org/drawingml/2006/main" rot="2700000">
            <a:off x="704850" y="638175"/>
            <a:ext cx="142875" cy="142875"/>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5" name="tessera-tile-4">
            <a:extLst xmlns:a="http://schemas.openxmlformats.org/drawingml/2006/main">
              <a:ext uri="{FF2B5EF4-FFF2-40B4-BE49-F238E27FC236}">
                <a16:creationId xmlns:a16="http://schemas.microsoft.com/office/drawing/2014/main" id="{9C8A995B-0391-4215-86B7-704FBDB00687}"/>
              </a:ext>
            </a:extLst>
          </p:cNvPr>
          <p:cNvSpPr>
            <a:spLocks xmlns:a="http://schemas.openxmlformats.org/drawingml/2006/main" noGrp="1"/>
          </p:cNvSpPr>
          <p:nvPr/>
        </p:nvSpPr>
        <p:spPr>
          <a:xfrm xmlns:a="http://schemas.openxmlformats.org/drawingml/2006/main" rot="2700000">
            <a:off x="885825" y="638175"/>
            <a:ext cx="142875" cy="142875"/>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5A940C2-3265-4629-B571-306C3166158F}"/>
              </a:ext>
            </a:extLst>
          </p:cNvPr>
          <p:cNvSpPr>
            <a:spLocks xmlns:a="http://schemas.openxmlformats.org/drawingml/2006/main" noGrp="1"/>
          </p:cNvSpPr>
          <p:nvPr/>
        </p:nvSpPr>
        <p:spPr>
          <a:xfrm xmlns:a="http://schemas.openxmlformats.org/drawingml/2006/main">
            <a:off x="1257300" y="42862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FFFFFF"/>
                </a:solidFill>
                <a:latin typeface="Georgia"/>
                <a:ea typeface="Georgia"/>
                <a:cs typeface="Georgia"/>
              </a:defRPr>
            </a:pPr>
            <a:r>
              <a:rPr sz="1650" b="1">
                <a:solidFill>
                  <a:srgbClr val="FFFFFF"/>
                </a:solidFill>
                <a:latin typeface="Georgia"/>
                <a:ea typeface="Georgia"/>
                <a:cs typeface="Georgia"/>
              </a:rPr>
              <a:t>TESSERA</a:t>
            </a:r>
          </a:p>
        </p:txBody>
      </p:sp>
      <p:sp>
        <p:nvSpPr>
          <p:cNvPr id="7" name="">
            <a:extLst xmlns:a="http://schemas.openxmlformats.org/drawingml/2006/main">
              <a:ext uri="{FF2B5EF4-FFF2-40B4-BE49-F238E27FC236}">
                <a16:creationId xmlns:a16="http://schemas.microsoft.com/office/drawing/2014/main" id="{714C127C-5770-462F-9C87-5A41E3870010}"/>
              </a:ext>
            </a:extLst>
          </p:cNvPr>
          <p:cNvSpPr>
            <a:spLocks xmlns:a="http://schemas.openxmlformats.org/drawingml/2006/main" noGrp="1"/>
          </p:cNvSpPr>
          <p:nvPr/>
        </p:nvSpPr>
        <p:spPr>
          <a:xfrm xmlns:a="http://schemas.openxmlformats.org/drawingml/2006/main">
            <a:off x="1266825" y="7810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E7D6B5"/>
                </a:solidFill>
                <a:latin typeface="Aptos"/>
                <a:ea typeface="Aptos"/>
                <a:cs typeface="Aptos"/>
              </a:defRPr>
            </a:pPr>
            <a:r>
              <a:rPr sz="675" b="1">
                <a:solidFill>
                  <a:srgbClr val="E7D6B5"/>
                </a:solidFill>
                <a:latin typeface="Aptos"/>
                <a:ea typeface="Aptos"/>
                <a:cs typeface="Aptos"/>
              </a:rPr>
              <a:t>WEALTH DECISION INTELLIGENCE</a:t>
            </a:r>
          </a:p>
        </p:txBody>
      </p:sp>
      <p:sp>
        <p:nvSpPr>
          <p:cNvPr id="8" name="kicker-01-marker">
            <a:extLst xmlns:a="http://schemas.openxmlformats.org/drawingml/2006/main">
              <a:ext uri="{FF2B5EF4-FFF2-40B4-BE49-F238E27FC236}">
                <a16:creationId xmlns:a16="http://schemas.microsoft.com/office/drawing/2014/main" id="{08418860-F83B-4553-8943-E83AB343CDC6}"/>
              </a:ext>
            </a:extLst>
          </p:cNvPr>
          <p:cNvSpPr>
            <a:spLocks xmlns:a="http://schemas.openxmlformats.org/drawingml/2006/main" noGrp="1"/>
          </p:cNvSpPr>
          <p:nvPr/>
        </p:nvSpPr>
        <p:spPr>
          <a:xfrm xmlns:a="http://schemas.openxmlformats.org/drawingml/2006/main">
            <a:off x="685800" y="1419225"/>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9" name="kicker-01-label">
            <a:extLst xmlns:a="http://schemas.openxmlformats.org/drawingml/2006/main">
              <a:ext uri="{FF2B5EF4-FFF2-40B4-BE49-F238E27FC236}">
                <a16:creationId xmlns:a16="http://schemas.microsoft.com/office/drawing/2014/main" id="{956F5024-8E08-4678-87C2-10CEE82DA397}"/>
              </a:ext>
            </a:extLst>
          </p:cNvPr>
          <p:cNvSpPr>
            <a:spLocks xmlns:a="http://schemas.openxmlformats.org/drawingml/2006/main" noGrp="1"/>
          </p:cNvSpPr>
          <p:nvPr/>
        </p:nvSpPr>
        <p:spPr>
          <a:xfrm xmlns:a="http://schemas.openxmlformats.org/drawingml/2006/main">
            <a:off x="857250" y="13525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SINGHACKS 2026 · LIVE PRODUCT</a:t>
            </a:r>
          </a:p>
        </p:txBody>
      </p:sp>
      <p:sp>
        <p:nvSpPr>
          <p:cNvPr id="10" name="">
            <a:extLst xmlns:a="http://schemas.openxmlformats.org/drawingml/2006/main">
              <a:ext uri="{FF2B5EF4-FFF2-40B4-BE49-F238E27FC236}">
                <a16:creationId xmlns:a16="http://schemas.microsoft.com/office/drawing/2014/main" id="{0C51D272-6E98-4FA7-93F2-69390ADA7DB8}"/>
              </a:ext>
            </a:extLst>
          </p:cNvPr>
          <p:cNvSpPr>
            <a:spLocks xmlns:a="http://schemas.openxmlformats.org/drawingml/2006/main" noGrp="1"/>
          </p:cNvSpPr>
          <p:nvPr/>
        </p:nvSpPr>
        <p:spPr>
          <a:xfrm xmlns:a="http://schemas.openxmlformats.org/drawingml/2006/main">
            <a:off x="685800" y="1714500"/>
            <a:ext cx="60960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4500" b="0">
                <a:solidFill>
                  <a:srgbClr val="FFFFFF"/>
                </a:solidFill>
                <a:latin typeface="Georgia"/>
                <a:ea typeface="Georgia"/>
                <a:cs typeface="Georgia"/>
              </a:defRPr>
            </a:pPr>
            <a:r>
              <a:rPr sz="4500" b="0">
                <a:solidFill>
                  <a:srgbClr val="FFFFFF"/>
                </a:solidFill>
                <a:latin typeface="Georgia"/>
                <a:ea typeface="Georgia"/>
                <a:cs typeface="Georgia"/>
              </a:rPr>
              <a:t>The portfolio report</a:t>
            </a:r>
          </a:p>
          <a:p xmlns:a="http://schemas.openxmlformats.org/drawingml/2006/main">
            <a:pPr algn="l">
              <a:buNone/>
              <a:defRPr sz="4500" b="0">
                <a:solidFill>
                  <a:srgbClr val="FFFFFF"/>
                </a:solidFill>
                <a:latin typeface="Georgia"/>
                <a:ea typeface="Georgia"/>
                <a:cs typeface="Georgia"/>
              </a:defRPr>
            </a:pPr>
            <a:r>
              <a:rPr sz="4500" b="0">
                <a:solidFill>
                  <a:srgbClr val="FFFFFF"/>
                </a:solidFill>
                <a:latin typeface="Georgia"/>
                <a:ea typeface="Georgia"/>
                <a:cs typeface="Georgia"/>
              </a:rPr>
              <a:t>is not the story.</a:t>
            </a:r>
          </a:p>
        </p:txBody>
      </p:sp>
      <p:sp>
        <p:nvSpPr>
          <p:cNvPr id="11" name="">
            <a:extLst xmlns:a="http://schemas.openxmlformats.org/drawingml/2006/main">
              <a:ext uri="{FF2B5EF4-FFF2-40B4-BE49-F238E27FC236}">
                <a16:creationId xmlns:a16="http://schemas.microsoft.com/office/drawing/2014/main" id="{1F60562A-1DEB-4B9A-8490-D75BA0002D33}"/>
              </a:ext>
            </a:extLst>
          </p:cNvPr>
          <p:cNvSpPr>
            <a:spLocks xmlns:a="http://schemas.openxmlformats.org/drawingml/2006/main" noGrp="1"/>
          </p:cNvSpPr>
          <p:nvPr/>
        </p:nvSpPr>
        <p:spPr>
          <a:xfrm xmlns:a="http://schemas.openxmlformats.org/drawingml/2006/main">
            <a:off x="714375" y="3305175"/>
            <a:ext cx="5429250" cy="695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C5CFCB"/>
                </a:solidFill>
                <a:latin typeface="Aptos"/>
                <a:ea typeface="Aptos"/>
                <a:cs typeface="Aptos"/>
              </a:defRPr>
            </a:pPr>
            <a:r>
              <a:rPr sz="1425" b="0">
                <a:solidFill>
                  <a:srgbClr val="C5CFCB"/>
                </a:solidFill>
                <a:latin typeface="Aptos"/>
                <a:ea typeface="Aptos"/>
                <a:cs typeface="Aptos"/>
              </a:rPr>
              <a:t>TESSERA finds the contradiction worth an RM's attention—then grounds the conversation in current evidence, transparent scenarios and policy.</a:t>
            </a:r>
          </a:p>
        </p:txBody>
      </p:sp>
      <p:sp>
        <p:nvSpPr>
          <p:cNvPr id="12" name="cover-screenshot-frame">
            <a:extLst xmlns:a="http://schemas.openxmlformats.org/drawingml/2006/main">
              <a:ext uri="{FF2B5EF4-FFF2-40B4-BE49-F238E27FC236}">
                <a16:creationId xmlns:a16="http://schemas.microsoft.com/office/drawing/2014/main" id="{8C4200B0-8790-458F-8A9E-6500D579EB77}"/>
              </a:ext>
            </a:extLst>
          </p:cNvPr>
          <p:cNvSpPr>
            <a:spLocks xmlns:a="http://schemas.openxmlformats.org/drawingml/2006/main" noGrp="1"/>
          </p:cNvSpPr>
          <p:nvPr/>
        </p:nvSpPr>
        <p:spPr>
          <a:xfrm xmlns:a="http://schemas.openxmlformats.org/drawingml/2006/main">
            <a:off x="6724650" y="1381125"/>
            <a:ext cx="4857750" cy="2733675"/>
          </a:xfrm>
          <a:prstGeom xmlns:a="http://schemas.openxmlformats.org/drawingml/2006/main" prst="rect">
            <a:avLst/>
          </a:prstGeom>
          <a:solidFill xmlns:a="http://schemas.openxmlformats.org/drawingml/2006/main">
            <a:srgbClr val="FBF9F4"/>
          </a:solidFill>
          <a:ln xmlns:a="http://schemas.openxmlformats.org/drawingml/2006/main" w="19050">
            <a:solidFill>
              <a:srgbClr val="B78F50"/>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8bb493c73694593"/>
          <a:srcRect xmlns:a="http://schemas.openxmlformats.org/drawingml/2006/main" l="22" t="0" r="22" b="0"/>
          <a:stretch xmlns:a="http://schemas.openxmlformats.org/drawingml/2006/main">
            <a:fillRect l="0" t="0" r="0" b="0"/>
          </a:stretch>
        </p:blipFill>
        <p:spPr>
          <a:xfrm xmlns:a="http://schemas.openxmlformats.org/drawingml/2006/main">
            <a:off x="6800850" y="1457325"/>
            <a:ext cx="4705350" cy="2647950"/>
          </a:xfrm>
          <a:prstGeom xmlns:a="http://schemas.openxmlformats.org/drawingml/2006/main" prst="rect">
            <a:avLst/>
          </a:prstGeom>
        </p:spPr>
      </p:pic>
      <p:sp>
        <p:nvSpPr>
          <p:cNvPr id="14" name="screenshot-caption">
            <a:extLst xmlns:a="http://schemas.openxmlformats.org/drawingml/2006/main">
              <a:ext uri="{FF2B5EF4-FFF2-40B4-BE49-F238E27FC236}">
                <a16:creationId xmlns:a16="http://schemas.microsoft.com/office/drawing/2014/main" id="{6AA42C32-1CEE-469B-8EF9-7C81B4CFFFDB}"/>
              </a:ext>
            </a:extLst>
          </p:cNvPr>
          <p:cNvSpPr>
            <a:spLocks xmlns:a="http://schemas.openxmlformats.org/drawingml/2006/main" noGrp="1"/>
          </p:cNvSpPr>
          <p:nvPr/>
        </p:nvSpPr>
        <p:spPr>
          <a:xfrm xmlns:a="http://schemas.openxmlformats.org/drawingml/2006/main">
            <a:off x="6724650" y="4114800"/>
            <a:ext cx="4857750" cy="400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FD2AA66-C8AF-4B01-AD23-F2D2E5F92ADE}"/>
              </a:ext>
            </a:extLst>
          </p:cNvPr>
          <p:cNvSpPr>
            <a:spLocks xmlns:a="http://schemas.openxmlformats.org/drawingml/2006/main" noGrp="1"/>
          </p:cNvSpPr>
          <p:nvPr/>
        </p:nvSpPr>
        <p:spPr>
          <a:xfrm xmlns:a="http://schemas.openxmlformats.org/drawingml/2006/main">
            <a:off x="6896100" y="4124325"/>
            <a:ext cx="4476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17201E"/>
                </a:solidFill>
                <a:latin typeface="Aptos"/>
                <a:ea typeface="Aptos"/>
                <a:cs typeface="Aptos"/>
              </a:defRPr>
            </a:pPr>
            <a:r>
              <a:rPr sz="825" b="1">
                <a:solidFill>
                  <a:srgbClr val="17201E"/>
                </a:solidFill>
                <a:latin typeface="Aptos"/>
                <a:ea typeface="Aptos"/>
                <a:cs typeface="Aptos"/>
              </a:rPr>
              <a:t>LIVE ON VERCEL · 05 SEP 2026</a:t>
            </a:r>
          </a:p>
        </p:txBody>
      </p:sp>
      <p:sp>
        <p:nvSpPr>
          <p:cNvPr id="16" name="cover-metric-rule">
            <a:extLst xmlns:a="http://schemas.openxmlformats.org/drawingml/2006/main">
              <a:ext uri="{FF2B5EF4-FFF2-40B4-BE49-F238E27FC236}">
                <a16:creationId xmlns:a16="http://schemas.microsoft.com/office/drawing/2014/main" id="{243A2DC0-2937-4A13-95C2-FE3E18D7C931}"/>
              </a:ext>
            </a:extLst>
          </p:cNvPr>
          <p:cNvSpPr>
            <a:spLocks xmlns:a="http://schemas.openxmlformats.org/drawingml/2006/main" noGrp="1"/>
          </p:cNvSpPr>
          <p:nvPr/>
        </p:nvSpPr>
        <p:spPr>
          <a:xfrm xmlns:a="http://schemas.openxmlformats.org/drawingml/2006/main">
            <a:off x="685800" y="4724400"/>
            <a:ext cx="5467350" cy="9525"/>
          </a:xfrm>
          <a:prstGeom xmlns:a="http://schemas.openxmlformats.org/drawingml/2006/main" prst="rect">
            <a:avLst/>
          </a:prstGeom>
          <a:solidFill xmlns:a="http://schemas.openxmlformats.org/drawingml/2006/main">
            <a:srgbClr val="43534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95D46CE-AE90-4EF4-9F28-A494F385822E}"/>
              </a:ext>
            </a:extLst>
          </p:cNvPr>
          <p:cNvSpPr>
            <a:spLocks xmlns:a="http://schemas.openxmlformats.org/drawingml/2006/main" noGrp="1"/>
          </p:cNvSpPr>
          <p:nvPr/>
        </p:nvSpPr>
        <p:spPr>
          <a:xfrm xmlns:a="http://schemas.openxmlformats.org/drawingml/2006/main">
            <a:off x="685800" y="4953000"/>
            <a:ext cx="109537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20</a:t>
            </a:r>
          </a:p>
        </p:txBody>
      </p:sp>
      <p:sp>
        <p:nvSpPr>
          <p:cNvPr id="18" name="">
            <a:extLst xmlns:a="http://schemas.openxmlformats.org/drawingml/2006/main">
              <a:ext uri="{FF2B5EF4-FFF2-40B4-BE49-F238E27FC236}">
                <a16:creationId xmlns:a16="http://schemas.microsoft.com/office/drawing/2014/main" id="{114883C6-F789-456C-B2F0-FB8126FAD69E}"/>
              </a:ext>
            </a:extLst>
          </p:cNvPr>
          <p:cNvSpPr>
            <a:spLocks xmlns:a="http://schemas.openxmlformats.org/drawingml/2006/main" noGrp="1"/>
          </p:cNvSpPr>
          <p:nvPr/>
        </p:nvSpPr>
        <p:spPr>
          <a:xfrm xmlns:a="http://schemas.openxmlformats.org/drawingml/2006/main">
            <a:off x="685800" y="5410200"/>
            <a:ext cx="10953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CLIENTS</a:t>
            </a:r>
          </a:p>
        </p:txBody>
      </p:sp>
      <p:sp>
        <p:nvSpPr>
          <p:cNvPr id="19" name="">
            <a:extLst xmlns:a="http://schemas.openxmlformats.org/drawingml/2006/main">
              <a:ext uri="{FF2B5EF4-FFF2-40B4-BE49-F238E27FC236}">
                <a16:creationId xmlns:a16="http://schemas.microsoft.com/office/drawing/2014/main" id="{499A08DD-D2F7-4DAF-9B60-13D99A22330A}"/>
              </a:ext>
            </a:extLst>
          </p:cNvPr>
          <p:cNvSpPr>
            <a:spLocks xmlns:a="http://schemas.openxmlformats.org/drawingml/2006/main" noGrp="1"/>
          </p:cNvSpPr>
          <p:nvPr/>
        </p:nvSpPr>
        <p:spPr>
          <a:xfrm xmlns:a="http://schemas.openxmlformats.org/drawingml/2006/main">
            <a:off x="1924050" y="4953000"/>
            <a:ext cx="1143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24</a:t>
            </a:r>
          </a:p>
        </p:txBody>
      </p:sp>
      <p:sp>
        <p:nvSpPr>
          <p:cNvPr id="20" name="">
            <a:extLst xmlns:a="http://schemas.openxmlformats.org/drawingml/2006/main">
              <a:ext uri="{FF2B5EF4-FFF2-40B4-BE49-F238E27FC236}">
                <a16:creationId xmlns:a16="http://schemas.microsoft.com/office/drawing/2014/main" id="{40BD61FC-AB44-4B56-A7A9-7D784DBDB46F}"/>
              </a:ext>
            </a:extLst>
          </p:cNvPr>
          <p:cNvSpPr>
            <a:spLocks xmlns:a="http://schemas.openxmlformats.org/drawingml/2006/main" noGrp="1"/>
          </p:cNvSpPr>
          <p:nvPr/>
        </p:nvSpPr>
        <p:spPr>
          <a:xfrm xmlns:a="http://schemas.openxmlformats.org/drawingml/2006/main">
            <a:off x="1924050" y="5410200"/>
            <a:ext cx="114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PORTFOLIOS</a:t>
            </a:r>
          </a:p>
        </p:txBody>
      </p:sp>
      <p:sp>
        <p:nvSpPr>
          <p:cNvPr id="21" name="">
            <a:extLst xmlns:a="http://schemas.openxmlformats.org/drawingml/2006/main">
              <a:ext uri="{FF2B5EF4-FFF2-40B4-BE49-F238E27FC236}">
                <a16:creationId xmlns:a16="http://schemas.microsoft.com/office/drawing/2014/main" id="{C91105B0-3DE8-4ABB-9571-BB55CE499C77}"/>
              </a:ext>
            </a:extLst>
          </p:cNvPr>
          <p:cNvSpPr>
            <a:spLocks xmlns:a="http://schemas.openxmlformats.org/drawingml/2006/main" noGrp="1"/>
          </p:cNvSpPr>
          <p:nvPr/>
        </p:nvSpPr>
        <p:spPr>
          <a:xfrm xmlns:a="http://schemas.openxmlformats.org/drawingml/2006/main">
            <a:off x="3257550" y="4953000"/>
            <a:ext cx="109537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5</a:t>
            </a:r>
          </a:p>
        </p:txBody>
      </p:sp>
      <p:sp>
        <p:nvSpPr>
          <p:cNvPr id="22" name="">
            <a:extLst xmlns:a="http://schemas.openxmlformats.org/drawingml/2006/main">
              <a:ext uri="{FF2B5EF4-FFF2-40B4-BE49-F238E27FC236}">
                <a16:creationId xmlns:a16="http://schemas.microsoft.com/office/drawing/2014/main" id="{7DAF6D43-8E96-440E-8C78-716110FB8C58}"/>
              </a:ext>
            </a:extLst>
          </p:cNvPr>
          <p:cNvSpPr>
            <a:spLocks xmlns:a="http://schemas.openxmlformats.org/drawingml/2006/main" noGrp="1"/>
          </p:cNvSpPr>
          <p:nvPr/>
        </p:nvSpPr>
        <p:spPr>
          <a:xfrm xmlns:a="http://schemas.openxmlformats.org/drawingml/2006/main">
            <a:off x="3257550" y="5410200"/>
            <a:ext cx="10953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SNAPSHOTS</a:t>
            </a:r>
          </a:p>
        </p:txBody>
      </p:sp>
      <p:sp>
        <p:nvSpPr>
          <p:cNvPr id="23" name="">
            <a:extLst xmlns:a="http://schemas.openxmlformats.org/drawingml/2006/main">
              <a:ext uri="{FF2B5EF4-FFF2-40B4-BE49-F238E27FC236}">
                <a16:creationId xmlns:a16="http://schemas.microsoft.com/office/drawing/2014/main" id="{3BBA5856-B9E6-49F5-971B-9D9E3ECEEF3A}"/>
              </a:ext>
            </a:extLst>
          </p:cNvPr>
          <p:cNvSpPr>
            <a:spLocks xmlns:a="http://schemas.openxmlformats.org/drawingml/2006/main" noGrp="1"/>
          </p:cNvSpPr>
          <p:nvPr/>
        </p:nvSpPr>
        <p:spPr>
          <a:xfrm xmlns:a="http://schemas.openxmlformats.org/drawingml/2006/main">
            <a:off x="4524375" y="495300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0">
                <a:solidFill>
                  <a:srgbClr val="E7D6B5"/>
                </a:solidFill>
                <a:latin typeface="Georgia"/>
                <a:ea typeface="Georgia"/>
                <a:cs typeface="Georgia"/>
              </a:defRPr>
            </a:pPr>
            <a:r>
              <a:rPr sz="2250" b="0">
                <a:solidFill>
                  <a:srgbClr val="E7D6B5"/>
                </a:solidFill>
                <a:latin typeface="Georgia"/>
                <a:ea typeface="Georgia"/>
                <a:cs typeface="Georgia"/>
              </a:rPr>
              <a:t>1</a:t>
            </a:r>
          </a:p>
        </p:txBody>
      </p:sp>
      <p:sp>
        <p:nvSpPr>
          <p:cNvPr id="24" name="">
            <a:extLst xmlns:a="http://schemas.openxmlformats.org/drawingml/2006/main">
              <a:ext uri="{FF2B5EF4-FFF2-40B4-BE49-F238E27FC236}">
                <a16:creationId xmlns:a16="http://schemas.microsoft.com/office/drawing/2014/main" id="{7B46AB7F-0605-4F42-A3BB-9A7FBD18F243}"/>
              </a:ext>
            </a:extLst>
          </p:cNvPr>
          <p:cNvSpPr>
            <a:spLocks xmlns:a="http://schemas.openxmlformats.org/drawingml/2006/main" noGrp="1"/>
          </p:cNvSpPr>
          <p:nvPr/>
        </p:nvSpPr>
        <p:spPr>
          <a:xfrm xmlns:a="http://schemas.openxmlformats.org/drawingml/2006/main">
            <a:off x="4524375" y="541020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RELATIONSHIP MANAGER</a:t>
            </a:r>
          </a:p>
        </p:txBody>
      </p:sp>
      <p:sp>
        <p:nvSpPr>
          <p:cNvPr id="25" name="">
            <a:extLst xmlns:a="http://schemas.openxmlformats.org/drawingml/2006/main">
              <a:ext uri="{FF2B5EF4-FFF2-40B4-BE49-F238E27FC236}">
                <a16:creationId xmlns:a16="http://schemas.microsoft.com/office/drawing/2014/main" id="{703B4379-7E27-4D07-B1A7-9649F1C169D8}"/>
              </a:ext>
            </a:extLst>
          </p:cNvPr>
          <p:cNvSpPr>
            <a:spLocks xmlns:a="http://schemas.openxmlformats.org/drawingml/2006/main" noGrp="1"/>
          </p:cNvSpPr>
          <p:nvPr/>
        </p:nvSpPr>
        <p:spPr>
          <a:xfrm xmlns:a="http://schemas.openxmlformats.org/drawingml/2006/main">
            <a:off x="685800" y="632460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9EAAA6"/>
                </a:solidFill>
                <a:latin typeface="Aptos"/>
                <a:ea typeface="Aptos"/>
                <a:cs typeface="Aptos"/>
              </a:defRPr>
            </a:pPr>
            <a:r>
              <a:rPr sz="750" b="0">
                <a:solidFill>
                  <a:srgbClr val="9EAAA6"/>
                </a:solidFill>
                <a:latin typeface="Aptos"/>
                <a:ea typeface="Aptos"/>
                <a:cs typeface="Aptos"/>
              </a:rPr>
              <a:t>Synthetic challenge data · Scenarios are illustrative, not forecasts · RM approval required</a:t>
            </a:r>
          </a:p>
        </p:txBody>
      </p:sp>
      <p:sp>
        <p:nvSpPr>
          <p:cNvPr id="26" name="">
            <a:extLst xmlns:a="http://schemas.openxmlformats.org/drawingml/2006/main">
              <a:ext uri="{FF2B5EF4-FFF2-40B4-BE49-F238E27FC236}">
                <a16:creationId xmlns:a16="http://schemas.microsoft.com/office/drawing/2014/main" id="{FE056EFC-DBB0-4505-BBC1-B3615F1A124D}"/>
              </a:ext>
            </a:extLst>
          </p:cNvPr>
          <p:cNvSpPr>
            <a:spLocks xmlns:a="http://schemas.openxmlformats.org/drawingml/2006/main" noGrp="1"/>
          </p:cNvSpPr>
          <p:nvPr/>
        </p:nvSpPr>
        <p:spPr>
          <a:xfrm xmlns:a="http://schemas.openxmlformats.org/drawingml/2006/main">
            <a:off x="10953750" y="6305550"/>
            <a:ext cx="61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825" b="1">
                <a:solidFill>
                  <a:srgbClr val="E7D6B5"/>
                </a:solidFill>
                <a:latin typeface="Aptos Mono"/>
                <a:ea typeface="Aptos Mono"/>
                <a:cs typeface="Aptos Mono"/>
              </a:defRPr>
            </a:pPr>
            <a:r>
              <a:rPr sz="825" b="1">
                <a:solidFill>
                  <a:srgbClr val="E7D6B5"/>
                </a:solidFill>
                <a:latin typeface="Aptos Mono"/>
                <a:ea typeface="Aptos Mono"/>
                <a:cs typeface="Aptos Mono"/>
              </a:rPr>
              <a:t>01</a:t>
            </a:r>
          </a:p>
        </p:txBody>
      </p:sp>
    </p:spTree>
    <p:extLst>
      <p:ext uri="{BB962C8B-B14F-4D97-AF65-F5344CB8AC3E}">
        <p14:creationId xmlns:p14="http://schemas.microsoft.com/office/powerpoint/2010/main" val="4246780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000DACB1-0793-4967-9ECA-3DB755D9F9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3-marker">
            <a:extLst xmlns:a="http://schemas.openxmlformats.org/drawingml/2006/main">
              <a:ext uri="{FF2B5EF4-FFF2-40B4-BE49-F238E27FC236}">
                <a16:creationId xmlns:a16="http://schemas.microsoft.com/office/drawing/2014/main" id="{8D09AD6D-2A82-4EE4-B706-CB0AD608D310}"/>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3-label">
            <a:extLst xmlns:a="http://schemas.openxmlformats.org/drawingml/2006/main">
              <a:ext uri="{FF2B5EF4-FFF2-40B4-BE49-F238E27FC236}">
                <a16:creationId xmlns:a16="http://schemas.microsoft.com/office/drawing/2014/main" id="{2141CD43-9BD5-41E1-B599-4D53C0756B10}"/>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OUR USP</a:t>
            </a:r>
          </a:p>
        </p:txBody>
      </p:sp>
      <p:sp>
        <p:nvSpPr>
          <p:cNvPr id="4" name="">
            <a:extLst xmlns:a="http://schemas.openxmlformats.org/drawingml/2006/main">
              <a:ext uri="{FF2B5EF4-FFF2-40B4-BE49-F238E27FC236}">
                <a16:creationId xmlns:a16="http://schemas.microsoft.com/office/drawing/2014/main" id="{47DFDF7E-DD22-4002-90C8-D81EE3D5A200}"/>
              </a:ext>
            </a:extLst>
          </p:cNvPr>
          <p:cNvSpPr>
            <a:spLocks xmlns:a="http://schemas.openxmlformats.org/drawingml/2006/main" noGrp="1"/>
          </p:cNvSpPr>
          <p:nvPr/>
        </p:nvSpPr>
        <p:spPr>
          <a:xfrm xmlns:a="http://schemas.openxmlformats.org/drawingml/2006/main">
            <a:off x="609600" y="685800"/>
            <a:ext cx="9906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0">
                <a:solidFill>
                  <a:srgbClr val="17201E"/>
                </a:solidFill>
                <a:latin typeface="Georgia"/>
                <a:ea typeface="Georgia"/>
                <a:cs typeface="Georgia"/>
              </a:defRPr>
            </a:pPr>
            <a:r>
              <a:rPr sz="3000" b="0">
                <a:solidFill>
                  <a:srgbClr val="17201E"/>
                </a:solidFill>
                <a:latin typeface="Georgia"/>
                <a:ea typeface="Georgia"/>
                <a:cs typeface="Georgia"/>
              </a:rPr>
              <a:t>We rank client contradictions—not market noise.</a:t>
            </a:r>
          </a:p>
        </p:txBody>
      </p:sp>
      <p:sp>
        <p:nvSpPr>
          <p:cNvPr id="5" name="">
            <a:extLst xmlns:a="http://schemas.openxmlformats.org/drawingml/2006/main">
              <a:ext uri="{FF2B5EF4-FFF2-40B4-BE49-F238E27FC236}">
                <a16:creationId xmlns:a16="http://schemas.microsoft.com/office/drawing/2014/main" id="{B80CA053-5FFC-4262-977D-4A9C753AC688}"/>
              </a:ext>
            </a:extLst>
          </p:cNvPr>
          <p:cNvSpPr>
            <a:spLocks xmlns:a="http://schemas.openxmlformats.org/drawingml/2006/main" noGrp="1"/>
          </p:cNvSpPr>
          <p:nvPr/>
        </p:nvSpPr>
        <p:spPr>
          <a:xfrm xmlns:a="http://schemas.openxmlformats.org/drawingml/2006/main">
            <a:off x="609600" y="1381125"/>
            <a:ext cx="9525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6F766F"/>
                </a:solidFill>
                <a:latin typeface="Aptos"/>
                <a:ea typeface="Aptos"/>
                <a:cs typeface="Aptos"/>
              </a:defRPr>
            </a:pPr>
            <a:r>
              <a:rPr sz="1275" b="0">
                <a:solidFill>
                  <a:srgbClr val="6F766F"/>
                </a:solidFill>
                <a:latin typeface="Aptos"/>
                <a:ea typeface="Aptos"/>
                <a:cs typeface="Aptos"/>
              </a:rPr>
              <a:t>Unlike a generic copilot, TESSERA calculates first, retrieves controlled context and leaves the decision with the RM.</a:t>
            </a:r>
          </a:p>
        </p:txBody>
      </p:sp>
      <p:sp>
        <p:nvSpPr>
          <p:cNvPr id="6" name="insight-row-1">
            <a:extLst xmlns:a="http://schemas.openxmlformats.org/drawingml/2006/main">
              <a:ext uri="{FF2B5EF4-FFF2-40B4-BE49-F238E27FC236}">
                <a16:creationId xmlns:a16="http://schemas.microsoft.com/office/drawing/2014/main" id="{7CF2A09C-A736-4428-8115-AAF9218B189B}"/>
              </a:ext>
            </a:extLst>
          </p:cNvPr>
          <p:cNvSpPr>
            <a:spLocks xmlns:a="http://schemas.openxmlformats.org/drawingml/2006/main" noGrp="1"/>
          </p:cNvSpPr>
          <p:nvPr/>
        </p:nvSpPr>
        <p:spPr>
          <a:xfrm xmlns:a="http://schemas.openxmlformats.org/drawingml/2006/main">
            <a:off x="609600" y="2171700"/>
            <a:ext cx="10972800" cy="1905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4EBECC7-213B-4EAD-9D91-B152035315A7}"/>
              </a:ext>
            </a:extLst>
          </p:cNvPr>
          <p:cNvSpPr>
            <a:spLocks xmlns:a="http://schemas.openxmlformats.org/drawingml/2006/main" noGrp="1"/>
          </p:cNvSpPr>
          <p:nvPr/>
        </p:nvSpPr>
        <p:spPr>
          <a:xfrm xmlns:a="http://schemas.openxmlformats.org/drawingml/2006/main">
            <a:off x="609600" y="24193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B78F50"/>
                </a:solidFill>
                <a:latin typeface="Aptos Mono"/>
                <a:ea typeface="Aptos Mono"/>
                <a:cs typeface="Aptos Mono"/>
              </a:defRPr>
            </a:pPr>
            <a:r>
              <a:rPr sz="825" b="1">
                <a:solidFill>
                  <a:srgbClr val="B78F50"/>
                </a:solidFill>
                <a:latin typeface="Aptos Mono"/>
                <a:ea typeface="Aptos Mono"/>
                <a:cs typeface="Aptos Mono"/>
              </a:rPr>
              <a:t>01</a:t>
            </a:r>
          </a:p>
        </p:txBody>
      </p:sp>
      <p:sp>
        <p:nvSpPr>
          <p:cNvPr id="8" name="">
            <a:extLst xmlns:a="http://schemas.openxmlformats.org/drawingml/2006/main">
              <a:ext uri="{FF2B5EF4-FFF2-40B4-BE49-F238E27FC236}">
                <a16:creationId xmlns:a16="http://schemas.microsoft.com/office/drawing/2014/main" id="{B7AED4CE-7786-4E58-9B55-842F6D4A0E2E}"/>
              </a:ext>
            </a:extLst>
          </p:cNvPr>
          <p:cNvSpPr>
            <a:spLocks xmlns:a="http://schemas.openxmlformats.org/drawingml/2006/main" noGrp="1"/>
          </p:cNvSpPr>
          <p:nvPr/>
        </p:nvSpPr>
        <p:spPr>
          <a:xfrm xmlns:a="http://schemas.openxmlformats.org/drawingml/2006/main">
            <a:off x="1200150" y="24193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2D5C56"/>
                </a:solidFill>
                <a:latin typeface="Aptos"/>
                <a:ea typeface="Aptos"/>
                <a:cs typeface="Aptos"/>
              </a:defRPr>
            </a:pPr>
            <a:r>
              <a:rPr sz="900" b="1">
                <a:solidFill>
                  <a:srgbClr val="2D5C56"/>
                </a:solidFill>
                <a:latin typeface="Aptos"/>
                <a:ea typeface="Aptos"/>
                <a:cs typeface="Aptos"/>
              </a:rPr>
              <a:t>CONTRADICTION-FIRST</a:t>
            </a:r>
          </a:p>
        </p:txBody>
      </p:sp>
      <p:sp>
        <p:nvSpPr>
          <p:cNvPr id="9" name="">
            <a:extLst xmlns:a="http://schemas.openxmlformats.org/drawingml/2006/main">
              <a:ext uri="{FF2B5EF4-FFF2-40B4-BE49-F238E27FC236}">
                <a16:creationId xmlns:a16="http://schemas.microsoft.com/office/drawing/2014/main" id="{5B859ED0-D43B-4381-A717-66A6A4E4C876}"/>
              </a:ext>
            </a:extLst>
          </p:cNvPr>
          <p:cNvSpPr>
            <a:spLocks xmlns:a="http://schemas.openxmlformats.org/drawingml/2006/main" noGrp="1"/>
          </p:cNvSpPr>
          <p:nvPr/>
        </p:nvSpPr>
        <p:spPr>
          <a:xfrm xmlns:a="http://schemas.openxmlformats.org/drawingml/2006/main">
            <a:off x="3771900" y="2324100"/>
            <a:ext cx="15716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0">
                <a:solidFill>
                  <a:srgbClr val="B85D43"/>
                </a:solidFill>
                <a:latin typeface="Georgia"/>
                <a:ea typeface="Georgia"/>
                <a:cs typeface="Georgia"/>
              </a:defRPr>
            </a:pPr>
            <a:r>
              <a:rPr sz="2625" b="0">
                <a:solidFill>
                  <a:srgbClr val="B85D43"/>
                </a:solidFill>
                <a:latin typeface="Georgia"/>
                <a:ea typeface="Georgia"/>
                <a:cs typeface="Georgia"/>
              </a:rPr>
              <a:t>20 / 24</a:t>
            </a:r>
          </a:p>
        </p:txBody>
      </p:sp>
      <p:sp>
        <p:nvSpPr>
          <p:cNvPr id="10" name="">
            <a:extLst xmlns:a="http://schemas.openxmlformats.org/drawingml/2006/main">
              <a:ext uri="{FF2B5EF4-FFF2-40B4-BE49-F238E27FC236}">
                <a16:creationId xmlns:a16="http://schemas.microsoft.com/office/drawing/2014/main" id="{E2BE607F-8BBC-46C4-9C07-20632377CBF9}"/>
              </a:ext>
            </a:extLst>
          </p:cNvPr>
          <p:cNvSpPr>
            <a:spLocks xmlns:a="http://schemas.openxmlformats.org/drawingml/2006/main" noGrp="1"/>
          </p:cNvSpPr>
          <p:nvPr/>
        </p:nvSpPr>
        <p:spPr>
          <a:xfrm xmlns:a="http://schemas.openxmlformats.org/drawingml/2006/main">
            <a:off x="5476875" y="2362200"/>
            <a:ext cx="30003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1E"/>
                </a:solidFill>
                <a:latin typeface="Georgia"/>
                <a:ea typeface="Georgia"/>
                <a:cs typeface="Georgia"/>
              </a:defRPr>
            </a:pPr>
            <a:r>
              <a:rPr sz="1425" b="0">
                <a:solidFill>
                  <a:srgbClr val="17201E"/>
                </a:solidFill>
                <a:latin typeface="Georgia"/>
                <a:ea typeface="Georgia"/>
                <a:cs typeface="Georgia"/>
              </a:rPr>
              <a:t>Every client and portfolio ranked</a:t>
            </a:r>
          </a:p>
        </p:txBody>
      </p:sp>
      <p:sp>
        <p:nvSpPr>
          <p:cNvPr id="11" name="">
            <a:extLst xmlns:a="http://schemas.openxmlformats.org/drawingml/2006/main">
              <a:ext uri="{FF2B5EF4-FFF2-40B4-BE49-F238E27FC236}">
                <a16:creationId xmlns:a16="http://schemas.microsoft.com/office/drawing/2014/main" id="{EF9F617F-6D10-4AF4-8A51-3621FCAC66DB}"/>
              </a:ext>
            </a:extLst>
          </p:cNvPr>
          <p:cNvSpPr>
            <a:spLocks xmlns:a="http://schemas.openxmlformats.org/drawingml/2006/main" noGrp="1"/>
          </p:cNvSpPr>
          <p:nvPr/>
        </p:nvSpPr>
        <p:spPr>
          <a:xfrm xmlns:a="http://schemas.openxmlformats.org/drawingml/2006/main">
            <a:off x="8715375" y="2390775"/>
            <a:ext cx="25908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F766F"/>
                </a:solidFill>
                <a:latin typeface="Aptos"/>
                <a:ea typeface="Aptos"/>
                <a:cs typeface="Aptos"/>
              </a:defRPr>
            </a:pPr>
            <a:r>
              <a:rPr sz="975" b="0">
                <a:solidFill>
                  <a:srgbClr val="6F766F"/>
                </a:solidFill>
                <a:latin typeface="Aptos"/>
                <a:ea typeface="Aptos"/>
                <a:cs typeface="Aptos"/>
              </a:rPr>
              <a:t>Intent × look-through risk × future needs × policy</a:t>
            </a:r>
          </a:p>
        </p:txBody>
      </p:sp>
      <p:sp>
        <p:nvSpPr>
          <p:cNvPr id="12" name="insight-row-2">
            <a:extLst xmlns:a="http://schemas.openxmlformats.org/drawingml/2006/main">
              <a:ext uri="{FF2B5EF4-FFF2-40B4-BE49-F238E27FC236}">
                <a16:creationId xmlns:a16="http://schemas.microsoft.com/office/drawing/2014/main" id="{F5623C1D-E3B7-4C2A-9AC2-84B1BA9C80E5}"/>
              </a:ext>
            </a:extLst>
          </p:cNvPr>
          <p:cNvSpPr>
            <a:spLocks xmlns:a="http://schemas.openxmlformats.org/drawingml/2006/main" noGrp="1"/>
          </p:cNvSpPr>
          <p:nvPr/>
        </p:nvSpPr>
        <p:spPr>
          <a:xfrm xmlns:a="http://schemas.openxmlformats.org/drawingml/2006/main">
            <a:off x="609600" y="33528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5644B5D-6ADB-48D3-81AB-2AE9F520BD2D}"/>
              </a:ext>
            </a:extLst>
          </p:cNvPr>
          <p:cNvSpPr>
            <a:spLocks xmlns:a="http://schemas.openxmlformats.org/drawingml/2006/main" noGrp="1"/>
          </p:cNvSpPr>
          <p:nvPr/>
        </p:nvSpPr>
        <p:spPr>
          <a:xfrm xmlns:a="http://schemas.openxmlformats.org/drawingml/2006/main">
            <a:off x="609600" y="36004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B78F50"/>
                </a:solidFill>
                <a:latin typeface="Aptos Mono"/>
                <a:ea typeface="Aptos Mono"/>
                <a:cs typeface="Aptos Mono"/>
              </a:defRPr>
            </a:pPr>
            <a:r>
              <a:rPr sz="825" b="1">
                <a:solidFill>
                  <a:srgbClr val="B78F50"/>
                </a:solidFill>
                <a:latin typeface="Aptos Mono"/>
                <a:ea typeface="Aptos Mono"/>
                <a:cs typeface="Aptos Mono"/>
              </a:rPr>
              <a:t>02</a:t>
            </a:r>
          </a:p>
        </p:txBody>
      </p:sp>
      <p:sp>
        <p:nvSpPr>
          <p:cNvPr id="14" name="">
            <a:extLst xmlns:a="http://schemas.openxmlformats.org/drawingml/2006/main">
              <a:ext uri="{FF2B5EF4-FFF2-40B4-BE49-F238E27FC236}">
                <a16:creationId xmlns:a16="http://schemas.microsoft.com/office/drawing/2014/main" id="{D07284AE-5645-4B29-AD52-FB5337E62FED}"/>
              </a:ext>
            </a:extLst>
          </p:cNvPr>
          <p:cNvSpPr>
            <a:spLocks xmlns:a="http://schemas.openxmlformats.org/drawingml/2006/main" noGrp="1"/>
          </p:cNvSpPr>
          <p:nvPr/>
        </p:nvSpPr>
        <p:spPr>
          <a:xfrm xmlns:a="http://schemas.openxmlformats.org/drawingml/2006/main">
            <a:off x="1200150" y="36004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2D5C56"/>
                </a:solidFill>
                <a:latin typeface="Aptos"/>
                <a:ea typeface="Aptos"/>
                <a:cs typeface="Aptos"/>
              </a:defRPr>
            </a:pPr>
            <a:r>
              <a:rPr sz="900" b="1">
                <a:solidFill>
                  <a:srgbClr val="2D5C56"/>
                </a:solidFill>
                <a:latin typeface="Aptos"/>
                <a:ea typeface="Aptos"/>
                <a:cs typeface="Aptos"/>
              </a:rPr>
              <a:t>LOOK-THROUGH</a:t>
            </a:r>
          </a:p>
        </p:txBody>
      </p:sp>
      <p:sp>
        <p:nvSpPr>
          <p:cNvPr id="15" name="">
            <a:extLst xmlns:a="http://schemas.openxmlformats.org/drawingml/2006/main">
              <a:ext uri="{FF2B5EF4-FFF2-40B4-BE49-F238E27FC236}">
                <a16:creationId xmlns:a16="http://schemas.microsoft.com/office/drawing/2014/main" id="{5FF3ED70-D731-474A-B481-C36DBBBEE36E}"/>
              </a:ext>
            </a:extLst>
          </p:cNvPr>
          <p:cNvSpPr>
            <a:spLocks xmlns:a="http://schemas.openxmlformats.org/drawingml/2006/main" noGrp="1"/>
          </p:cNvSpPr>
          <p:nvPr/>
        </p:nvSpPr>
        <p:spPr>
          <a:xfrm xmlns:a="http://schemas.openxmlformats.org/drawingml/2006/main">
            <a:off x="3771900" y="3505200"/>
            <a:ext cx="15716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0">
                <a:solidFill>
                  <a:srgbClr val="B85D43"/>
                </a:solidFill>
                <a:latin typeface="Georgia"/>
                <a:ea typeface="Georgia"/>
                <a:cs typeface="Georgia"/>
              </a:defRPr>
            </a:pPr>
            <a:r>
              <a:rPr sz="2625" b="0">
                <a:solidFill>
                  <a:srgbClr val="B85D43"/>
                </a:solidFill>
                <a:latin typeface="Georgia"/>
                <a:ea typeface="Georgia"/>
                <a:cs typeface="Georgia"/>
              </a:rPr>
              <a:t>42.1%+</a:t>
            </a:r>
          </a:p>
        </p:txBody>
      </p:sp>
      <p:sp>
        <p:nvSpPr>
          <p:cNvPr id="16" name="">
            <a:extLst xmlns:a="http://schemas.openxmlformats.org/drawingml/2006/main">
              <a:ext uri="{FF2B5EF4-FFF2-40B4-BE49-F238E27FC236}">
                <a16:creationId xmlns:a16="http://schemas.microsoft.com/office/drawing/2014/main" id="{7DC59D25-84B4-4612-AEE5-67B34FD32737}"/>
              </a:ext>
            </a:extLst>
          </p:cNvPr>
          <p:cNvSpPr>
            <a:spLocks xmlns:a="http://schemas.openxmlformats.org/drawingml/2006/main" noGrp="1"/>
          </p:cNvSpPr>
          <p:nvPr/>
        </p:nvSpPr>
        <p:spPr>
          <a:xfrm xmlns:a="http://schemas.openxmlformats.org/drawingml/2006/main">
            <a:off x="5476875" y="3543300"/>
            <a:ext cx="30003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1E"/>
                </a:solidFill>
                <a:latin typeface="Georgia"/>
                <a:ea typeface="Georgia"/>
                <a:cs typeface="Georgia"/>
              </a:defRPr>
            </a:pPr>
            <a:r>
              <a:rPr sz="1425" b="0">
                <a:solidFill>
                  <a:srgbClr val="17201E"/>
                </a:solidFill>
                <a:latin typeface="Georgia"/>
                <a:ea typeface="Georgia"/>
                <a:cs typeface="Georgia"/>
              </a:rPr>
              <a:t>Hidden concentration through the FCN</a:t>
            </a:r>
          </a:p>
        </p:txBody>
      </p:sp>
      <p:sp>
        <p:nvSpPr>
          <p:cNvPr id="17" name="">
            <a:extLst xmlns:a="http://schemas.openxmlformats.org/drawingml/2006/main">
              <a:ext uri="{FF2B5EF4-FFF2-40B4-BE49-F238E27FC236}">
                <a16:creationId xmlns:a16="http://schemas.microsoft.com/office/drawing/2014/main" id="{2B5D4DE4-7AC3-4A98-A093-ED065C86E477}"/>
              </a:ext>
            </a:extLst>
          </p:cNvPr>
          <p:cNvSpPr>
            <a:spLocks xmlns:a="http://schemas.openxmlformats.org/drawingml/2006/main" noGrp="1"/>
          </p:cNvSpPr>
          <p:nvPr/>
        </p:nvSpPr>
        <p:spPr>
          <a:xfrm xmlns:a="http://schemas.openxmlformats.org/drawingml/2006/main">
            <a:off x="8715375" y="3571875"/>
            <a:ext cx="25908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F766F"/>
                </a:solidFill>
                <a:latin typeface="Aptos"/>
                <a:ea typeface="Aptos"/>
                <a:cs typeface="Aptos"/>
              </a:defRPr>
            </a:pPr>
            <a:r>
              <a:rPr sz="975" b="0">
                <a:solidFill>
                  <a:srgbClr val="6F766F"/>
                </a:solidFill>
                <a:latin typeface="Aptos"/>
                <a:ea typeface="Aptos"/>
                <a:cs typeface="Aptos"/>
              </a:rPr>
              <a:t>Portfolio + product + outside-business context</a:t>
            </a:r>
          </a:p>
        </p:txBody>
      </p:sp>
      <p:sp>
        <p:nvSpPr>
          <p:cNvPr id="18" name="insight-row-3">
            <a:extLst xmlns:a="http://schemas.openxmlformats.org/drawingml/2006/main">
              <a:ext uri="{FF2B5EF4-FFF2-40B4-BE49-F238E27FC236}">
                <a16:creationId xmlns:a16="http://schemas.microsoft.com/office/drawing/2014/main" id="{E4F0A56B-F629-4340-B32D-AC148D08F77E}"/>
              </a:ext>
            </a:extLst>
          </p:cNvPr>
          <p:cNvSpPr>
            <a:spLocks xmlns:a="http://schemas.openxmlformats.org/drawingml/2006/main" noGrp="1"/>
          </p:cNvSpPr>
          <p:nvPr/>
        </p:nvSpPr>
        <p:spPr>
          <a:xfrm xmlns:a="http://schemas.openxmlformats.org/drawingml/2006/main">
            <a:off x="609600" y="45339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910184C-B525-4843-9D31-18C05CB54A85}"/>
              </a:ext>
            </a:extLst>
          </p:cNvPr>
          <p:cNvSpPr>
            <a:spLocks xmlns:a="http://schemas.openxmlformats.org/drawingml/2006/main" noGrp="1"/>
          </p:cNvSpPr>
          <p:nvPr/>
        </p:nvSpPr>
        <p:spPr>
          <a:xfrm xmlns:a="http://schemas.openxmlformats.org/drawingml/2006/main">
            <a:off x="609600" y="47815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B78F50"/>
                </a:solidFill>
                <a:latin typeface="Aptos Mono"/>
                <a:ea typeface="Aptos Mono"/>
                <a:cs typeface="Aptos Mono"/>
              </a:defRPr>
            </a:pPr>
            <a:r>
              <a:rPr sz="825" b="1">
                <a:solidFill>
                  <a:srgbClr val="B78F50"/>
                </a:solidFill>
                <a:latin typeface="Aptos Mono"/>
                <a:ea typeface="Aptos Mono"/>
                <a:cs typeface="Aptos Mono"/>
              </a:rPr>
              <a:t>03</a:t>
            </a:r>
          </a:p>
        </p:txBody>
      </p:sp>
      <p:sp>
        <p:nvSpPr>
          <p:cNvPr id="20" name="">
            <a:extLst xmlns:a="http://schemas.openxmlformats.org/drawingml/2006/main">
              <a:ext uri="{FF2B5EF4-FFF2-40B4-BE49-F238E27FC236}">
                <a16:creationId xmlns:a16="http://schemas.microsoft.com/office/drawing/2014/main" id="{F01295F4-D38D-4A6A-8EE6-015149D4E308}"/>
              </a:ext>
            </a:extLst>
          </p:cNvPr>
          <p:cNvSpPr>
            <a:spLocks xmlns:a="http://schemas.openxmlformats.org/drawingml/2006/main" noGrp="1"/>
          </p:cNvSpPr>
          <p:nvPr/>
        </p:nvSpPr>
        <p:spPr>
          <a:xfrm xmlns:a="http://schemas.openxmlformats.org/drawingml/2006/main">
            <a:off x="1200150" y="47815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2D5C56"/>
                </a:solidFill>
                <a:latin typeface="Aptos"/>
                <a:ea typeface="Aptos"/>
                <a:cs typeface="Aptos"/>
              </a:defRPr>
            </a:pPr>
            <a:r>
              <a:rPr sz="900" b="1">
                <a:solidFill>
                  <a:srgbClr val="2D5C56"/>
                </a:solidFill>
                <a:latin typeface="Aptos"/>
                <a:ea typeface="Aptos"/>
                <a:cs typeface="Aptos"/>
              </a:rPr>
              <a:t>EVIDENCE-BOUND</a:t>
            </a:r>
          </a:p>
        </p:txBody>
      </p:sp>
      <p:sp>
        <p:nvSpPr>
          <p:cNvPr id="21" name="">
            <a:extLst xmlns:a="http://schemas.openxmlformats.org/drawingml/2006/main">
              <a:ext uri="{FF2B5EF4-FFF2-40B4-BE49-F238E27FC236}">
                <a16:creationId xmlns:a16="http://schemas.microsoft.com/office/drawing/2014/main" id="{224CF130-C965-4294-875F-0343A34E1FF8}"/>
              </a:ext>
            </a:extLst>
          </p:cNvPr>
          <p:cNvSpPr>
            <a:spLocks xmlns:a="http://schemas.openxmlformats.org/drawingml/2006/main" noGrp="1"/>
          </p:cNvSpPr>
          <p:nvPr/>
        </p:nvSpPr>
        <p:spPr>
          <a:xfrm xmlns:a="http://schemas.openxmlformats.org/drawingml/2006/main">
            <a:off x="3771900" y="4686300"/>
            <a:ext cx="1571625"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0">
                <a:solidFill>
                  <a:srgbClr val="17201E"/>
                </a:solidFill>
                <a:latin typeface="Georgia"/>
                <a:ea typeface="Georgia"/>
                <a:cs typeface="Georgia"/>
              </a:defRPr>
            </a:pPr>
            <a:r>
              <a:rPr sz="2625" b="0">
                <a:solidFill>
                  <a:srgbClr val="17201E"/>
                </a:solidFill>
                <a:latin typeface="Georgia"/>
                <a:ea typeface="Georgia"/>
                <a:cs typeface="Georgia"/>
              </a:rPr>
              <a:t>154</a:t>
            </a:r>
          </a:p>
        </p:txBody>
      </p:sp>
      <p:sp>
        <p:nvSpPr>
          <p:cNvPr id="22" name="">
            <a:extLst xmlns:a="http://schemas.openxmlformats.org/drawingml/2006/main">
              <a:ext uri="{FF2B5EF4-FFF2-40B4-BE49-F238E27FC236}">
                <a16:creationId xmlns:a16="http://schemas.microsoft.com/office/drawing/2014/main" id="{F5568AE0-8973-4F3D-A5FF-EF5A5C7D11BF}"/>
              </a:ext>
            </a:extLst>
          </p:cNvPr>
          <p:cNvSpPr>
            <a:spLocks xmlns:a="http://schemas.openxmlformats.org/drawingml/2006/main" noGrp="1"/>
          </p:cNvSpPr>
          <p:nvPr/>
        </p:nvSpPr>
        <p:spPr>
          <a:xfrm xmlns:a="http://schemas.openxmlformats.org/drawingml/2006/main">
            <a:off x="5476875" y="4724400"/>
            <a:ext cx="30003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1E"/>
                </a:solidFill>
                <a:latin typeface="Georgia"/>
                <a:ea typeface="Georgia"/>
                <a:cs typeface="Georgia"/>
              </a:defRPr>
            </a:pPr>
            <a:r>
              <a:rPr sz="1425" b="0">
                <a:solidFill>
                  <a:srgbClr val="17201E"/>
                </a:solidFill>
                <a:latin typeface="Georgia"/>
                <a:ea typeface="Georgia"/>
                <a:cs typeface="Georgia"/>
              </a:rPr>
              <a:t>Controlled passages prepared for Chroma</a:t>
            </a:r>
          </a:p>
        </p:txBody>
      </p:sp>
      <p:sp>
        <p:nvSpPr>
          <p:cNvPr id="23" name="">
            <a:extLst xmlns:a="http://schemas.openxmlformats.org/drawingml/2006/main">
              <a:ext uri="{FF2B5EF4-FFF2-40B4-BE49-F238E27FC236}">
                <a16:creationId xmlns:a16="http://schemas.microsoft.com/office/drawing/2014/main" id="{C6413768-BF30-476B-A1CD-4FB3BE6D93A1}"/>
              </a:ext>
            </a:extLst>
          </p:cNvPr>
          <p:cNvSpPr>
            <a:spLocks xmlns:a="http://schemas.openxmlformats.org/drawingml/2006/main" noGrp="1"/>
          </p:cNvSpPr>
          <p:nvPr/>
        </p:nvSpPr>
        <p:spPr>
          <a:xfrm xmlns:a="http://schemas.openxmlformats.org/drawingml/2006/main">
            <a:off x="8715375" y="4752975"/>
            <a:ext cx="25908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F766F"/>
                </a:solidFill>
                <a:latin typeface="Aptos"/>
                <a:ea typeface="Aptos"/>
                <a:cs typeface="Aptos"/>
              </a:defRPr>
            </a:pPr>
            <a:r>
              <a:rPr sz="975" b="0">
                <a:solidFill>
                  <a:srgbClr val="6F766F"/>
                </a:solidFill>
                <a:latin typeface="Aptos"/>
                <a:ea typeface="Aptos"/>
                <a:cs typeface="Aptos"/>
              </a:rPr>
              <a:t>Client-scoped + as-of-filtered + source-labelled</a:t>
            </a:r>
          </a:p>
        </p:txBody>
      </p:sp>
      <p:sp>
        <p:nvSpPr>
          <p:cNvPr id="24" name="insight-row-end">
            <a:extLst xmlns:a="http://schemas.openxmlformats.org/drawingml/2006/main">
              <a:ext uri="{FF2B5EF4-FFF2-40B4-BE49-F238E27FC236}">
                <a16:creationId xmlns:a16="http://schemas.microsoft.com/office/drawing/2014/main" id="{C8ACE117-959E-41AB-A2C3-6AE5E901A4FB}"/>
              </a:ext>
            </a:extLst>
          </p:cNvPr>
          <p:cNvSpPr>
            <a:spLocks xmlns:a="http://schemas.openxmlformats.org/drawingml/2006/main" noGrp="1"/>
          </p:cNvSpPr>
          <p:nvPr/>
        </p:nvSpPr>
        <p:spPr>
          <a:xfrm xmlns:a="http://schemas.openxmlformats.org/drawingml/2006/main">
            <a:off x="609600" y="5715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5" name="insight-thesis">
            <a:extLst xmlns:a="http://schemas.openxmlformats.org/drawingml/2006/main">
              <a:ext uri="{FF2B5EF4-FFF2-40B4-BE49-F238E27FC236}">
                <a16:creationId xmlns:a16="http://schemas.microsoft.com/office/drawing/2014/main" id="{6AD3CD47-527A-4F1F-92D7-6A0C79BA91E7}"/>
              </a:ext>
            </a:extLst>
          </p:cNvPr>
          <p:cNvSpPr>
            <a:spLocks xmlns:a="http://schemas.openxmlformats.org/drawingml/2006/main" noGrp="1"/>
          </p:cNvSpPr>
          <p:nvPr/>
        </p:nvSpPr>
        <p:spPr>
          <a:xfrm xmlns:a="http://schemas.openxmlformats.org/drawingml/2006/main">
            <a:off x="609600" y="5915025"/>
            <a:ext cx="10972800" cy="400050"/>
          </a:xfrm>
          <a:prstGeom xmlns:a="http://schemas.openxmlformats.org/drawingml/2006/main" prst="rect">
            <a:avLst/>
          </a:prstGeom>
          <a:solidFill xmlns:a="http://schemas.openxmlformats.org/drawingml/2006/main">
            <a:srgbClr val="D9E6E1"/>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D9E4941-4611-4AA0-8CA4-A5B6626B29CF}"/>
              </a:ext>
            </a:extLst>
          </p:cNvPr>
          <p:cNvSpPr>
            <a:spLocks xmlns:a="http://schemas.openxmlformats.org/drawingml/2006/main" noGrp="1"/>
          </p:cNvSpPr>
          <p:nvPr/>
        </p:nvSpPr>
        <p:spPr>
          <a:xfrm xmlns:a="http://schemas.openxmlformats.org/drawingml/2006/main">
            <a:off x="828675" y="5924550"/>
            <a:ext cx="10534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050" b="1">
                <a:solidFill>
                  <a:srgbClr val="2D5C56"/>
                </a:solidFill>
                <a:latin typeface="Aptos"/>
                <a:ea typeface="Aptos"/>
                <a:cs typeface="Aptos"/>
              </a:defRPr>
            </a:pPr>
            <a:r>
              <a:rPr sz="1050" b="1">
                <a:solidFill>
                  <a:srgbClr val="2D5C56"/>
                </a:solidFill>
                <a:latin typeface="Aptos"/>
                <a:ea typeface="Aptos"/>
                <a:cs typeface="Aptos"/>
              </a:rPr>
              <a:t>CALCULATE FIRST · RETRIEVE RELEVANT EVIDENCE · GENERATE LAST · RM DECIDES</a:t>
            </a:r>
          </a:p>
        </p:txBody>
      </p:sp>
      <p:sp>
        <p:nvSpPr>
          <p:cNvPr id="27" name="footer-rule-3">
            <a:extLst xmlns:a="http://schemas.openxmlformats.org/drawingml/2006/main">
              <a:ext uri="{FF2B5EF4-FFF2-40B4-BE49-F238E27FC236}">
                <a16:creationId xmlns:a16="http://schemas.microsoft.com/office/drawing/2014/main" id="{DD24355A-B026-4E62-B9F1-93597E51387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1302282-185F-45D4-A620-38B6083A6950}"/>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current engine, retrieval corpus and control implementation · verified 05 Sep 2026</a:t>
            </a:r>
          </a:p>
        </p:txBody>
      </p:sp>
      <p:sp>
        <p:nvSpPr>
          <p:cNvPr id="29" name="">
            <a:extLst xmlns:a="http://schemas.openxmlformats.org/drawingml/2006/main">
              <a:ext uri="{FF2B5EF4-FFF2-40B4-BE49-F238E27FC236}">
                <a16:creationId xmlns:a16="http://schemas.microsoft.com/office/drawing/2014/main" id="{167E86D8-1ED3-458C-960B-B5431C47C377}"/>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02</a:t>
            </a:r>
          </a:p>
        </p:txBody>
      </p:sp>
    </p:spTree>
    <p:extLst>
      <p:ext uri="{BB962C8B-B14F-4D97-AF65-F5344CB8AC3E}">
        <p14:creationId xmlns:p14="http://schemas.microsoft.com/office/powerpoint/2010/main" val="7573003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071CA4EA-9B88-4567-B1AA-E52DC96276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kicker-04-marker">
            <a:extLst xmlns:a="http://schemas.openxmlformats.org/drawingml/2006/main">
              <a:ext uri="{FF2B5EF4-FFF2-40B4-BE49-F238E27FC236}">
                <a16:creationId xmlns:a16="http://schemas.microsoft.com/office/drawing/2014/main" id="{98746219-F6F0-4EE9-996A-6B642993602A}"/>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4-label">
            <a:extLst xmlns:a="http://schemas.openxmlformats.org/drawingml/2006/main">
              <a:ext uri="{FF2B5EF4-FFF2-40B4-BE49-F238E27FC236}">
                <a16:creationId xmlns:a16="http://schemas.microsoft.com/office/drawing/2014/main" id="{DC94D835-2461-4F0D-B971-AB44D647315C}"/>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THE TESSERA SYSTEM</a:t>
            </a:r>
          </a:p>
        </p:txBody>
      </p:sp>
      <p:sp>
        <p:nvSpPr>
          <p:cNvPr id="4" name="">
            <a:extLst xmlns:a="http://schemas.openxmlformats.org/drawingml/2006/main">
              <a:ext uri="{FF2B5EF4-FFF2-40B4-BE49-F238E27FC236}">
                <a16:creationId xmlns:a16="http://schemas.microsoft.com/office/drawing/2014/main" id="{A5FF8A1D-E881-4571-860A-BDB464DA558C}"/>
              </a:ext>
            </a:extLst>
          </p:cNvPr>
          <p:cNvSpPr>
            <a:spLocks xmlns:a="http://schemas.openxmlformats.org/drawingml/2006/main" noGrp="1"/>
          </p:cNvSpPr>
          <p:nvPr/>
        </p:nvSpPr>
        <p:spPr>
          <a:xfrm xmlns:a="http://schemas.openxmlformats.org/drawingml/2006/main">
            <a:off x="609600" y="685800"/>
            <a:ext cx="101917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0">
                <a:solidFill>
                  <a:srgbClr val="FFFFFF"/>
                </a:solidFill>
                <a:latin typeface="Georgia"/>
                <a:ea typeface="Georgia"/>
                <a:cs typeface="Georgia"/>
              </a:defRPr>
            </a:pPr>
            <a:r>
              <a:rPr sz="3000" b="0">
                <a:solidFill>
                  <a:srgbClr val="FFFFFF"/>
                </a:solidFill>
                <a:latin typeface="Georgia"/>
                <a:ea typeface="Georgia"/>
                <a:cs typeface="Georgia"/>
              </a:rPr>
              <a:t>Deterministic truth, controlled context and policy become one RM decision loop.</a:t>
            </a:r>
          </a:p>
        </p:txBody>
      </p:sp>
      <p:sp>
        <p:nvSpPr>
          <p:cNvPr id="5" name="">
            <a:extLst xmlns:a="http://schemas.openxmlformats.org/drawingml/2006/main">
              <a:ext uri="{FF2B5EF4-FFF2-40B4-BE49-F238E27FC236}">
                <a16:creationId xmlns:a16="http://schemas.microsoft.com/office/drawing/2014/main" id="{A3D04813-B9BB-4EF3-964C-DE17C2D1DAB0}"/>
              </a:ext>
            </a:extLst>
          </p:cNvPr>
          <p:cNvSpPr>
            <a:spLocks xmlns:a="http://schemas.openxmlformats.org/drawingml/2006/main" noGrp="1"/>
          </p:cNvSpPr>
          <p:nvPr/>
        </p:nvSpPr>
        <p:spPr>
          <a:xfrm xmlns:a="http://schemas.openxmlformats.org/drawingml/2006/main">
            <a:off x="609600" y="16573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B8C3BF"/>
                </a:solidFill>
                <a:latin typeface="Aptos"/>
                <a:ea typeface="Aptos"/>
                <a:cs typeface="Aptos"/>
              </a:defRPr>
            </a:pPr>
            <a:r>
              <a:rPr sz="1200" b="0">
                <a:solidFill>
                  <a:srgbClr val="B8C3BF"/>
                </a:solidFill>
                <a:latin typeface="Aptos"/>
                <a:ea typeface="Aptos"/>
                <a:cs typeface="Aptos"/>
              </a:rPr>
              <a:t>When enabled, Chroma expands recall without changing the facts: calculations and suitability remain deterministic.</a:t>
            </a:r>
          </a:p>
        </p:txBody>
      </p:sp>
      <p:sp>
        <p:nvSpPr>
          <p:cNvPr id="6" name="platform-spine">
            <a:extLst xmlns:a="http://schemas.openxmlformats.org/drawingml/2006/main">
              <a:ext uri="{FF2B5EF4-FFF2-40B4-BE49-F238E27FC236}">
                <a16:creationId xmlns:a16="http://schemas.microsoft.com/office/drawing/2014/main" id="{68B440DA-5F6F-4A6A-BB7A-D5CC7B46AD3E}"/>
              </a:ext>
            </a:extLst>
          </p:cNvPr>
          <p:cNvSpPr>
            <a:spLocks xmlns:a="http://schemas.openxmlformats.org/drawingml/2006/main" noGrp="1"/>
          </p:cNvSpPr>
          <p:nvPr/>
        </p:nvSpPr>
        <p:spPr>
          <a:xfrm xmlns:a="http://schemas.openxmlformats.org/drawingml/2006/main">
            <a:off x="1047750" y="4371975"/>
            <a:ext cx="9715500"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7" name="node-1">
            <a:extLst xmlns:a="http://schemas.openxmlformats.org/drawingml/2006/main">
              <a:ext uri="{FF2B5EF4-FFF2-40B4-BE49-F238E27FC236}">
                <a16:creationId xmlns:a16="http://schemas.microsoft.com/office/drawing/2014/main" id="{22D0137D-DB39-4980-A2D7-854D36109C4A}"/>
              </a:ext>
            </a:extLst>
          </p:cNvPr>
          <p:cNvSpPr>
            <a:spLocks xmlns:a="http://schemas.openxmlformats.org/drawingml/2006/main" noGrp="1"/>
          </p:cNvSpPr>
          <p:nvPr/>
        </p:nvSpPr>
        <p:spPr>
          <a:xfrm xmlns:a="http://schemas.openxmlformats.org/drawingml/2006/main">
            <a:off x="60960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8" name="">
            <a:extLst xmlns:a="http://schemas.openxmlformats.org/drawingml/2006/main">
              <a:ext uri="{FF2B5EF4-FFF2-40B4-BE49-F238E27FC236}">
                <a16:creationId xmlns:a16="http://schemas.microsoft.com/office/drawing/2014/main" id="{71293C7B-CB40-4444-8565-2F2392AD9460}"/>
              </a:ext>
            </a:extLst>
          </p:cNvPr>
          <p:cNvSpPr>
            <a:spLocks xmlns:a="http://schemas.openxmlformats.org/drawingml/2006/main" noGrp="1"/>
          </p:cNvSpPr>
          <p:nvPr/>
        </p:nvSpPr>
        <p:spPr>
          <a:xfrm xmlns:a="http://schemas.openxmlformats.org/drawingml/2006/main">
            <a:off x="76200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4ACE4299-3DD2-4959-A260-54737ACDABFC}"/>
              </a:ext>
            </a:extLst>
          </p:cNvPr>
          <p:cNvSpPr>
            <a:spLocks xmlns:a="http://schemas.openxmlformats.org/drawingml/2006/main" noGrp="1"/>
          </p:cNvSpPr>
          <p:nvPr/>
        </p:nvSpPr>
        <p:spPr>
          <a:xfrm xmlns:a="http://schemas.openxmlformats.org/drawingml/2006/main">
            <a:off x="76200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CHANGED</a:t>
            </a:r>
          </a:p>
        </p:txBody>
      </p:sp>
      <p:sp>
        <p:nvSpPr>
          <p:cNvPr id="10" name="">
            <a:extLst xmlns:a="http://schemas.openxmlformats.org/drawingml/2006/main">
              <a:ext uri="{FF2B5EF4-FFF2-40B4-BE49-F238E27FC236}">
                <a16:creationId xmlns:a16="http://schemas.microsoft.com/office/drawing/2014/main" id="{17EE153A-3440-47EA-87BE-B4C087A34CD8}"/>
              </a:ext>
            </a:extLst>
          </p:cNvPr>
          <p:cNvSpPr>
            <a:spLocks xmlns:a="http://schemas.openxmlformats.org/drawingml/2006/main" noGrp="1"/>
          </p:cNvSpPr>
          <p:nvPr/>
        </p:nvSpPr>
        <p:spPr>
          <a:xfrm xmlns:a="http://schemas.openxmlformats.org/drawingml/2006/main">
            <a:off x="76200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Replay five snapshots; use temporal joins; link only authoritative events.</a:t>
            </a:r>
          </a:p>
        </p:txBody>
      </p:sp>
      <p:sp>
        <p:nvSpPr>
          <p:cNvPr id="11" name="platform-marker-1">
            <a:extLst xmlns:a="http://schemas.openxmlformats.org/drawingml/2006/main">
              <a:ext uri="{FF2B5EF4-FFF2-40B4-BE49-F238E27FC236}">
                <a16:creationId xmlns:a16="http://schemas.microsoft.com/office/drawing/2014/main" id="{611042D5-31C4-4555-A998-85D82750721E}"/>
              </a:ext>
            </a:extLst>
          </p:cNvPr>
          <p:cNvSpPr>
            <a:spLocks xmlns:a="http://schemas.openxmlformats.org/drawingml/2006/main" noGrp="1"/>
          </p:cNvSpPr>
          <p:nvPr/>
        </p:nvSpPr>
        <p:spPr>
          <a:xfrm xmlns:a="http://schemas.openxmlformats.org/drawingml/2006/main">
            <a:off x="150495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12" name="platform-marker-label-1">
            <a:extLst xmlns:a="http://schemas.openxmlformats.org/drawingml/2006/main">
              <a:ext uri="{FF2B5EF4-FFF2-40B4-BE49-F238E27FC236}">
                <a16:creationId xmlns:a16="http://schemas.microsoft.com/office/drawing/2014/main" id="{BEB12A08-B936-4864-BA1E-58EB3CF00ECD}"/>
              </a:ext>
            </a:extLst>
          </p:cNvPr>
          <p:cNvSpPr>
            <a:spLocks xmlns:a="http://schemas.openxmlformats.org/drawingml/2006/main" noGrp="1"/>
          </p:cNvSpPr>
          <p:nvPr/>
        </p:nvSpPr>
        <p:spPr>
          <a:xfrm xmlns:a="http://schemas.openxmlformats.org/drawingml/2006/main">
            <a:off x="150495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1</a:t>
            </a:r>
          </a:p>
        </p:txBody>
      </p:sp>
      <p:sp>
        <p:nvSpPr>
          <p:cNvPr id="13" name="node-2">
            <a:extLst xmlns:a="http://schemas.openxmlformats.org/drawingml/2006/main">
              <a:ext uri="{FF2B5EF4-FFF2-40B4-BE49-F238E27FC236}">
                <a16:creationId xmlns:a16="http://schemas.microsoft.com/office/drawing/2014/main" id="{B48F23F6-7765-4B7D-A5B9-697F2A69D04E}"/>
              </a:ext>
            </a:extLst>
          </p:cNvPr>
          <p:cNvSpPr>
            <a:spLocks xmlns:a="http://schemas.openxmlformats.org/drawingml/2006/main" noGrp="1"/>
          </p:cNvSpPr>
          <p:nvPr/>
        </p:nvSpPr>
        <p:spPr>
          <a:xfrm xmlns:a="http://schemas.openxmlformats.org/drawingml/2006/main">
            <a:off x="352425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4" name="">
            <a:extLst xmlns:a="http://schemas.openxmlformats.org/drawingml/2006/main">
              <a:ext uri="{FF2B5EF4-FFF2-40B4-BE49-F238E27FC236}">
                <a16:creationId xmlns:a16="http://schemas.microsoft.com/office/drawing/2014/main" id="{402A6F48-7C03-4D2A-B91A-D2BFCCA0C690}"/>
              </a:ext>
            </a:extLst>
          </p:cNvPr>
          <p:cNvSpPr>
            <a:spLocks xmlns:a="http://schemas.openxmlformats.org/drawingml/2006/main" noGrp="1"/>
          </p:cNvSpPr>
          <p:nvPr/>
        </p:nvSpPr>
        <p:spPr>
          <a:xfrm xmlns:a="http://schemas.openxmlformats.org/drawingml/2006/main">
            <a:off x="367665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02</a:t>
            </a:r>
          </a:p>
        </p:txBody>
      </p:sp>
      <p:sp>
        <p:nvSpPr>
          <p:cNvPr id="15" name="">
            <a:extLst xmlns:a="http://schemas.openxmlformats.org/drawingml/2006/main">
              <a:ext uri="{FF2B5EF4-FFF2-40B4-BE49-F238E27FC236}">
                <a16:creationId xmlns:a16="http://schemas.microsoft.com/office/drawing/2014/main" id="{D95BB511-8739-426E-A220-948FB0602048}"/>
              </a:ext>
            </a:extLst>
          </p:cNvPr>
          <p:cNvSpPr>
            <a:spLocks xmlns:a="http://schemas.openxmlformats.org/drawingml/2006/main" noGrp="1"/>
          </p:cNvSpPr>
          <p:nvPr/>
        </p:nvSpPr>
        <p:spPr>
          <a:xfrm xmlns:a="http://schemas.openxmlformats.org/drawingml/2006/main">
            <a:off x="367665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IS HIDDEN</a:t>
            </a:r>
          </a:p>
        </p:txBody>
      </p:sp>
      <p:sp>
        <p:nvSpPr>
          <p:cNvPr id="16" name="">
            <a:extLst xmlns:a="http://schemas.openxmlformats.org/drawingml/2006/main">
              <a:ext uri="{FF2B5EF4-FFF2-40B4-BE49-F238E27FC236}">
                <a16:creationId xmlns:a16="http://schemas.microsoft.com/office/drawing/2014/main" id="{D1A74DB3-F482-4B11-B394-98F2414AF391}"/>
              </a:ext>
            </a:extLst>
          </p:cNvPr>
          <p:cNvSpPr>
            <a:spLocks xmlns:a="http://schemas.openxmlformats.org/drawingml/2006/main" noGrp="1"/>
          </p:cNvSpPr>
          <p:nvPr/>
        </p:nvSpPr>
        <p:spPr>
          <a:xfrm xmlns:a="http://schemas.openxmlformats.org/drawingml/2006/main">
            <a:off x="367665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Look through wrappers; retrieve client-scoped notes, rules and instruments from Chroma.</a:t>
            </a:r>
          </a:p>
        </p:txBody>
      </p:sp>
      <p:sp>
        <p:nvSpPr>
          <p:cNvPr id="17" name="platform-marker-2">
            <a:extLst xmlns:a="http://schemas.openxmlformats.org/drawingml/2006/main">
              <a:ext uri="{FF2B5EF4-FFF2-40B4-BE49-F238E27FC236}">
                <a16:creationId xmlns:a16="http://schemas.microsoft.com/office/drawing/2014/main" id="{6F2722CC-3BF4-4831-83A0-D57F73F2018A}"/>
              </a:ext>
            </a:extLst>
          </p:cNvPr>
          <p:cNvSpPr>
            <a:spLocks xmlns:a="http://schemas.openxmlformats.org/drawingml/2006/main" noGrp="1"/>
          </p:cNvSpPr>
          <p:nvPr/>
        </p:nvSpPr>
        <p:spPr>
          <a:xfrm xmlns:a="http://schemas.openxmlformats.org/drawingml/2006/main">
            <a:off x="441960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18" name="platform-marker-label-2">
            <a:extLst xmlns:a="http://schemas.openxmlformats.org/drawingml/2006/main">
              <a:ext uri="{FF2B5EF4-FFF2-40B4-BE49-F238E27FC236}">
                <a16:creationId xmlns:a16="http://schemas.microsoft.com/office/drawing/2014/main" id="{621C09AE-7FC9-4B5E-9C97-5FB0E5FC47AE}"/>
              </a:ext>
            </a:extLst>
          </p:cNvPr>
          <p:cNvSpPr>
            <a:spLocks xmlns:a="http://schemas.openxmlformats.org/drawingml/2006/main" noGrp="1"/>
          </p:cNvSpPr>
          <p:nvPr/>
        </p:nvSpPr>
        <p:spPr>
          <a:xfrm xmlns:a="http://schemas.openxmlformats.org/drawingml/2006/main">
            <a:off x="441960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2</a:t>
            </a:r>
          </a:p>
        </p:txBody>
      </p:sp>
      <p:sp>
        <p:nvSpPr>
          <p:cNvPr id="19" name="node-3">
            <a:extLst xmlns:a="http://schemas.openxmlformats.org/drawingml/2006/main">
              <a:ext uri="{FF2B5EF4-FFF2-40B4-BE49-F238E27FC236}">
                <a16:creationId xmlns:a16="http://schemas.microsoft.com/office/drawing/2014/main" id="{50FA4B8B-6BEC-4EA4-AFBA-BC86E9464302}"/>
              </a:ext>
            </a:extLst>
          </p:cNvPr>
          <p:cNvSpPr>
            <a:spLocks xmlns:a="http://schemas.openxmlformats.org/drawingml/2006/main" noGrp="1"/>
          </p:cNvSpPr>
          <p:nvPr/>
        </p:nvSpPr>
        <p:spPr>
          <a:xfrm xmlns:a="http://schemas.openxmlformats.org/drawingml/2006/main">
            <a:off x="643890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0" name="">
            <a:extLst xmlns:a="http://schemas.openxmlformats.org/drawingml/2006/main">
              <a:ext uri="{FF2B5EF4-FFF2-40B4-BE49-F238E27FC236}">
                <a16:creationId xmlns:a16="http://schemas.microsoft.com/office/drawing/2014/main" id="{78BDBD77-5D9A-46C9-8067-BD5C69960178}"/>
              </a:ext>
            </a:extLst>
          </p:cNvPr>
          <p:cNvSpPr>
            <a:spLocks xmlns:a="http://schemas.openxmlformats.org/drawingml/2006/main" noGrp="1"/>
          </p:cNvSpPr>
          <p:nvPr/>
        </p:nvSpPr>
        <p:spPr>
          <a:xfrm xmlns:a="http://schemas.openxmlformats.org/drawingml/2006/main">
            <a:off x="659130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03</a:t>
            </a:r>
          </a:p>
        </p:txBody>
      </p:sp>
      <p:sp>
        <p:nvSpPr>
          <p:cNvPr id="21" name="">
            <a:extLst xmlns:a="http://schemas.openxmlformats.org/drawingml/2006/main">
              <a:ext uri="{FF2B5EF4-FFF2-40B4-BE49-F238E27FC236}">
                <a16:creationId xmlns:a16="http://schemas.microsoft.com/office/drawing/2014/main" id="{F0464D5A-D8F0-4F17-8849-2F6755AAF96A}"/>
              </a:ext>
            </a:extLst>
          </p:cNvPr>
          <p:cNvSpPr>
            <a:spLocks xmlns:a="http://schemas.openxmlformats.org/drawingml/2006/main" noGrp="1"/>
          </p:cNvSpPr>
          <p:nvPr/>
        </p:nvSpPr>
        <p:spPr>
          <a:xfrm xmlns:a="http://schemas.openxmlformats.org/drawingml/2006/main">
            <a:off x="659130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IS ALLOWED</a:t>
            </a:r>
          </a:p>
        </p:txBody>
      </p:sp>
      <p:sp>
        <p:nvSpPr>
          <p:cNvPr id="22" name="">
            <a:extLst xmlns:a="http://schemas.openxmlformats.org/drawingml/2006/main">
              <a:ext uri="{FF2B5EF4-FFF2-40B4-BE49-F238E27FC236}">
                <a16:creationId xmlns:a16="http://schemas.microsoft.com/office/drawing/2014/main" id="{6D2DC27C-69C9-4775-A68C-DE3A4D8841B3}"/>
              </a:ext>
            </a:extLst>
          </p:cNvPr>
          <p:cNvSpPr>
            <a:spLocks xmlns:a="http://schemas.openxmlformats.org/drawingml/2006/main" noGrp="1"/>
          </p:cNvSpPr>
          <p:nvPr/>
        </p:nvSpPr>
        <p:spPr>
          <a:xfrm xmlns:a="http://schemas.openxmlformats.org/drawingml/2006/main">
            <a:off x="659130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Apply mandate, liquidity, credit and data checks before any narrative.</a:t>
            </a:r>
          </a:p>
        </p:txBody>
      </p:sp>
      <p:sp>
        <p:nvSpPr>
          <p:cNvPr id="23" name="platform-marker-3">
            <a:extLst xmlns:a="http://schemas.openxmlformats.org/drawingml/2006/main">
              <a:ext uri="{FF2B5EF4-FFF2-40B4-BE49-F238E27FC236}">
                <a16:creationId xmlns:a16="http://schemas.microsoft.com/office/drawing/2014/main" id="{659367C1-E97C-4F51-A764-3C0820B39281}"/>
              </a:ext>
            </a:extLst>
          </p:cNvPr>
          <p:cNvSpPr>
            <a:spLocks xmlns:a="http://schemas.openxmlformats.org/drawingml/2006/main" noGrp="1"/>
          </p:cNvSpPr>
          <p:nvPr/>
        </p:nvSpPr>
        <p:spPr>
          <a:xfrm xmlns:a="http://schemas.openxmlformats.org/drawingml/2006/main">
            <a:off x="733425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24" name="platform-marker-label-3">
            <a:extLst xmlns:a="http://schemas.openxmlformats.org/drawingml/2006/main">
              <a:ext uri="{FF2B5EF4-FFF2-40B4-BE49-F238E27FC236}">
                <a16:creationId xmlns:a16="http://schemas.microsoft.com/office/drawing/2014/main" id="{34F1CFB6-16BD-4B6D-A812-03C95123F22C}"/>
              </a:ext>
            </a:extLst>
          </p:cNvPr>
          <p:cNvSpPr>
            <a:spLocks xmlns:a="http://schemas.openxmlformats.org/drawingml/2006/main" noGrp="1"/>
          </p:cNvSpPr>
          <p:nvPr/>
        </p:nvSpPr>
        <p:spPr>
          <a:xfrm xmlns:a="http://schemas.openxmlformats.org/drawingml/2006/main">
            <a:off x="733425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3</a:t>
            </a:r>
          </a:p>
        </p:txBody>
      </p:sp>
      <p:sp>
        <p:nvSpPr>
          <p:cNvPr id="25" name="node-4">
            <a:extLst xmlns:a="http://schemas.openxmlformats.org/drawingml/2006/main">
              <a:ext uri="{FF2B5EF4-FFF2-40B4-BE49-F238E27FC236}">
                <a16:creationId xmlns:a16="http://schemas.microsoft.com/office/drawing/2014/main" id="{9920F9AE-CD50-4FE5-8C9E-454D722F05F9}"/>
              </a:ext>
            </a:extLst>
          </p:cNvPr>
          <p:cNvSpPr>
            <a:spLocks xmlns:a="http://schemas.openxmlformats.org/drawingml/2006/main" noGrp="1"/>
          </p:cNvSpPr>
          <p:nvPr/>
        </p:nvSpPr>
        <p:spPr>
          <a:xfrm xmlns:a="http://schemas.openxmlformats.org/drawingml/2006/main">
            <a:off x="9353550" y="2095500"/>
            <a:ext cx="2228850" cy="209550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6" name="">
            <a:extLst xmlns:a="http://schemas.openxmlformats.org/drawingml/2006/main">
              <a:ext uri="{FF2B5EF4-FFF2-40B4-BE49-F238E27FC236}">
                <a16:creationId xmlns:a16="http://schemas.microsoft.com/office/drawing/2014/main" id="{BF82EA6C-5B36-47BC-90B9-A706A1FD08E2}"/>
              </a:ext>
            </a:extLst>
          </p:cNvPr>
          <p:cNvSpPr>
            <a:spLocks xmlns:a="http://schemas.openxmlformats.org/drawingml/2006/main" noGrp="1"/>
          </p:cNvSpPr>
          <p:nvPr/>
        </p:nvSpPr>
        <p:spPr>
          <a:xfrm xmlns:a="http://schemas.openxmlformats.org/drawingml/2006/main">
            <a:off x="9505950" y="22193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04</a:t>
            </a:r>
          </a:p>
        </p:txBody>
      </p:sp>
      <p:sp>
        <p:nvSpPr>
          <p:cNvPr id="27" name="">
            <a:extLst xmlns:a="http://schemas.openxmlformats.org/drawingml/2006/main">
              <a:ext uri="{FF2B5EF4-FFF2-40B4-BE49-F238E27FC236}">
                <a16:creationId xmlns:a16="http://schemas.microsoft.com/office/drawing/2014/main" id="{CEF6BFDD-3DB1-40B5-A1B2-5FCC029003CC}"/>
              </a:ext>
            </a:extLst>
          </p:cNvPr>
          <p:cNvSpPr>
            <a:spLocks xmlns:a="http://schemas.openxmlformats.org/drawingml/2006/main" noGrp="1"/>
          </p:cNvSpPr>
          <p:nvPr/>
        </p:nvSpPr>
        <p:spPr>
          <a:xfrm xmlns:a="http://schemas.openxmlformats.org/drawingml/2006/main">
            <a:off x="9505950" y="2476500"/>
            <a:ext cx="19240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WHAT WILL THE RM DO</a:t>
            </a:r>
          </a:p>
        </p:txBody>
      </p:sp>
      <p:sp>
        <p:nvSpPr>
          <p:cNvPr id="28" name="">
            <a:extLst xmlns:a="http://schemas.openxmlformats.org/drawingml/2006/main">
              <a:ext uri="{FF2B5EF4-FFF2-40B4-BE49-F238E27FC236}">
                <a16:creationId xmlns:a16="http://schemas.microsoft.com/office/drawing/2014/main" id="{0E6BC811-8876-48CA-9985-24C25575BC77}"/>
              </a:ext>
            </a:extLst>
          </p:cNvPr>
          <p:cNvSpPr>
            <a:spLocks xmlns:a="http://schemas.openxmlformats.org/drawingml/2006/main" noGrp="1"/>
          </p:cNvSpPr>
          <p:nvPr/>
        </p:nvSpPr>
        <p:spPr>
          <a:xfrm xmlns:a="http://schemas.openxmlformats.org/drawingml/2006/main">
            <a:off x="9505950" y="3028950"/>
            <a:ext cx="19240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Rehearse transparent sensitivities; approve, edit or reject with rationale.</a:t>
            </a:r>
          </a:p>
        </p:txBody>
      </p:sp>
      <p:sp>
        <p:nvSpPr>
          <p:cNvPr id="29" name="platform-marker-4">
            <a:extLst xmlns:a="http://schemas.openxmlformats.org/drawingml/2006/main">
              <a:ext uri="{FF2B5EF4-FFF2-40B4-BE49-F238E27FC236}">
                <a16:creationId xmlns:a16="http://schemas.microsoft.com/office/drawing/2014/main" id="{08B911FC-815E-43AD-A669-75F8E2633A3A}"/>
              </a:ext>
            </a:extLst>
          </p:cNvPr>
          <p:cNvSpPr>
            <a:spLocks xmlns:a="http://schemas.openxmlformats.org/drawingml/2006/main" noGrp="1"/>
          </p:cNvSpPr>
          <p:nvPr/>
        </p:nvSpPr>
        <p:spPr>
          <a:xfrm xmlns:a="http://schemas.openxmlformats.org/drawingml/2006/main">
            <a:off x="10248900" y="4210050"/>
            <a:ext cx="323850" cy="32385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30" name="platform-marker-label-4">
            <a:extLst xmlns:a="http://schemas.openxmlformats.org/drawingml/2006/main">
              <a:ext uri="{FF2B5EF4-FFF2-40B4-BE49-F238E27FC236}">
                <a16:creationId xmlns:a16="http://schemas.microsoft.com/office/drawing/2014/main" id="{2958E836-D500-42BD-8CDB-E5DF7837BB58}"/>
              </a:ext>
            </a:extLst>
          </p:cNvPr>
          <p:cNvSpPr>
            <a:spLocks xmlns:a="http://schemas.openxmlformats.org/drawingml/2006/main" noGrp="1"/>
          </p:cNvSpPr>
          <p:nvPr/>
        </p:nvSpPr>
        <p:spPr>
          <a:xfrm xmlns:a="http://schemas.openxmlformats.org/drawingml/2006/main">
            <a:off x="10248900" y="4219575"/>
            <a:ext cx="3238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4</a:t>
            </a:r>
          </a:p>
        </p:txBody>
      </p:sp>
      <p:sp>
        <p:nvSpPr>
          <p:cNvPr id="31" name="governance-rail">
            <a:extLst xmlns:a="http://schemas.openxmlformats.org/drawingml/2006/main">
              <a:ext uri="{FF2B5EF4-FFF2-40B4-BE49-F238E27FC236}">
                <a16:creationId xmlns:a16="http://schemas.microsoft.com/office/drawing/2014/main" id="{F6036B4A-C74B-41C8-B672-0B70E0571906}"/>
              </a:ext>
            </a:extLst>
          </p:cNvPr>
          <p:cNvSpPr>
            <a:spLocks xmlns:a="http://schemas.openxmlformats.org/drawingml/2006/main" noGrp="1"/>
          </p:cNvSpPr>
          <p:nvPr/>
        </p:nvSpPr>
        <p:spPr>
          <a:xfrm xmlns:a="http://schemas.openxmlformats.org/drawingml/2006/main">
            <a:off x="609600" y="4686300"/>
            <a:ext cx="10972800" cy="1095375"/>
          </a:xfrm>
          <a:prstGeom xmlns:a="http://schemas.openxmlformats.org/drawingml/2006/main" prst="rect">
            <a:avLst/>
          </a:prstGeom>
          <a:solidFill xmlns:a="http://schemas.openxmlformats.org/drawingml/2006/main">
            <a:srgbClr val="FBF9F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C8ECBBAF-D328-4458-BACA-4DDC55262413}"/>
              </a:ext>
            </a:extLst>
          </p:cNvPr>
          <p:cNvSpPr>
            <a:spLocks xmlns:a="http://schemas.openxmlformats.org/drawingml/2006/main" noGrp="1"/>
          </p:cNvSpPr>
          <p:nvPr/>
        </p:nvSpPr>
        <p:spPr>
          <a:xfrm xmlns:a="http://schemas.openxmlformats.org/drawingml/2006/main">
            <a:off x="838200" y="4857750"/>
            <a:ext cx="1905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EVIDENCE PASSPORT</a:t>
            </a:r>
          </a:p>
        </p:txBody>
      </p:sp>
      <p:sp>
        <p:nvSpPr>
          <p:cNvPr id="33" name="">
            <a:extLst xmlns:a="http://schemas.openxmlformats.org/drawingml/2006/main">
              <a:ext uri="{FF2B5EF4-FFF2-40B4-BE49-F238E27FC236}">
                <a16:creationId xmlns:a16="http://schemas.microsoft.com/office/drawing/2014/main" id="{FD767CD8-6887-4DD2-9BF5-6586741E1282}"/>
              </a:ext>
            </a:extLst>
          </p:cNvPr>
          <p:cNvSpPr>
            <a:spLocks xmlns:a="http://schemas.openxmlformats.org/drawingml/2006/main" noGrp="1"/>
          </p:cNvSpPr>
          <p:nvPr/>
        </p:nvSpPr>
        <p:spPr>
          <a:xfrm xmlns:a="http://schemas.openxmlformats.org/drawingml/2006/main">
            <a:off x="838200" y="52578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Source row + as-of date</a:t>
            </a:r>
          </a:p>
        </p:txBody>
      </p:sp>
      <p:sp>
        <p:nvSpPr>
          <p:cNvPr id="34" name="">
            <a:extLst xmlns:a="http://schemas.openxmlformats.org/drawingml/2006/main">
              <a:ext uri="{FF2B5EF4-FFF2-40B4-BE49-F238E27FC236}">
                <a16:creationId xmlns:a16="http://schemas.microsoft.com/office/drawing/2014/main" id="{E5F9FAC3-4F89-476B-B11A-941CCBA7DBB4}"/>
              </a:ext>
            </a:extLst>
          </p:cNvPr>
          <p:cNvSpPr>
            <a:spLocks xmlns:a="http://schemas.openxmlformats.org/drawingml/2006/main" noGrp="1"/>
          </p:cNvSpPr>
          <p:nvPr/>
        </p:nvSpPr>
        <p:spPr>
          <a:xfrm xmlns:a="http://schemas.openxmlformats.org/drawingml/2006/main">
            <a:off x="3162300" y="5257800"/>
            <a:ext cx="1809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Retrieval scope + confidence</a:t>
            </a:r>
          </a:p>
        </p:txBody>
      </p:sp>
      <p:sp>
        <p:nvSpPr>
          <p:cNvPr id="35" name="">
            <a:extLst xmlns:a="http://schemas.openxmlformats.org/drawingml/2006/main">
              <a:ext uri="{FF2B5EF4-FFF2-40B4-BE49-F238E27FC236}">
                <a16:creationId xmlns:a16="http://schemas.microsoft.com/office/drawing/2014/main" id="{90EA3E31-2398-4355-95C7-8DA0093F7588}"/>
              </a:ext>
            </a:extLst>
          </p:cNvPr>
          <p:cNvSpPr>
            <a:spLocks xmlns:a="http://schemas.openxmlformats.org/drawingml/2006/main" noGrp="1"/>
          </p:cNvSpPr>
          <p:nvPr/>
        </p:nvSpPr>
        <p:spPr>
          <a:xfrm xmlns:a="http://schemas.openxmlformats.org/drawingml/2006/main">
            <a:off x="5572125" y="5257800"/>
            <a:ext cx="1809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Mandate + suitability</a:t>
            </a:r>
          </a:p>
        </p:txBody>
      </p:sp>
      <p:sp>
        <p:nvSpPr>
          <p:cNvPr id="36" name="">
            <a:extLst xmlns:a="http://schemas.openxmlformats.org/drawingml/2006/main">
              <a:ext uri="{FF2B5EF4-FFF2-40B4-BE49-F238E27FC236}">
                <a16:creationId xmlns:a16="http://schemas.microsoft.com/office/drawing/2014/main" id="{C002C3DE-7D5A-4B01-858B-9A0A13721410}"/>
              </a:ext>
            </a:extLst>
          </p:cNvPr>
          <p:cNvSpPr>
            <a:spLocks xmlns:a="http://schemas.openxmlformats.org/drawingml/2006/main" noGrp="1"/>
          </p:cNvSpPr>
          <p:nvPr/>
        </p:nvSpPr>
        <p:spPr>
          <a:xfrm xmlns:a="http://schemas.openxmlformats.org/drawingml/2006/main">
            <a:off x="7915275" y="52578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Scenario assumptions</a:t>
            </a:r>
          </a:p>
        </p:txBody>
      </p:sp>
      <p:sp>
        <p:nvSpPr>
          <p:cNvPr id="37" name="">
            <a:extLst xmlns:a="http://schemas.openxmlformats.org/drawingml/2006/main">
              <a:ext uri="{FF2B5EF4-FFF2-40B4-BE49-F238E27FC236}">
                <a16:creationId xmlns:a16="http://schemas.microsoft.com/office/drawing/2014/main" id="{12C4E293-F2ED-45E1-81C4-DFFF4E53285B}"/>
              </a:ext>
            </a:extLst>
          </p:cNvPr>
          <p:cNvSpPr>
            <a:spLocks xmlns:a="http://schemas.openxmlformats.org/drawingml/2006/main" noGrp="1"/>
          </p:cNvSpPr>
          <p:nvPr/>
        </p:nvSpPr>
        <p:spPr>
          <a:xfrm xmlns:a="http://schemas.openxmlformats.org/drawingml/2006/main">
            <a:off x="9858375" y="5257800"/>
            <a:ext cx="1428750" cy="3714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RM decision + rationale</a:t>
            </a:r>
          </a:p>
        </p:txBody>
      </p:sp>
      <p:sp>
        <p:nvSpPr>
          <p:cNvPr id="38" name="passport-separator-1">
            <a:extLst xmlns:a="http://schemas.openxmlformats.org/drawingml/2006/main">
              <a:ext uri="{FF2B5EF4-FFF2-40B4-BE49-F238E27FC236}">
                <a16:creationId xmlns:a16="http://schemas.microsoft.com/office/drawing/2014/main" id="{D8EBA74D-F25C-4633-B3EF-4548DBB66C94}"/>
              </a:ext>
            </a:extLst>
          </p:cNvPr>
          <p:cNvSpPr>
            <a:spLocks xmlns:a="http://schemas.openxmlformats.org/drawingml/2006/main" noGrp="1"/>
          </p:cNvSpPr>
          <p:nvPr/>
        </p:nvSpPr>
        <p:spPr>
          <a:xfrm xmlns:a="http://schemas.openxmlformats.org/drawingml/2006/main">
            <a:off x="2886075"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9" name="passport-separator-2">
            <a:extLst xmlns:a="http://schemas.openxmlformats.org/drawingml/2006/main">
              <a:ext uri="{FF2B5EF4-FFF2-40B4-BE49-F238E27FC236}">
                <a16:creationId xmlns:a16="http://schemas.microsoft.com/office/drawing/2014/main" id="{06919DBA-EDD3-498E-B7FC-350EFDE24DFC}"/>
              </a:ext>
            </a:extLst>
          </p:cNvPr>
          <p:cNvSpPr>
            <a:spLocks xmlns:a="http://schemas.openxmlformats.org/drawingml/2006/main" noGrp="1"/>
          </p:cNvSpPr>
          <p:nvPr/>
        </p:nvSpPr>
        <p:spPr>
          <a:xfrm xmlns:a="http://schemas.openxmlformats.org/drawingml/2006/main">
            <a:off x="5314950"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0" name="passport-separator-3">
            <a:extLst xmlns:a="http://schemas.openxmlformats.org/drawingml/2006/main">
              <a:ext uri="{FF2B5EF4-FFF2-40B4-BE49-F238E27FC236}">
                <a16:creationId xmlns:a16="http://schemas.microsoft.com/office/drawing/2014/main" id="{5490F8EA-7148-409F-90B8-0FA93FA3D58D}"/>
              </a:ext>
            </a:extLst>
          </p:cNvPr>
          <p:cNvSpPr>
            <a:spLocks xmlns:a="http://schemas.openxmlformats.org/drawingml/2006/main" noGrp="1"/>
          </p:cNvSpPr>
          <p:nvPr/>
        </p:nvSpPr>
        <p:spPr>
          <a:xfrm xmlns:a="http://schemas.openxmlformats.org/drawingml/2006/main">
            <a:off x="7686675"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1" name="passport-separator-4">
            <a:extLst xmlns:a="http://schemas.openxmlformats.org/drawingml/2006/main">
              <a:ext uri="{FF2B5EF4-FFF2-40B4-BE49-F238E27FC236}">
                <a16:creationId xmlns:a16="http://schemas.microsoft.com/office/drawing/2014/main" id="{6BE358DB-CA8B-47DC-833D-E6C1C52B749C}"/>
              </a:ext>
            </a:extLst>
          </p:cNvPr>
          <p:cNvSpPr>
            <a:spLocks xmlns:a="http://schemas.openxmlformats.org/drawingml/2006/main" noGrp="1"/>
          </p:cNvSpPr>
          <p:nvPr/>
        </p:nvSpPr>
        <p:spPr>
          <a:xfrm xmlns:a="http://schemas.openxmlformats.org/drawingml/2006/main">
            <a:off x="9734550" y="5153025"/>
            <a:ext cx="9525" cy="4857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2" name="footer-rule-4">
            <a:extLst xmlns:a="http://schemas.openxmlformats.org/drawingml/2006/main">
              <a:ext uri="{FF2B5EF4-FFF2-40B4-BE49-F238E27FC236}">
                <a16:creationId xmlns:a16="http://schemas.microsoft.com/office/drawing/2014/main" id="{3FD42928-FDB0-46EB-B62C-03F64842C36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5BA3715A-92E1-4A28-96AE-16C87975BA20}"/>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9EAAA6"/>
                </a:solidFill>
                <a:latin typeface="Aptos"/>
                <a:ea typeface="Aptos"/>
                <a:cs typeface="Aptos"/>
              </a:defRPr>
            </a:pPr>
            <a:r>
              <a:rPr sz="675" b="0">
                <a:solidFill>
                  <a:srgbClr val="9EAAA6"/>
                </a:solidFill>
                <a:latin typeface="Aptos"/>
                <a:ea typeface="Aptos"/>
                <a:cs typeface="Aptos"/>
              </a:rPr>
              <a:t>Architecture · deterministic engine + feature-gated Chroma retrieval + Vercel delivery · no model can override a hard stop</a:t>
            </a:r>
          </a:p>
        </p:txBody>
      </p:sp>
      <p:sp>
        <p:nvSpPr>
          <p:cNvPr id="44" name="">
            <a:extLst xmlns:a="http://schemas.openxmlformats.org/drawingml/2006/main">
              <a:ext uri="{FF2B5EF4-FFF2-40B4-BE49-F238E27FC236}">
                <a16:creationId xmlns:a16="http://schemas.microsoft.com/office/drawing/2014/main" id="{1E0A6925-8775-47A6-A49E-83C481D89E3C}"/>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E7D6B5"/>
                </a:solidFill>
                <a:latin typeface="Aptos Mono"/>
                <a:ea typeface="Aptos Mono"/>
                <a:cs typeface="Aptos Mono"/>
              </a:defRPr>
            </a:pPr>
            <a:r>
              <a:rPr sz="750" b="1">
                <a:solidFill>
                  <a:srgbClr val="E7D6B5"/>
                </a:solidFill>
                <a:latin typeface="Aptos Mono"/>
                <a:ea typeface="Aptos Mono"/>
                <a:cs typeface="Aptos Mono"/>
              </a:rPr>
              <a:t>03</a:t>
            </a:r>
          </a:p>
        </p:txBody>
      </p:sp>
    </p:spTree>
    <p:extLst>
      <p:ext uri="{BB962C8B-B14F-4D97-AF65-F5344CB8AC3E}">
        <p14:creationId xmlns:p14="http://schemas.microsoft.com/office/powerpoint/2010/main" val="1604542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7AD7DE67-F270-4F8C-A196-C267476598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7-marker">
            <a:extLst xmlns:a="http://schemas.openxmlformats.org/drawingml/2006/main">
              <a:ext uri="{FF2B5EF4-FFF2-40B4-BE49-F238E27FC236}">
                <a16:creationId xmlns:a16="http://schemas.microsoft.com/office/drawing/2014/main" id="{13D09598-4D16-46AB-9D5B-9BF86CAE5666}"/>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7-label">
            <a:extLst xmlns:a="http://schemas.openxmlformats.org/drawingml/2006/main">
              <a:ext uri="{FF2B5EF4-FFF2-40B4-BE49-F238E27FC236}">
                <a16:creationId xmlns:a16="http://schemas.microsoft.com/office/drawing/2014/main" id="{A8A356A0-FBB8-451E-B47E-F1203252D6FB}"/>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SCENARIO PROOF · ABDULLAH AL-MANSOORI</a:t>
            </a:r>
          </a:p>
        </p:txBody>
      </p:sp>
      <p:sp>
        <p:nvSpPr>
          <p:cNvPr id="4" name="">
            <a:extLst xmlns:a="http://schemas.openxmlformats.org/drawingml/2006/main">
              <a:ext uri="{FF2B5EF4-FFF2-40B4-BE49-F238E27FC236}">
                <a16:creationId xmlns:a16="http://schemas.microsoft.com/office/drawing/2014/main" id="{AC5F25E3-58F5-4BC1-A374-827603D99C65}"/>
              </a:ext>
            </a:extLst>
          </p:cNvPr>
          <p:cNvSpPr>
            <a:spLocks xmlns:a="http://schemas.openxmlformats.org/drawingml/2006/main" noGrp="1"/>
          </p:cNvSpPr>
          <p:nvPr/>
        </p:nvSpPr>
        <p:spPr>
          <a:xfrm xmlns:a="http://schemas.openxmlformats.org/drawingml/2006/main">
            <a:off x="609600" y="685800"/>
            <a:ext cx="10668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75" b="0">
                <a:solidFill>
                  <a:srgbClr val="17201E"/>
                </a:solidFill>
                <a:latin typeface="Georgia"/>
                <a:ea typeface="Georgia"/>
                <a:cs typeface="Georgia"/>
              </a:defRPr>
            </a:pPr>
            <a:r>
              <a:rPr sz="3075" b="0">
                <a:solidFill>
                  <a:srgbClr val="17201E"/>
                </a:solidFill>
                <a:latin typeface="Georgia"/>
                <a:ea typeface="Georgia"/>
                <a:cs typeface="Georgia"/>
              </a:rPr>
              <a:t>Abdullah’s successful thesis recreated the risk he asked us to diversify away from.</a:t>
            </a:r>
          </a:p>
        </p:txBody>
      </p:sp>
      <p:sp>
        <p:nvSpPr>
          <p:cNvPr id="5" name="">
            <a:extLst xmlns:a="http://schemas.openxmlformats.org/drawingml/2006/main">
              <a:ext uri="{FF2B5EF4-FFF2-40B4-BE49-F238E27FC236}">
                <a16:creationId xmlns:a16="http://schemas.microsoft.com/office/drawing/2014/main" id="{945492FD-71FB-4DAB-AF1D-603AA9CEF6C8}"/>
              </a:ext>
            </a:extLst>
          </p:cNvPr>
          <p:cNvSpPr>
            <a:spLocks xmlns:a="http://schemas.openxmlformats.org/drawingml/2006/main" noGrp="1"/>
          </p:cNvSpPr>
          <p:nvPr/>
        </p:nvSpPr>
        <p:spPr>
          <a:xfrm xmlns:a="http://schemas.openxmlformats.org/drawingml/2006/main">
            <a:off x="609600" y="1704975"/>
            <a:ext cx="904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F766F"/>
                </a:solidFill>
                <a:latin typeface="Aptos"/>
                <a:ea typeface="Aptos"/>
                <a:cs typeface="Aptos"/>
              </a:defRPr>
            </a:pPr>
            <a:r>
              <a:rPr sz="1200" b="0">
                <a:solidFill>
                  <a:srgbClr val="6F766F"/>
                </a:solidFill>
                <a:latin typeface="Aptos"/>
                <a:ea typeface="Aptos"/>
                <a:cs typeface="Aptos"/>
              </a:rPr>
              <a:t>42.1%+ is only the bank-held floor; his Gulf business shares the risk, and a USD 5m need starts in 2027.</a:t>
            </a:r>
          </a:p>
        </p:txBody>
      </p:sp>
      <p:sp>
        <p:nvSpPr>
          <p:cNvPr id="6" name="abdullah-lookthrough">
            <a:extLst xmlns:a="http://schemas.openxmlformats.org/drawingml/2006/main">
              <a:ext uri="{FF2B5EF4-FFF2-40B4-BE49-F238E27FC236}">
                <a16:creationId xmlns:a16="http://schemas.microsoft.com/office/drawing/2014/main" id="{3FAAD2C8-4726-40B2-9A22-2B98BD26216E}"/>
              </a:ext>
            </a:extLst>
          </p:cNvPr>
          <p:cNvSpPr>
            <a:spLocks xmlns:a="http://schemas.openxmlformats.org/drawingml/2006/main" noGrp="1"/>
          </p:cNvSpPr>
          <p:nvPr/>
        </p:nvSpPr>
        <p:spPr>
          <a:xfrm xmlns:a="http://schemas.openxmlformats.org/drawingml/2006/main">
            <a:off x="609600" y="2124075"/>
            <a:ext cx="4686300" cy="3667125"/>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30356CD-7CDA-4090-A153-8E1EC803BAF2}"/>
              </a:ext>
            </a:extLst>
          </p:cNvPr>
          <p:cNvSpPr>
            <a:spLocks xmlns:a="http://schemas.openxmlformats.org/drawingml/2006/main" noGrp="1"/>
          </p:cNvSpPr>
          <p:nvPr/>
        </p:nvSpPr>
        <p:spPr>
          <a:xfrm xmlns:a="http://schemas.openxmlformats.org/drawingml/2006/main">
            <a:off x="857250" y="2352675"/>
            <a:ext cx="2000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E7D6B5"/>
                </a:solidFill>
                <a:latin typeface="Aptos"/>
                <a:ea typeface="Aptos"/>
                <a:cs typeface="Aptos"/>
              </a:defRPr>
            </a:pPr>
            <a:r>
              <a:rPr sz="750" b="1">
                <a:solidFill>
                  <a:srgbClr val="E7D6B5"/>
                </a:solidFill>
                <a:latin typeface="Aptos"/>
                <a:ea typeface="Aptos"/>
                <a:cs typeface="Aptos"/>
              </a:rPr>
              <a:t>LOOK-THROUGH FLOOR</a:t>
            </a:r>
          </a:p>
        </p:txBody>
      </p:sp>
      <p:sp>
        <p:nvSpPr>
          <p:cNvPr id="8" name="">
            <a:extLst xmlns:a="http://schemas.openxmlformats.org/drawingml/2006/main">
              <a:ext uri="{FF2B5EF4-FFF2-40B4-BE49-F238E27FC236}">
                <a16:creationId xmlns:a16="http://schemas.microsoft.com/office/drawing/2014/main" id="{AEC63037-F511-4D1B-85E2-E1F9131D43A3}"/>
              </a:ext>
            </a:extLst>
          </p:cNvPr>
          <p:cNvSpPr>
            <a:spLocks xmlns:a="http://schemas.openxmlformats.org/drawingml/2006/main" noGrp="1"/>
          </p:cNvSpPr>
          <p:nvPr/>
        </p:nvSpPr>
        <p:spPr>
          <a:xfrm xmlns:a="http://schemas.openxmlformats.org/drawingml/2006/main">
            <a:off x="857250" y="2638425"/>
            <a:ext cx="247650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900" b="0">
                <a:solidFill>
                  <a:srgbClr val="FFFFFF"/>
                </a:solidFill>
                <a:latin typeface="Georgia"/>
                <a:ea typeface="Georgia"/>
                <a:cs typeface="Georgia"/>
              </a:defRPr>
            </a:pPr>
            <a:r>
              <a:rPr sz="3900" b="0">
                <a:solidFill>
                  <a:srgbClr val="FFFFFF"/>
                </a:solidFill>
                <a:latin typeface="Georgia"/>
                <a:ea typeface="Georgia"/>
                <a:cs typeface="Georgia"/>
              </a:rPr>
              <a:t>42.1%+</a:t>
            </a:r>
          </a:p>
        </p:txBody>
      </p:sp>
      <p:sp>
        <p:nvSpPr>
          <p:cNvPr id="9" name="">
            <a:extLst xmlns:a="http://schemas.openxmlformats.org/drawingml/2006/main">
              <a:ext uri="{FF2B5EF4-FFF2-40B4-BE49-F238E27FC236}">
                <a16:creationId xmlns:a16="http://schemas.microsoft.com/office/drawing/2014/main" id="{DD79D7FB-9D85-49EA-AF47-64981838ED99}"/>
              </a:ext>
            </a:extLst>
          </p:cNvPr>
          <p:cNvSpPr>
            <a:spLocks xmlns:a="http://schemas.openxmlformats.org/drawingml/2006/main" noGrp="1"/>
          </p:cNvSpPr>
          <p:nvPr/>
        </p:nvSpPr>
        <p:spPr>
          <a:xfrm xmlns:a="http://schemas.openxmlformats.org/drawingml/2006/main">
            <a:off x="866775" y="3343275"/>
            <a:ext cx="3143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C5CFCB"/>
                </a:solidFill>
                <a:latin typeface="Aptos"/>
                <a:ea typeface="Aptos"/>
                <a:cs typeface="Aptos"/>
              </a:defRPr>
            </a:pPr>
            <a:r>
              <a:rPr sz="1050" b="0">
                <a:solidFill>
                  <a:srgbClr val="C5CFCB"/>
                </a:solidFill>
                <a:latin typeface="Aptos"/>
                <a:ea typeface="Aptos"/>
                <a:cs typeface="Aptos"/>
              </a:rPr>
              <a:t>bank-held shipping &amp; energy exposure</a:t>
            </a:r>
          </a:p>
        </p:txBody>
      </p:sp>
      <p:sp>
        <p:nvSpPr>
          <p:cNvPr id="10" name="abdullah-legend-1">
            <a:extLst xmlns:a="http://schemas.openxmlformats.org/drawingml/2006/main">
              <a:ext uri="{FF2B5EF4-FFF2-40B4-BE49-F238E27FC236}">
                <a16:creationId xmlns:a16="http://schemas.microsoft.com/office/drawing/2014/main" id="{99CF9656-A389-402E-AD33-9FF690EA83D6}"/>
              </a:ext>
            </a:extLst>
          </p:cNvPr>
          <p:cNvSpPr>
            <a:spLocks xmlns:a="http://schemas.openxmlformats.org/drawingml/2006/main" noGrp="1"/>
          </p:cNvSpPr>
          <p:nvPr/>
        </p:nvSpPr>
        <p:spPr>
          <a:xfrm xmlns:a="http://schemas.openxmlformats.org/drawingml/2006/main">
            <a:off x="866775" y="3829050"/>
            <a:ext cx="85725" cy="85725"/>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E15407B-D325-4D37-BB43-31CA5C76484E}"/>
              </a:ext>
            </a:extLst>
          </p:cNvPr>
          <p:cNvSpPr>
            <a:spLocks xmlns:a="http://schemas.openxmlformats.org/drawingml/2006/main" noGrp="1"/>
          </p:cNvSpPr>
          <p:nvPr/>
        </p:nvSpPr>
        <p:spPr>
          <a:xfrm xmlns:a="http://schemas.openxmlformats.org/drawingml/2006/main">
            <a:off x="1066800" y="380047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Shipping &amp; energy FCN</a:t>
            </a:r>
          </a:p>
        </p:txBody>
      </p:sp>
      <p:sp>
        <p:nvSpPr>
          <p:cNvPr id="12" name="">
            <a:extLst xmlns:a="http://schemas.openxmlformats.org/drawingml/2006/main">
              <a:ext uri="{FF2B5EF4-FFF2-40B4-BE49-F238E27FC236}">
                <a16:creationId xmlns:a16="http://schemas.microsoft.com/office/drawing/2014/main" id="{501C208A-7FF6-4E47-B650-5A6C050520DC}"/>
              </a:ext>
            </a:extLst>
          </p:cNvPr>
          <p:cNvSpPr>
            <a:spLocks xmlns:a="http://schemas.openxmlformats.org/drawingml/2006/main" noGrp="1"/>
          </p:cNvSpPr>
          <p:nvPr/>
        </p:nvSpPr>
        <p:spPr>
          <a:xfrm xmlns:a="http://schemas.openxmlformats.org/drawingml/2006/main">
            <a:off x="4095750" y="380047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12.9%</a:t>
            </a:r>
          </a:p>
        </p:txBody>
      </p:sp>
      <p:sp>
        <p:nvSpPr>
          <p:cNvPr id="13" name="abdullah-legend-2">
            <a:extLst xmlns:a="http://schemas.openxmlformats.org/drawingml/2006/main">
              <a:ext uri="{FF2B5EF4-FFF2-40B4-BE49-F238E27FC236}">
                <a16:creationId xmlns:a16="http://schemas.microsoft.com/office/drawing/2014/main" id="{56EAF561-56E9-4919-B61D-D7F03434ECC6}"/>
              </a:ext>
            </a:extLst>
          </p:cNvPr>
          <p:cNvSpPr>
            <a:spLocks xmlns:a="http://schemas.openxmlformats.org/drawingml/2006/main" noGrp="1"/>
          </p:cNvSpPr>
          <p:nvPr/>
        </p:nvSpPr>
        <p:spPr>
          <a:xfrm xmlns:a="http://schemas.openxmlformats.org/drawingml/2006/main">
            <a:off x="866775" y="4229100"/>
            <a:ext cx="85725" cy="85725"/>
          </a:xfrm>
          <a:prstGeom xmlns:a="http://schemas.openxmlformats.org/drawingml/2006/main" prst="rect">
            <a:avLst/>
          </a:prstGeom>
          <a:solidFill xmlns:a="http://schemas.openxmlformats.org/drawingml/2006/main">
            <a:srgbClr val="D8C49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241D295-0333-4B45-9D2F-96AEAE36E376}"/>
              </a:ext>
            </a:extLst>
          </p:cNvPr>
          <p:cNvSpPr>
            <a:spLocks xmlns:a="http://schemas.openxmlformats.org/drawingml/2006/main" noGrp="1"/>
          </p:cNvSpPr>
          <p:nvPr/>
        </p:nvSpPr>
        <p:spPr>
          <a:xfrm xmlns:a="http://schemas.openxmlformats.org/drawingml/2006/main">
            <a:off x="1066800" y="420052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Pacific Orient Shipping</a:t>
            </a:r>
          </a:p>
        </p:txBody>
      </p:sp>
      <p:sp>
        <p:nvSpPr>
          <p:cNvPr id="15" name="">
            <a:extLst xmlns:a="http://schemas.openxmlformats.org/drawingml/2006/main">
              <a:ext uri="{FF2B5EF4-FFF2-40B4-BE49-F238E27FC236}">
                <a16:creationId xmlns:a16="http://schemas.microsoft.com/office/drawing/2014/main" id="{A96BC1F9-B021-43FE-82AF-A400BE2A7AE0}"/>
              </a:ext>
            </a:extLst>
          </p:cNvPr>
          <p:cNvSpPr>
            <a:spLocks xmlns:a="http://schemas.openxmlformats.org/drawingml/2006/main" noGrp="1"/>
          </p:cNvSpPr>
          <p:nvPr/>
        </p:nvSpPr>
        <p:spPr>
          <a:xfrm xmlns:a="http://schemas.openxmlformats.org/drawingml/2006/main">
            <a:off x="4095750" y="420052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11.4%</a:t>
            </a:r>
          </a:p>
        </p:txBody>
      </p:sp>
      <p:sp>
        <p:nvSpPr>
          <p:cNvPr id="16" name="abdullah-legend-3">
            <a:extLst xmlns:a="http://schemas.openxmlformats.org/drawingml/2006/main">
              <a:ext uri="{FF2B5EF4-FFF2-40B4-BE49-F238E27FC236}">
                <a16:creationId xmlns:a16="http://schemas.microsoft.com/office/drawing/2014/main" id="{E4B7ECF6-3506-41DE-A820-3F5420D48C0B}"/>
              </a:ext>
            </a:extLst>
          </p:cNvPr>
          <p:cNvSpPr>
            <a:spLocks xmlns:a="http://schemas.openxmlformats.org/drawingml/2006/main" noGrp="1"/>
          </p:cNvSpPr>
          <p:nvPr/>
        </p:nvSpPr>
        <p:spPr>
          <a:xfrm xmlns:a="http://schemas.openxmlformats.org/drawingml/2006/main">
            <a:off x="866775" y="4629150"/>
            <a:ext cx="85725" cy="85725"/>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008E968-D840-404B-AA32-856D99BC2728}"/>
              </a:ext>
            </a:extLst>
          </p:cNvPr>
          <p:cNvSpPr>
            <a:spLocks xmlns:a="http://schemas.openxmlformats.org/drawingml/2006/main" noGrp="1"/>
          </p:cNvSpPr>
          <p:nvPr/>
        </p:nvSpPr>
        <p:spPr>
          <a:xfrm xmlns:a="http://schemas.openxmlformats.org/drawingml/2006/main">
            <a:off x="1066800" y="460057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Global energy majors</a:t>
            </a:r>
          </a:p>
        </p:txBody>
      </p:sp>
      <p:sp>
        <p:nvSpPr>
          <p:cNvPr id="18" name="">
            <a:extLst xmlns:a="http://schemas.openxmlformats.org/drawingml/2006/main">
              <a:ext uri="{FF2B5EF4-FFF2-40B4-BE49-F238E27FC236}">
                <a16:creationId xmlns:a16="http://schemas.microsoft.com/office/drawing/2014/main" id="{46B99AA3-040C-462F-9D5B-DBF04B1F0CD9}"/>
              </a:ext>
            </a:extLst>
          </p:cNvPr>
          <p:cNvSpPr>
            <a:spLocks xmlns:a="http://schemas.openxmlformats.org/drawingml/2006/main" noGrp="1"/>
          </p:cNvSpPr>
          <p:nvPr/>
        </p:nvSpPr>
        <p:spPr>
          <a:xfrm xmlns:a="http://schemas.openxmlformats.org/drawingml/2006/main">
            <a:off x="4095750" y="460057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8.9%</a:t>
            </a:r>
          </a:p>
        </p:txBody>
      </p:sp>
      <p:sp>
        <p:nvSpPr>
          <p:cNvPr id="19" name="abdullah-legend-4">
            <a:extLst xmlns:a="http://schemas.openxmlformats.org/drawingml/2006/main">
              <a:ext uri="{FF2B5EF4-FFF2-40B4-BE49-F238E27FC236}">
                <a16:creationId xmlns:a16="http://schemas.microsoft.com/office/drawing/2014/main" id="{20F0349C-CE9E-42CB-A2E3-D8BDB13FC297}"/>
              </a:ext>
            </a:extLst>
          </p:cNvPr>
          <p:cNvSpPr>
            <a:spLocks xmlns:a="http://schemas.openxmlformats.org/drawingml/2006/main" noGrp="1"/>
          </p:cNvSpPr>
          <p:nvPr/>
        </p:nvSpPr>
        <p:spPr>
          <a:xfrm xmlns:a="http://schemas.openxmlformats.org/drawingml/2006/main">
            <a:off x="866775" y="5029200"/>
            <a:ext cx="85725" cy="85725"/>
          </a:xfrm>
          <a:prstGeom xmlns:a="http://schemas.openxmlformats.org/drawingml/2006/main" prst="rect">
            <a:avLst/>
          </a:prstGeom>
          <a:solidFill xmlns:a="http://schemas.openxmlformats.org/drawingml/2006/main">
            <a:srgbClr val="78948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F42CB5E-D968-4374-B0D7-CCDFC57C7520}"/>
              </a:ext>
            </a:extLst>
          </p:cNvPr>
          <p:cNvSpPr>
            <a:spLocks xmlns:a="http://schemas.openxmlformats.org/drawingml/2006/main" noGrp="1"/>
          </p:cNvSpPr>
          <p:nvPr/>
        </p:nvSpPr>
        <p:spPr>
          <a:xfrm xmlns:a="http://schemas.openxmlformats.org/drawingml/2006/main">
            <a:off x="1066800" y="5000625"/>
            <a:ext cx="2724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FFFFFF"/>
                </a:solidFill>
                <a:latin typeface="Aptos"/>
                <a:ea typeface="Aptos"/>
                <a:cs typeface="Aptos"/>
              </a:defRPr>
            </a:pPr>
            <a:r>
              <a:rPr sz="900" b="0">
                <a:solidFill>
                  <a:srgbClr val="FFFFFF"/>
                </a:solidFill>
                <a:latin typeface="Aptos"/>
                <a:ea typeface="Aptos"/>
                <a:cs typeface="Aptos"/>
              </a:rPr>
              <a:t>Asia shipping &amp; logistics</a:t>
            </a:r>
          </a:p>
        </p:txBody>
      </p:sp>
      <p:sp>
        <p:nvSpPr>
          <p:cNvPr id="21" name="">
            <a:extLst xmlns:a="http://schemas.openxmlformats.org/drawingml/2006/main">
              <a:ext uri="{FF2B5EF4-FFF2-40B4-BE49-F238E27FC236}">
                <a16:creationId xmlns:a16="http://schemas.microsoft.com/office/drawing/2014/main" id="{399D5D53-98D4-4CC2-8229-4498F5A0F28E}"/>
              </a:ext>
            </a:extLst>
          </p:cNvPr>
          <p:cNvSpPr>
            <a:spLocks xmlns:a="http://schemas.openxmlformats.org/drawingml/2006/main" noGrp="1"/>
          </p:cNvSpPr>
          <p:nvPr/>
        </p:nvSpPr>
        <p:spPr>
          <a:xfrm xmlns:a="http://schemas.openxmlformats.org/drawingml/2006/main">
            <a:off x="4095750" y="5000625"/>
            <a:ext cx="7810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E7D6B5"/>
                </a:solidFill>
                <a:latin typeface="Aptos Mono"/>
                <a:ea typeface="Aptos Mono"/>
                <a:cs typeface="Aptos Mono"/>
              </a:defRPr>
            </a:pPr>
            <a:r>
              <a:rPr sz="900" b="1">
                <a:solidFill>
                  <a:srgbClr val="E7D6B5"/>
                </a:solidFill>
                <a:latin typeface="Aptos Mono"/>
                <a:ea typeface="Aptos Mono"/>
                <a:cs typeface="Aptos Mono"/>
              </a:rPr>
              <a:t>8.9%</a:t>
            </a:r>
          </a:p>
        </p:txBody>
      </p:sp>
      <p:sp>
        <p:nvSpPr>
          <p:cNvPr id="22" name="">
            <a:extLst xmlns:a="http://schemas.openxmlformats.org/drawingml/2006/main">
              <a:ext uri="{FF2B5EF4-FFF2-40B4-BE49-F238E27FC236}">
                <a16:creationId xmlns:a16="http://schemas.microsoft.com/office/drawing/2014/main" id="{7DC55EA7-7BF0-4016-B378-E549AA03E4F6}"/>
              </a:ext>
            </a:extLst>
          </p:cNvPr>
          <p:cNvSpPr>
            <a:spLocks xmlns:a="http://schemas.openxmlformats.org/drawingml/2006/main" noGrp="1"/>
          </p:cNvSpPr>
          <p:nvPr/>
        </p:nvSpPr>
        <p:spPr>
          <a:xfrm xmlns:a="http://schemas.openxmlformats.org/drawingml/2006/main">
            <a:off x="866775" y="53911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9EAAA6"/>
                </a:solidFill>
                <a:latin typeface="Aptos"/>
                <a:ea typeface="Aptos"/>
                <a:cs typeface="Aptos"/>
              </a:defRPr>
            </a:pPr>
            <a:r>
              <a:rPr sz="750" b="0">
                <a:solidFill>
                  <a:srgbClr val="9EAAA6"/>
                </a:solidFill>
                <a:latin typeface="Aptos"/>
                <a:ea typeface="Aptos"/>
                <a:cs typeface="Aptos"/>
              </a:rPr>
              <a:t>+ Gulf logistics business is qualitative and excluded from the percentage</a:t>
            </a:r>
          </a:p>
        </p:txBody>
      </p:sp>
      <p:sp>
        <p:nvSpPr>
          <p:cNvPr id="23" name="">
            <a:extLst xmlns:a="http://schemas.openxmlformats.org/drawingml/2006/main">
              <a:ext uri="{FF2B5EF4-FFF2-40B4-BE49-F238E27FC236}">
                <a16:creationId xmlns:a16="http://schemas.microsoft.com/office/drawing/2014/main" id="{074EC6EB-8D77-474D-A3D8-E5F39953F40C}"/>
              </a:ext>
            </a:extLst>
          </p:cNvPr>
          <p:cNvSpPr>
            <a:spLocks xmlns:a="http://schemas.openxmlformats.org/drawingml/2006/main" noGrp="1"/>
          </p:cNvSpPr>
          <p:nvPr/>
        </p:nvSpPr>
        <p:spPr>
          <a:xfrm xmlns:a="http://schemas.openxmlformats.org/drawingml/2006/main">
            <a:off x="5810250" y="219075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COUNTERFACTUALS, NOT FORECASTS</a:t>
            </a:r>
          </a:p>
        </p:txBody>
      </p:sp>
      <p:sp>
        <p:nvSpPr>
          <p:cNvPr id="24" name="">
            <a:extLst xmlns:a="http://schemas.openxmlformats.org/drawingml/2006/main">
              <a:ext uri="{FF2B5EF4-FFF2-40B4-BE49-F238E27FC236}">
                <a16:creationId xmlns:a16="http://schemas.microsoft.com/office/drawing/2014/main" id="{DF601420-93B7-4258-B3C4-500EEA2501A3}"/>
              </a:ext>
            </a:extLst>
          </p:cNvPr>
          <p:cNvSpPr>
            <a:spLocks xmlns:a="http://schemas.openxmlformats.org/drawingml/2006/main" noGrp="1"/>
          </p:cNvSpPr>
          <p:nvPr/>
        </p:nvSpPr>
        <p:spPr>
          <a:xfrm xmlns:a="http://schemas.openxmlformats.org/drawingml/2006/main">
            <a:off x="5810250" y="2533650"/>
            <a:ext cx="53911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01E"/>
                </a:solidFill>
                <a:latin typeface="Georgia"/>
                <a:ea typeface="Georgia"/>
                <a:cs typeface="Georgia"/>
              </a:defRPr>
            </a:pPr>
            <a:r>
              <a:rPr sz="1800" b="0">
                <a:solidFill>
                  <a:srgbClr val="17201E"/>
                </a:solidFill>
                <a:latin typeface="Georgia"/>
                <a:ea typeface="Georgia"/>
                <a:cs typeface="Georgia"/>
              </a:rPr>
              <a:t>“If the Strait reopened next month, how much of this year’s gain are you willing to give back?”</a:t>
            </a:r>
          </a:p>
        </p:txBody>
      </p:sp>
      <p:sp>
        <p:nvSpPr>
          <p:cNvPr id="25" name="">
            <a:extLst xmlns:a="http://schemas.openxmlformats.org/drawingml/2006/main">
              <a:ext uri="{FF2B5EF4-FFF2-40B4-BE49-F238E27FC236}">
                <a16:creationId xmlns:a16="http://schemas.microsoft.com/office/drawing/2014/main" id="{B37F1F76-DA35-4A38-915F-146A5E9FDF19}"/>
              </a:ext>
            </a:extLst>
          </p:cNvPr>
          <p:cNvSpPr>
            <a:spLocks xmlns:a="http://schemas.openxmlformats.org/drawingml/2006/main" noGrp="1"/>
          </p:cNvSpPr>
          <p:nvPr/>
        </p:nvSpPr>
        <p:spPr>
          <a:xfrm xmlns:a="http://schemas.openxmlformats.org/drawingml/2006/main">
            <a:off x="5810250" y="3514725"/>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85D43"/>
                </a:solidFill>
                <a:latin typeface="Aptos"/>
                <a:ea typeface="Aptos"/>
                <a:cs typeface="Aptos"/>
              </a:defRPr>
            </a:pPr>
            <a:r>
              <a:rPr sz="750" b="1">
                <a:solidFill>
                  <a:srgbClr val="B85D43"/>
                </a:solidFill>
                <a:latin typeface="Aptos"/>
                <a:ea typeface="Aptos"/>
                <a:cs typeface="Aptos"/>
              </a:rPr>
              <a:t>STRAIT REOPENS</a:t>
            </a:r>
          </a:p>
        </p:txBody>
      </p:sp>
      <p:sp>
        <p:nvSpPr>
          <p:cNvPr id="26" name="">
            <a:extLst xmlns:a="http://schemas.openxmlformats.org/drawingml/2006/main">
              <a:ext uri="{FF2B5EF4-FFF2-40B4-BE49-F238E27FC236}">
                <a16:creationId xmlns:a16="http://schemas.microsoft.com/office/drawing/2014/main" id="{5FD107BA-39D6-473A-93BF-2E85519E14C3}"/>
              </a:ext>
            </a:extLst>
          </p:cNvPr>
          <p:cNvSpPr>
            <a:spLocks xmlns:a="http://schemas.openxmlformats.org/drawingml/2006/main" noGrp="1"/>
          </p:cNvSpPr>
          <p:nvPr/>
        </p:nvSpPr>
        <p:spPr>
          <a:xfrm xmlns:a="http://schemas.openxmlformats.org/drawingml/2006/main">
            <a:off x="10477500" y="3438525"/>
            <a:ext cx="895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875" b="0">
                <a:solidFill>
                  <a:srgbClr val="B85D43"/>
                </a:solidFill>
                <a:latin typeface="Georgia"/>
                <a:ea typeface="Georgia"/>
                <a:cs typeface="Georgia"/>
              </a:defRPr>
            </a:pPr>
            <a:r>
              <a:rPr sz="1875" b="0">
                <a:solidFill>
                  <a:srgbClr val="B85D43"/>
                </a:solidFill>
                <a:latin typeface="Georgia"/>
                <a:ea typeface="Georgia"/>
                <a:cs typeface="Georgia"/>
              </a:rPr>
              <a:t>−6.3%</a:t>
            </a:r>
          </a:p>
        </p:txBody>
      </p:sp>
      <p:sp>
        <p:nvSpPr>
          <p:cNvPr id="27" name="scenario-bg-1">
            <a:extLst xmlns:a="http://schemas.openxmlformats.org/drawingml/2006/main">
              <a:ext uri="{FF2B5EF4-FFF2-40B4-BE49-F238E27FC236}">
                <a16:creationId xmlns:a16="http://schemas.microsoft.com/office/drawing/2014/main" id="{68D51178-EEA1-4AFC-ACDD-20A5DFBF4E7B}"/>
              </a:ext>
            </a:extLst>
          </p:cNvPr>
          <p:cNvSpPr>
            <a:spLocks xmlns:a="http://schemas.openxmlformats.org/drawingml/2006/main" noGrp="1"/>
          </p:cNvSpPr>
          <p:nvPr/>
        </p:nvSpPr>
        <p:spPr>
          <a:xfrm xmlns:a="http://schemas.openxmlformats.org/drawingml/2006/main">
            <a:off x="5810250" y="3810000"/>
            <a:ext cx="4819650" cy="15240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28" name="scenario-bar-1">
            <a:extLst xmlns:a="http://schemas.openxmlformats.org/drawingml/2006/main">
              <a:ext uri="{FF2B5EF4-FFF2-40B4-BE49-F238E27FC236}">
                <a16:creationId xmlns:a16="http://schemas.microsoft.com/office/drawing/2014/main" id="{6DD59DE7-2027-4B30-85E6-967648591A9F}"/>
              </a:ext>
            </a:extLst>
          </p:cNvPr>
          <p:cNvSpPr>
            <a:spLocks xmlns:a="http://schemas.openxmlformats.org/drawingml/2006/main" noGrp="1"/>
          </p:cNvSpPr>
          <p:nvPr/>
        </p:nvSpPr>
        <p:spPr>
          <a:xfrm xmlns:a="http://schemas.openxmlformats.org/drawingml/2006/main">
            <a:off x="5810250" y="3810000"/>
            <a:ext cx="3429000" cy="15240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323175B6-97F4-47B2-8631-C31B4593D087}"/>
              </a:ext>
            </a:extLst>
          </p:cNvPr>
          <p:cNvSpPr>
            <a:spLocks xmlns:a="http://schemas.openxmlformats.org/drawingml/2006/main" noGrp="1"/>
          </p:cNvSpPr>
          <p:nvPr/>
        </p:nvSpPr>
        <p:spPr>
          <a:xfrm xmlns:a="http://schemas.openxmlformats.org/drawingml/2006/main">
            <a:off x="10725150" y="3771900"/>
            <a:ext cx="64770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B85D43"/>
                </a:solidFill>
                <a:latin typeface="Aptos Mono"/>
                <a:ea typeface="Aptos Mono"/>
                <a:cs typeface="Aptos Mono"/>
              </a:defRPr>
            </a:pPr>
            <a:r>
              <a:rPr sz="750" b="1">
                <a:solidFill>
                  <a:srgbClr val="B85D43"/>
                </a:solidFill>
                <a:latin typeface="Aptos Mono"/>
                <a:ea typeface="Aptos Mono"/>
                <a:cs typeface="Aptos Mono"/>
              </a:rPr>
              <a:t>−USD 2.02m</a:t>
            </a:r>
          </a:p>
        </p:txBody>
      </p:sp>
      <p:sp>
        <p:nvSpPr>
          <p:cNvPr id="30" name="">
            <a:extLst xmlns:a="http://schemas.openxmlformats.org/drawingml/2006/main">
              <a:ext uri="{FF2B5EF4-FFF2-40B4-BE49-F238E27FC236}">
                <a16:creationId xmlns:a16="http://schemas.microsoft.com/office/drawing/2014/main" id="{702F24C7-68C6-4D71-97B3-D91A3A742124}"/>
              </a:ext>
            </a:extLst>
          </p:cNvPr>
          <p:cNvSpPr>
            <a:spLocks xmlns:a="http://schemas.openxmlformats.org/drawingml/2006/main" noGrp="1"/>
          </p:cNvSpPr>
          <p:nvPr/>
        </p:nvSpPr>
        <p:spPr>
          <a:xfrm xmlns:a="http://schemas.openxmlformats.org/drawingml/2006/main">
            <a:off x="5810250" y="4067175"/>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F766F"/>
                </a:solidFill>
                <a:latin typeface="Aptos"/>
                <a:ea typeface="Aptos"/>
                <a:cs typeface="Aptos"/>
              </a:defRPr>
            </a:pPr>
            <a:r>
              <a:rPr sz="825" b="0">
                <a:solidFill>
                  <a:srgbClr val="6F766F"/>
                </a:solidFill>
                <a:latin typeface="Aptos"/>
                <a:ea typeface="Aptos"/>
                <a:cs typeface="Aptos"/>
              </a:rPr>
              <a:t>Normalization shocks to FCN, shipping and energy</a:t>
            </a:r>
          </a:p>
        </p:txBody>
      </p:sp>
      <p:sp>
        <p:nvSpPr>
          <p:cNvPr id="31" name="">
            <a:extLst xmlns:a="http://schemas.openxmlformats.org/drawingml/2006/main">
              <a:ext uri="{FF2B5EF4-FFF2-40B4-BE49-F238E27FC236}">
                <a16:creationId xmlns:a16="http://schemas.microsoft.com/office/drawing/2014/main" id="{07AF3F10-DA03-49C1-85BA-54A8168A6503}"/>
              </a:ext>
            </a:extLst>
          </p:cNvPr>
          <p:cNvSpPr>
            <a:spLocks xmlns:a="http://schemas.openxmlformats.org/drawingml/2006/main" noGrp="1"/>
          </p:cNvSpPr>
          <p:nvPr/>
        </p:nvSpPr>
        <p:spPr>
          <a:xfrm xmlns:a="http://schemas.openxmlformats.org/drawingml/2006/main">
            <a:off x="5810250" y="45148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BLOCKADE WORSENS</a:t>
            </a:r>
          </a:p>
        </p:txBody>
      </p:sp>
      <p:sp>
        <p:nvSpPr>
          <p:cNvPr id="32" name="">
            <a:extLst xmlns:a="http://schemas.openxmlformats.org/drawingml/2006/main">
              <a:ext uri="{FF2B5EF4-FFF2-40B4-BE49-F238E27FC236}">
                <a16:creationId xmlns:a16="http://schemas.microsoft.com/office/drawing/2014/main" id="{8E6A1F2C-A6F7-4A3D-A5F4-BEC0DBCB1F4A}"/>
              </a:ext>
            </a:extLst>
          </p:cNvPr>
          <p:cNvSpPr>
            <a:spLocks xmlns:a="http://schemas.openxmlformats.org/drawingml/2006/main" noGrp="1"/>
          </p:cNvSpPr>
          <p:nvPr/>
        </p:nvSpPr>
        <p:spPr>
          <a:xfrm xmlns:a="http://schemas.openxmlformats.org/drawingml/2006/main">
            <a:off x="10477500" y="4438650"/>
            <a:ext cx="895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875" b="0">
                <a:solidFill>
                  <a:srgbClr val="2D5C56"/>
                </a:solidFill>
                <a:latin typeface="Georgia"/>
                <a:ea typeface="Georgia"/>
                <a:cs typeface="Georgia"/>
              </a:defRPr>
            </a:pPr>
            <a:r>
              <a:rPr sz="1875" b="0">
                <a:solidFill>
                  <a:srgbClr val="2D5C56"/>
                </a:solidFill>
                <a:latin typeface="Georgia"/>
                <a:ea typeface="Georgia"/>
                <a:cs typeface="Georgia"/>
              </a:rPr>
              <a:t>+4.7%</a:t>
            </a:r>
          </a:p>
        </p:txBody>
      </p:sp>
      <p:sp>
        <p:nvSpPr>
          <p:cNvPr id="33" name="scenario-bg-2">
            <a:extLst xmlns:a="http://schemas.openxmlformats.org/drawingml/2006/main">
              <a:ext uri="{FF2B5EF4-FFF2-40B4-BE49-F238E27FC236}">
                <a16:creationId xmlns:a16="http://schemas.microsoft.com/office/drawing/2014/main" id="{BAE9B6DE-96CE-4E97-A0AA-5ACB5458AA8C}"/>
              </a:ext>
            </a:extLst>
          </p:cNvPr>
          <p:cNvSpPr>
            <a:spLocks xmlns:a="http://schemas.openxmlformats.org/drawingml/2006/main" noGrp="1"/>
          </p:cNvSpPr>
          <p:nvPr/>
        </p:nvSpPr>
        <p:spPr>
          <a:xfrm xmlns:a="http://schemas.openxmlformats.org/drawingml/2006/main">
            <a:off x="5810250" y="4810125"/>
            <a:ext cx="4819650" cy="15240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34" name="scenario-bar-2">
            <a:extLst xmlns:a="http://schemas.openxmlformats.org/drawingml/2006/main">
              <a:ext uri="{FF2B5EF4-FFF2-40B4-BE49-F238E27FC236}">
                <a16:creationId xmlns:a16="http://schemas.microsoft.com/office/drawing/2014/main" id="{CDECC85B-1D93-4147-A09B-B466385E6A62}"/>
              </a:ext>
            </a:extLst>
          </p:cNvPr>
          <p:cNvSpPr>
            <a:spLocks xmlns:a="http://schemas.openxmlformats.org/drawingml/2006/main" noGrp="1"/>
          </p:cNvSpPr>
          <p:nvPr/>
        </p:nvSpPr>
        <p:spPr>
          <a:xfrm xmlns:a="http://schemas.openxmlformats.org/drawingml/2006/main">
            <a:off x="5810250" y="4810125"/>
            <a:ext cx="2562225" cy="15240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3E5F6BD5-F037-439F-9A8F-07408D9950DA}"/>
              </a:ext>
            </a:extLst>
          </p:cNvPr>
          <p:cNvSpPr>
            <a:spLocks xmlns:a="http://schemas.openxmlformats.org/drawingml/2006/main" noGrp="1"/>
          </p:cNvSpPr>
          <p:nvPr/>
        </p:nvSpPr>
        <p:spPr>
          <a:xfrm xmlns:a="http://schemas.openxmlformats.org/drawingml/2006/main">
            <a:off x="10725150" y="4772025"/>
            <a:ext cx="64770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+USD 1.50m</a:t>
            </a:r>
          </a:p>
        </p:txBody>
      </p:sp>
      <p:sp>
        <p:nvSpPr>
          <p:cNvPr id="36" name="">
            <a:extLst xmlns:a="http://schemas.openxmlformats.org/drawingml/2006/main">
              <a:ext uri="{FF2B5EF4-FFF2-40B4-BE49-F238E27FC236}">
                <a16:creationId xmlns:a16="http://schemas.microsoft.com/office/drawing/2014/main" id="{6A62B264-2442-4546-B02D-7300FE3D4C31}"/>
              </a:ext>
            </a:extLst>
          </p:cNvPr>
          <p:cNvSpPr>
            <a:spLocks xmlns:a="http://schemas.openxmlformats.org/drawingml/2006/main" noGrp="1"/>
          </p:cNvSpPr>
          <p:nvPr/>
        </p:nvSpPr>
        <p:spPr>
          <a:xfrm xmlns:a="http://schemas.openxmlformats.org/drawingml/2006/main">
            <a:off x="5810250" y="5067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F766F"/>
                </a:solidFill>
                <a:latin typeface="Aptos"/>
                <a:ea typeface="Aptos"/>
                <a:cs typeface="Aptos"/>
              </a:defRPr>
            </a:pPr>
            <a:r>
              <a:rPr sz="825" b="0">
                <a:solidFill>
                  <a:srgbClr val="6F766F"/>
                </a:solidFill>
                <a:latin typeface="Aptos"/>
                <a:ea typeface="Aptos"/>
                <a:cs typeface="Aptos"/>
              </a:rPr>
              <a:t>Risk-premium extension, no probability assigned</a:t>
            </a:r>
          </a:p>
        </p:txBody>
      </p:sp>
      <p:sp>
        <p:nvSpPr>
          <p:cNvPr id="37" name="scenario-question-rule">
            <a:extLst xmlns:a="http://schemas.openxmlformats.org/drawingml/2006/main">
              <a:ext uri="{FF2B5EF4-FFF2-40B4-BE49-F238E27FC236}">
                <a16:creationId xmlns:a16="http://schemas.microsoft.com/office/drawing/2014/main" id="{9A13CC6A-FA9A-4469-B566-CD5F77AF88AE}"/>
              </a:ext>
            </a:extLst>
          </p:cNvPr>
          <p:cNvSpPr>
            <a:spLocks xmlns:a="http://schemas.openxmlformats.org/drawingml/2006/main" noGrp="1"/>
          </p:cNvSpPr>
          <p:nvPr/>
        </p:nvSpPr>
        <p:spPr>
          <a:xfrm xmlns:a="http://schemas.openxmlformats.org/drawingml/2006/main">
            <a:off x="5810250" y="5467350"/>
            <a:ext cx="55626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43822105-1888-4A18-A90A-F71CAB31B1E3}"/>
              </a:ext>
            </a:extLst>
          </p:cNvPr>
          <p:cNvSpPr>
            <a:spLocks xmlns:a="http://schemas.openxmlformats.org/drawingml/2006/main" noGrp="1"/>
          </p:cNvSpPr>
          <p:nvPr/>
        </p:nvSpPr>
        <p:spPr>
          <a:xfrm xmlns:a="http://schemas.openxmlformats.org/drawingml/2006/main">
            <a:off x="5810250" y="56388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B78F50"/>
                </a:solidFill>
                <a:latin typeface="Aptos"/>
                <a:ea typeface="Aptos"/>
                <a:cs typeface="Aptos"/>
              </a:defRPr>
            </a:pPr>
            <a:r>
              <a:rPr sz="675" b="1">
                <a:solidFill>
                  <a:srgbClr val="B78F50"/>
                </a:solidFill>
                <a:latin typeface="Aptos"/>
                <a:ea typeface="Aptos"/>
                <a:cs typeface="Aptos"/>
              </a:rPr>
              <a:t>NEXT RM MOVE</a:t>
            </a:r>
          </a:p>
        </p:txBody>
      </p:sp>
      <p:sp>
        <p:nvSpPr>
          <p:cNvPr id="39" name="">
            <a:extLst xmlns:a="http://schemas.openxmlformats.org/drawingml/2006/main">
              <a:ext uri="{FF2B5EF4-FFF2-40B4-BE49-F238E27FC236}">
                <a16:creationId xmlns:a16="http://schemas.microsoft.com/office/drawing/2014/main" id="{165C550F-80AD-457A-8268-0AC928E80732}"/>
              </a:ext>
            </a:extLst>
          </p:cNvPr>
          <p:cNvSpPr>
            <a:spLocks xmlns:a="http://schemas.openxmlformats.org/drawingml/2006/main" noGrp="1"/>
          </p:cNvSpPr>
          <p:nvPr/>
        </p:nvSpPr>
        <p:spPr>
          <a:xfrm xmlns:a="http://schemas.openxmlformats.org/drawingml/2006/main">
            <a:off x="7191375" y="5610225"/>
            <a:ext cx="4114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7201E"/>
                </a:solidFill>
                <a:latin typeface="Georgia"/>
                <a:ea typeface="Georgia"/>
                <a:cs typeface="Georgia"/>
              </a:defRPr>
            </a:pPr>
            <a:r>
              <a:rPr sz="1050" b="0">
                <a:solidFill>
                  <a:srgbClr val="17201E"/>
                </a:solidFill>
                <a:latin typeface="Georgia"/>
                <a:ea typeface="Georgia"/>
                <a:cs typeface="Georgia"/>
              </a:rPr>
              <a:t>Ring-fence seed capital; map the USD 2.6m cash gap.</a:t>
            </a:r>
          </a:p>
        </p:txBody>
      </p:sp>
      <p:sp>
        <p:nvSpPr>
          <p:cNvPr id="40" name="footer-rule-7">
            <a:extLst xmlns:a="http://schemas.openxmlformats.org/drawingml/2006/main">
              <a:ext uri="{FF2B5EF4-FFF2-40B4-BE49-F238E27FC236}">
                <a16:creationId xmlns:a16="http://schemas.microsoft.com/office/drawing/2014/main" id="{F9CA806A-429D-401C-BD94-94D240D390A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B5F76601-ACC3-4F9F-9A9F-641BFA120C41}"/>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holdings.csv · instruments.csv SYN-SP-0505 · event_log.csv 2026-08-05 · scenarios are illustrative</a:t>
            </a:r>
          </a:p>
        </p:txBody>
      </p:sp>
      <p:sp>
        <p:nvSpPr>
          <p:cNvPr id="42" name="">
            <a:extLst xmlns:a="http://schemas.openxmlformats.org/drawingml/2006/main">
              <a:ext uri="{FF2B5EF4-FFF2-40B4-BE49-F238E27FC236}">
                <a16:creationId xmlns:a16="http://schemas.microsoft.com/office/drawing/2014/main" id="{3618FFDA-BEC4-44C4-B1B5-DE90764BC97E}"/>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04</a:t>
            </a:r>
          </a:p>
        </p:txBody>
      </p:sp>
    </p:spTree>
    <p:extLst>
      <p:ext uri="{BB962C8B-B14F-4D97-AF65-F5344CB8AC3E}">
        <p14:creationId xmlns:p14="http://schemas.microsoft.com/office/powerpoint/2010/main" val="3858579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FC0CF51C-D80C-49DB-AD84-96A7DAB1E2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10-marker">
            <a:extLst xmlns:a="http://schemas.openxmlformats.org/drawingml/2006/main">
              <a:ext uri="{FF2B5EF4-FFF2-40B4-BE49-F238E27FC236}">
                <a16:creationId xmlns:a16="http://schemas.microsoft.com/office/drawing/2014/main" id="{D676F46C-357D-4EC4-AF14-E77D83A9B8DE}"/>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10-label">
            <a:extLst xmlns:a="http://schemas.openxmlformats.org/drawingml/2006/main">
              <a:ext uri="{FF2B5EF4-FFF2-40B4-BE49-F238E27FC236}">
                <a16:creationId xmlns:a16="http://schemas.microsoft.com/office/drawing/2014/main" id="{8CDF3F24-11C4-4960-A611-AB6DB0706142}"/>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LIVE PROTOTYPE → BANK-SCALE PATH</a:t>
            </a:r>
          </a:p>
        </p:txBody>
      </p:sp>
      <p:sp>
        <p:nvSpPr>
          <p:cNvPr id="4" name="">
            <a:extLst xmlns:a="http://schemas.openxmlformats.org/drawingml/2006/main">
              <a:ext uri="{FF2B5EF4-FFF2-40B4-BE49-F238E27FC236}">
                <a16:creationId xmlns:a16="http://schemas.microsoft.com/office/drawing/2014/main" id="{74782968-CCF0-40D0-B457-DF651DCB365F}"/>
              </a:ext>
            </a:extLst>
          </p:cNvPr>
          <p:cNvSpPr>
            <a:spLocks xmlns:a="http://schemas.openxmlformats.org/drawingml/2006/main" noGrp="1"/>
          </p:cNvSpPr>
          <p:nvPr/>
        </p:nvSpPr>
        <p:spPr>
          <a:xfrm xmlns:a="http://schemas.openxmlformats.org/drawingml/2006/main">
            <a:off x="609600" y="685800"/>
            <a:ext cx="104775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17201E"/>
                </a:solidFill>
                <a:latin typeface="Georgia"/>
                <a:ea typeface="Georgia"/>
                <a:cs typeface="Georgia"/>
              </a:defRPr>
            </a:pPr>
            <a:r>
              <a:rPr sz="3150" b="0">
                <a:solidFill>
                  <a:srgbClr val="17201E"/>
                </a:solidFill>
                <a:latin typeface="Georgia"/>
                <a:ea typeface="Georgia"/>
                <a:cs typeface="Georgia"/>
              </a:rPr>
              <a:t>The trust loop is live; scaling is an integration and governance problem—not an invention problem.</a:t>
            </a:r>
          </a:p>
        </p:txBody>
      </p:sp>
      <p:sp>
        <p:nvSpPr>
          <p:cNvPr id="5" name="">
            <a:extLst xmlns:a="http://schemas.openxmlformats.org/drawingml/2006/main">
              <a:ext uri="{FF2B5EF4-FFF2-40B4-BE49-F238E27FC236}">
                <a16:creationId xmlns:a16="http://schemas.microsoft.com/office/drawing/2014/main" id="{515E0214-A414-4B15-8CAA-7391D9963A81}"/>
              </a:ext>
            </a:extLst>
          </p:cNvPr>
          <p:cNvSpPr>
            <a:spLocks xmlns:a="http://schemas.openxmlformats.org/drawingml/2006/main" noGrp="1"/>
          </p:cNvSpPr>
          <p:nvPr/>
        </p:nvSpPr>
        <p:spPr>
          <a:xfrm xmlns:a="http://schemas.openxmlformats.org/drawingml/2006/main">
            <a:off x="609600" y="1695450"/>
            <a:ext cx="962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F766F"/>
                </a:solidFill>
                <a:latin typeface="Aptos"/>
                <a:ea typeface="Aptos"/>
                <a:cs typeface="Aptos"/>
              </a:defRPr>
            </a:pPr>
            <a:r>
              <a:rPr sz="1200" b="0">
                <a:solidFill>
                  <a:srgbClr val="6F766F"/>
                </a:solidFill>
                <a:latin typeface="Aptos"/>
                <a:ea typeface="Aptos"/>
                <a:cs typeface="Aptos"/>
              </a:rPr>
              <a:t>Today's Vercel deployment proves the workflow. Full scale hardens identity, data, policy and operations.</a:t>
            </a:r>
          </a:p>
        </p:txBody>
      </p:sp>
      <p:sp>
        <p:nvSpPr>
          <p:cNvPr id="6" name="work-metrics">
            <a:extLst xmlns:a="http://schemas.openxmlformats.org/drawingml/2006/main">
              <a:ext uri="{FF2B5EF4-FFF2-40B4-BE49-F238E27FC236}">
                <a16:creationId xmlns:a16="http://schemas.microsoft.com/office/drawing/2014/main" id="{581AFAFA-6E5E-47A6-8AC9-673B4987C5C8}"/>
              </a:ext>
            </a:extLst>
          </p:cNvPr>
          <p:cNvSpPr>
            <a:spLocks xmlns:a="http://schemas.openxmlformats.org/drawingml/2006/main" noGrp="1"/>
          </p:cNvSpPr>
          <p:nvPr/>
        </p:nvSpPr>
        <p:spPr>
          <a:xfrm xmlns:a="http://schemas.openxmlformats.org/drawingml/2006/main">
            <a:off x="609600" y="2095500"/>
            <a:ext cx="2876550" cy="3810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5CE3E2D-C7F7-4F2E-8A2C-D5B745D4FBB0}"/>
              </a:ext>
            </a:extLst>
          </p:cNvPr>
          <p:cNvSpPr>
            <a:spLocks xmlns:a="http://schemas.openxmlformats.org/drawingml/2006/main" noGrp="1"/>
          </p:cNvSpPr>
          <p:nvPr/>
        </p:nvSpPr>
        <p:spPr>
          <a:xfrm xmlns:a="http://schemas.openxmlformats.org/drawingml/2006/main">
            <a:off x="857250" y="2371725"/>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E7D6B5"/>
                </a:solidFill>
                <a:latin typeface="Georgia"/>
                <a:ea typeface="Georgia"/>
                <a:cs typeface="Georgia"/>
              </a:defRPr>
            </a:pPr>
            <a:r>
              <a:rPr sz="3150" b="0">
                <a:solidFill>
                  <a:srgbClr val="E7D6B5"/>
                </a:solidFill>
                <a:latin typeface="Georgia"/>
                <a:ea typeface="Georgia"/>
                <a:cs typeface="Georgia"/>
              </a:rPr>
              <a:t>11</a:t>
            </a:r>
          </a:p>
        </p:txBody>
      </p:sp>
      <p:sp>
        <p:nvSpPr>
          <p:cNvPr id="8" name="">
            <a:extLst xmlns:a="http://schemas.openxmlformats.org/drawingml/2006/main">
              <a:ext uri="{FF2B5EF4-FFF2-40B4-BE49-F238E27FC236}">
                <a16:creationId xmlns:a16="http://schemas.microsoft.com/office/drawing/2014/main" id="{9654C286-A45A-4607-9A5F-B3472DC4ECD0}"/>
              </a:ext>
            </a:extLst>
          </p:cNvPr>
          <p:cNvSpPr>
            <a:spLocks xmlns:a="http://schemas.openxmlformats.org/drawingml/2006/main" noGrp="1"/>
          </p:cNvSpPr>
          <p:nvPr/>
        </p:nvSpPr>
        <p:spPr>
          <a:xfrm xmlns:a="http://schemas.openxmlformats.org/drawingml/2006/main">
            <a:off x="857250" y="2828925"/>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SOURCE DATASETS JOINED</a:t>
            </a:r>
          </a:p>
        </p:txBody>
      </p:sp>
      <p:sp>
        <p:nvSpPr>
          <p:cNvPr id="9" name="work-rule-1">
            <a:extLst xmlns:a="http://schemas.openxmlformats.org/drawingml/2006/main">
              <a:ext uri="{FF2B5EF4-FFF2-40B4-BE49-F238E27FC236}">
                <a16:creationId xmlns:a16="http://schemas.microsoft.com/office/drawing/2014/main" id="{A2481824-B7D6-432D-BF3C-505C35DD42E1}"/>
              </a:ext>
            </a:extLst>
          </p:cNvPr>
          <p:cNvSpPr>
            <a:spLocks xmlns:a="http://schemas.openxmlformats.org/drawingml/2006/main" noGrp="1"/>
          </p:cNvSpPr>
          <p:nvPr/>
        </p:nvSpPr>
        <p:spPr>
          <a:xfrm xmlns:a="http://schemas.openxmlformats.org/drawingml/2006/main">
            <a:off x="857250" y="3133725"/>
            <a:ext cx="238125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CB4C2BA-6DE5-41A9-94CA-C6F50416CF1F}"/>
              </a:ext>
            </a:extLst>
          </p:cNvPr>
          <p:cNvSpPr>
            <a:spLocks xmlns:a="http://schemas.openxmlformats.org/drawingml/2006/main" noGrp="1"/>
          </p:cNvSpPr>
          <p:nvPr/>
        </p:nvSpPr>
        <p:spPr>
          <a:xfrm xmlns:a="http://schemas.openxmlformats.org/drawingml/2006/main">
            <a:off x="857250" y="3381375"/>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0">
                <a:solidFill>
                  <a:srgbClr val="E7D6B5"/>
                </a:solidFill>
                <a:latin typeface="Georgia"/>
                <a:ea typeface="Georgia"/>
                <a:cs typeface="Georgia"/>
              </a:defRPr>
            </a:pPr>
            <a:r>
              <a:rPr sz="2850" b="0">
                <a:solidFill>
                  <a:srgbClr val="E7D6B5"/>
                </a:solidFill>
                <a:latin typeface="Georgia"/>
                <a:ea typeface="Georgia"/>
                <a:cs typeface="Georgia"/>
              </a:rPr>
              <a:t>20 / 24</a:t>
            </a:r>
          </a:p>
        </p:txBody>
      </p:sp>
      <p:sp>
        <p:nvSpPr>
          <p:cNvPr id="11" name="">
            <a:extLst xmlns:a="http://schemas.openxmlformats.org/drawingml/2006/main">
              <a:ext uri="{FF2B5EF4-FFF2-40B4-BE49-F238E27FC236}">
                <a16:creationId xmlns:a16="http://schemas.microsoft.com/office/drawing/2014/main" id="{CC2C13F2-6EED-4573-96AB-4285CDCAA08E}"/>
              </a:ext>
            </a:extLst>
          </p:cNvPr>
          <p:cNvSpPr>
            <a:spLocks xmlns:a="http://schemas.openxmlformats.org/drawingml/2006/main" noGrp="1"/>
          </p:cNvSpPr>
          <p:nvPr/>
        </p:nvSpPr>
        <p:spPr>
          <a:xfrm xmlns:a="http://schemas.openxmlformats.org/drawingml/2006/main">
            <a:off x="857250" y="3838575"/>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CLIENTS / PORTFOLIOS RANKED</a:t>
            </a:r>
          </a:p>
        </p:txBody>
      </p:sp>
      <p:sp>
        <p:nvSpPr>
          <p:cNvPr id="12" name="work-rule-2">
            <a:extLst xmlns:a="http://schemas.openxmlformats.org/drawingml/2006/main">
              <a:ext uri="{FF2B5EF4-FFF2-40B4-BE49-F238E27FC236}">
                <a16:creationId xmlns:a16="http://schemas.microsoft.com/office/drawing/2014/main" id="{ECAEA2AB-3D9D-4E98-95C0-D9D81293BA27}"/>
              </a:ext>
            </a:extLst>
          </p:cNvPr>
          <p:cNvSpPr>
            <a:spLocks xmlns:a="http://schemas.openxmlformats.org/drawingml/2006/main" noGrp="1"/>
          </p:cNvSpPr>
          <p:nvPr/>
        </p:nvSpPr>
        <p:spPr>
          <a:xfrm xmlns:a="http://schemas.openxmlformats.org/drawingml/2006/main">
            <a:off x="857250" y="4124325"/>
            <a:ext cx="238125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074B47C-0B64-4F0B-BD45-7E8EA214CB62}"/>
              </a:ext>
            </a:extLst>
          </p:cNvPr>
          <p:cNvSpPr>
            <a:spLocks xmlns:a="http://schemas.openxmlformats.org/drawingml/2006/main" noGrp="1"/>
          </p:cNvSpPr>
          <p:nvPr/>
        </p:nvSpPr>
        <p:spPr>
          <a:xfrm xmlns:a="http://schemas.openxmlformats.org/drawingml/2006/main">
            <a:off x="857250" y="4371975"/>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E7D6B5"/>
                </a:solidFill>
                <a:latin typeface="Georgia"/>
                <a:ea typeface="Georgia"/>
                <a:cs typeface="Georgia"/>
              </a:defRPr>
            </a:pPr>
            <a:r>
              <a:rPr sz="3150" b="0">
                <a:solidFill>
                  <a:srgbClr val="E7D6B5"/>
                </a:solidFill>
                <a:latin typeface="Georgia"/>
                <a:ea typeface="Georgia"/>
                <a:cs typeface="Georgia"/>
              </a:rPr>
              <a:t>154</a:t>
            </a:r>
          </a:p>
        </p:txBody>
      </p:sp>
      <p:sp>
        <p:nvSpPr>
          <p:cNvPr id="14" name="">
            <a:extLst xmlns:a="http://schemas.openxmlformats.org/drawingml/2006/main">
              <a:ext uri="{FF2B5EF4-FFF2-40B4-BE49-F238E27FC236}">
                <a16:creationId xmlns:a16="http://schemas.microsoft.com/office/drawing/2014/main" id="{D98D2E67-E996-434F-845A-51B556F81BBB}"/>
              </a:ext>
            </a:extLst>
          </p:cNvPr>
          <p:cNvSpPr>
            <a:spLocks xmlns:a="http://schemas.openxmlformats.org/drawingml/2006/main" noGrp="1"/>
          </p:cNvSpPr>
          <p:nvPr/>
        </p:nvSpPr>
        <p:spPr>
          <a:xfrm xmlns:a="http://schemas.openxmlformats.org/drawingml/2006/main">
            <a:off x="857250" y="4838700"/>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CONTROLLED PASSAGES PREPARED</a:t>
            </a:r>
          </a:p>
        </p:txBody>
      </p:sp>
      <p:sp>
        <p:nvSpPr>
          <p:cNvPr id="15" name="work-rule-3">
            <a:extLst xmlns:a="http://schemas.openxmlformats.org/drawingml/2006/main">
              <a:ext uri="{FF2B5EF4-FFF2-40B4-BE49-F238E27FC236}">
                <a16:creationId xmlns:a16="http://schemas.microsoft.com/office/drawing/2014/main" id="{3B67D3C6-E194-45DC-91B2-DAA8B789523D}"/>
              </a:ext>
            </a:extLst>
          </p:cNvPr>
          <p:cNvSpPr>
            <a:spLocks xmlns:a="http://schemas.openxmlformats.org/drawingml/2006/main" noGrp="1"/>
          </p:cNvSpPr>
          <p:nvPr/>
        </p:nvSpPr>
        <p:spPr>
          <a:xfrm xmlns:a="http://schemas.openxmlformats.org/drawingml/2006/main">
            <a:off x="857250" y="5133975"/>
            <a:ext cx="238125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7ADD99F-7D26-4254-8455-ED9D8297DD33}"/>
              </a:ext>
            </a:extLst>
          </p:cNvPr>
          <p:cNvSpPr>
            <a:spLocks xmlns:a="http://schemas.openxmlformats.org/drawingml/2006/main" noGrp="1"/>
          </p:cNvSpPr>
          <p:nvPr/>
        </p:nvSpPr>
        <p:spPr>
          <a:xfrm xmlns:a="http://schemas.openxmlformats.org/drawingml/2006/main">
            <a:off x="857250" y="5181600"/>
            <a:ext cx="21431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0">
                <a:solidFill>
                  <a:srgbClr val="E7D6B5"/>
                </a:solidFill>
                <a:latin typeface="Georgia"/>
                <a:ea typeface="Georgia"/>
                <a:cs typeface="Georgia"/>
              </a:defRPr>
            </a:pPr>
            <a:r>
              <a:rPr sz="2100" b="0">
                <a:solidFill>
                  <a:srgbClr val="E7D6B5"/>
                </a:solidFill>
                <a:latin typeface="Georgia"/>
                <a:ea typeface="Georgia"/>
                <a:cs typeface="Georgia"/>
              </a:rPr>
              <a:t>38 / 38</a:t>
            </a:r>
          </a:p>
        </p:txBody>
      </p:sp>
      <p:sp>
        <p:nvSpPr>
          <p:cNvPr id="17" name="">
            <a:extLst xmlns:a="http://schemas.openxmlformats.org/drawingml/2006/main">
              <a:ext uri="{FF2B5EF4-FFF2-40B4-BE49-F238E27FC236}">
                <a16:creationId xmlns:a16="http://schemas.microsoft.com/office/drawing/2014/main" id="{E52839F8-2B73-4895-9B78-DCA570B437EB}"/>
              </a:ext>
            </a:extLst>
          </p:cNvPr>
          <p:cNvSpPr>
            <a:spLocks xmlns:a="http://schemas.openxmlformats.org/drawingml/2006/main" noGrp="1"/>
          </p:cNvSpPr>
          <p:nvPr/>
        </p:nvSpPr>
        <p:spPr>
          <a:xfrm xmlns:a="http://schemas.openxmlformats.org/drawingml/2006/main">
            <a:off x="857250" y="5543550"/>
            <a:ext cx="2143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9EAAA6"/>
                </a:solidFill>
                <a:latin typeface="Aptos"/>
                <a:ea typeface="Aptos"/>
                <a:cs typeface="Aptos"/>
              </a:defRPr>
            </a:pPr>
            <a:r>
              <a:rPr sz="750" b="1">
                <a:solidFill>
                  <a:srgbClr val="9EAAA6"/>
                </a:solidFill>
                <a:latin typeface="Aptos"/>
                <a:ea typeface="Aptos"/>
                <a:cs typeface="Aptos"/>
              </a:rPr>
              <a:t>PYTHON TESTS PASS</a:t>
            </a:r>
          </a:p>
        </p:txBody>
      </p:sp>
      <p:sp>
        <p:nvSpPr>
          <p:cNvPr id="18" name="">
            <a:extLst xmlns:a="http://schemas.openxmlformats.org/drawingml/2006/main">
              <a:ext uri="{FF2B5EF4-FFF2-40B4-BE49-F238E27FC236}">
                <a16:creationId xmlns:a16="http://schemas.microsoft.com/office/drawing/2014/main" id="{49E62390-D804-4F63-9F52-947EB5A12044}"/>
              </a:ext>
            </a:extLst>
          </p:cNvPr>
          <p:cNvSpPr>
            <a:spLocks xmlns:a="http://schemas.openxmlformats.org/drawingml/2006/main" noGrp="1"/>
          </p:cNvSpPr>
          <p:nvPr/>
        </p:nvSpPr>
        <p:spPr>
          <a:xfrm xmlns:a="http://schemas.openxmlformats.org/drawingml/2006/main">
            <a:off x="3914775" y="2152650"/>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RUNNING NOW</a:t>
            </a:r>
          </a:p>
        </p:txBody>
      </p:sp>
      <p:sp>
        <p:nvSpPr>
          <p:cNvPr id="19" name="code-row-1">
            <a:extLst xmlns:a="http://schemas.openxmlformats.org/drawingml/2006/main">
              <a:ext uri="{FF2B5EF4-FFF2-40B4-BE49-F238E27FC236}">
                <a16:creationId xmlns:a16="http://schemas.microsoft.com/office/drawing/2014/main" id="{CE88B1F7-0E19-49E1-8678-5FAC02459B80}"/>
              </a:ext>
            </a:extLst>
          </p:cNvPr>
          <p:cNvSpPr>
            <a:spLocks xmlns:a="http://schemas.openxmlformats.org/drawingml/2006/main" noGrp="1"/>
          </p:cNvSpPr>
          <p:nvPr/>
        </p:nvSpPr>
        <p:spPr>
          <a:xfrm xmlns:a="http://schemas.openxmlformats.org/drawingml/2006/main">
            <a:off x="3914775" y="25431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0" name="">
            <a:extLst xmlns:a="http://schemas.openxmlformats.org/drawingml/2006/main">
              <a:ext uri="{FF2B5EF4-FFF2-40B4-BE49-F238E27FC236}">
                <a16:creationId xmlns:a16="http://schemas.microsoft.com/office/drawing/2014/main" id="{7EFA1538-FDB3-43C5-BBD0-0DA022F1F051}"/>
              </a:ext>
            </a:extLst>
          </p:cNvPr>
          <p:cNvSpPr>
            <a:spLocks xmlns:a="http://schemas.openxmlformats.org/drawingml/2006/main" noGrp="1"/>
          </p:cNvSpPr>
          <p:nvPr/>
        </p:nvSpPr>
        <p:spPr>
          <a:xfrm xmlns:a="http://schemas.openxmlformats.org/drawingml/2006/main">
            <a:off x="4076700" y="26289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tessera/engine.py</a:t>
            </a:r>
          </a:p>
        </p:txBody>
      </p:sp>
      <p:sp>
        <p:nvSpPr>
          <p:cNvPr id="21" name="">
            <a:extLst xmlns:a="http://schemas.openxmlformats.org/drawingml/2006/main">
              <a:ext uri="{FF2B5EF4-FFF2-40B4-BE49-F238E27FC236}">
                <a16:creationId xmlns:a16="http://schemas.microsoft.com/office/drawing/2014/main" id="{D28B5E86-4BD8-40C8-BA51-E759A5F8FCD9}"/>
              </a:ext>
            </a:extLst>
          </p:cNvPr>
          <p:cNvSpPr>
            <a:spLocks xmlns:a="http://schemas.openxmlformats.org/drawingml/2006/main" noGrp="1"/>
          </p:cNvSpPr>
          <p:nvPr/>
        </p:nvSpPr>
        <p:spPr>
          <a:xfrm xmlns:a="http://schemas.openxmlformats.org/drawingml/2006/main">
            <a:off x="5610225" y="26289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deterministic joins · controls · ranking · scenarios</a:t>
            </a:r>
          </a:p>
        </p:txBody>
      </p:sp>
      <p:sp>
        <p:nvSpPr>
          <p:cNvPr id="22" name="code-row-2">
            <a:extLst xmlns:a="http://schemas.openxmlformats.org/drawingml/2006/main">
              <a:ext uri="{FF2B5EF4-FFF2-40B4-BE49-F238E27FC236}">
                <a16:creationId xmlns:a16="http://schemas.microsoft.com/office/drawing/2014/main" id="{B4FA45FE-C6AF-4AD4-87BD-58EAD2C4C8C7}"/>
              </a:ext>
            </a:extLst>
          </p:cNvPr>
          <p:cNvSpPr>
            <a:spLocks xmlns:a="http://schemas.openxmlformats.org/drawingml/2006/main" noGrp="1"/>
          </p:cNvSpPr>
          <p:nvPr/>
        </p:nvSpPr>
        <p:spPr>
          <a:xfrm xmlns:a="http://schemas.openxmlformats.org/drawingml/2006/main">
            <a:off x="3914775" y="32670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3" name="">
            <a:extLst xmlns:a="http://schemas.openxmlformats.org/drawingml/2006/main">
              <a:ext uri="{FF2B5EF4-FFF2-40B4-BE49-F238E27FC236}">
                <a16:creationId xmlns:a16="http://schemas.microsoft.com/office/drawing/2014/main" id="{6D0F489B-36DC-423B-A8D5-9BA6724084BA}"/>
              </a:ext>
            </a:extLst>
          </p:cNvPr>
          <p:cNvSpPr>
            <a:spLocks xmlns:a="http://schemas.openxmlformats.org/drawingml/2006/main" noGrp="1"/>
          </p:cNvSpPr>
          <p:nvPr/>
        </p:nvSpPr>
        <p:spPr>
          <a:xfrm xmlns:a="http://schemas.openxmlformats.org/drawingml/2006/main">
            <a:off x="4076700" y="3352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tessera/retrieval.py</a:t>
            </a:r>
          </a:p>
        </p:txBody>
      </p:sp>
      <p:sp>
        <p:nvSpPr>
          <p:cNvPr id="24" name="">
            <a:extLst xmlns:a="http://schemas.openxmlformats.org/drawingml/2006/main">
              <a:ext uri="{FF2B5EF4-FFF2-40B4-BE49-F238E27FC236}">
                <a16:creationId xmlns:a16="http://schemas.microsoft.com/office/drawing/2014/main" id="{FB03EFFD-DA2C-4041-8E82-87056A723366}"/>
              </a:ext>
            </a:extLst>
          </p:cNvPr>
          <p:cNvSpPr>
            <a:spLocks xmlns:a="http://schemas.openxmlformats.org/drawingml/2006/main" noGrp="1"/>
          </p:cNvSpPr>
          <p:nvPr/>
        </p:nvSpPr>
        <p:spPr>
          <a:xfrm xmlns:a="http://schemas.openxmlformats.org/drawingml/2006/main">
            <a:off x="5610225" y="33528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Chroma Cloud · client scope · as-of guard · feature-gated</a:t>
            </a:r>
          </a:p>
        </p:txBody>
      </p:sp>
      <p:sp>
        <p:nvSpPr>
          <p:cNvPr id="25" name="code-row-3">
            <a:extLst xmlns:a="http://schemas.openxmlformats.org/drawingml/2006/main">
              <a:ext uri="{FF2B5EF4-FFF2-40B4-BE49-F238E27FC236}">
                <a16:creationId xmlns:a16="http://schemas.microsoft.com/office/drawing/2014/main" id="{EDC0CF30-53E6-4C2D-887F-D3022909B3B1}"/>
              </a:ext>
            </a:extLst>
          </p:cNvPr>
          <p:cNvSpPr>
            <a:spLocks xmlns:a="http://schemas.openxmlformats.org/drawingml/2006/main" noGrp="1"/>
          </p:cNvSpPr>
          <p:nvPr/>
        </p:nvSpPr>
        <p:spPr>
          <a:xfrm xmlns:a="http://schemas.openxmlformats.org/drawingml/2006/main">
            <a:off x="3914775" y="39909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6" name="">
            <a:extLst xmlns:a="http://schemas.openxmlformats.org/drawingml/2006/main">
              <a:ext uri="{FF2B5EF4-FFF2-40B4-BE49-F238E27FC236}">
                <a16:creationId xmlns:a16="http://schemas.microsoft.com/office/drawing/2014/main" id="{2D131357-07EE-49AA-9229-651598A2D4B6}"/>
              </a:ext>
            </a:extLst>
          </p:cNvPr>
          <p:cNvSpPr>
            <a:spLocks xmlns:a="http://schemas.openxmlformats.org/drawingml/2006/main" noGrp="1"/>
          </p:cNvSpPr>
          <p:nvPr/>
        </p:nvSpPr>
        <p:spPr>
          <a:xfrm xmlns:a="http://schemas.openxmlformats.org/drawingml/2006/main">
            <a:off x="4076700" y="40767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api/ + web/</a:t>
            </a:r>
          </a:p>
        </p:txBody>
      </p:sp>
      <p:sp>
        <p:nvSpPr>
          <p:cNvPr id="27" name="">
            <a:extLst xmlns:a="http://schemas.openxmlformats.org/drawingml/2006/main">
              <a:ext uri="{FF2B5EF4-FFF2-40B4-BE49-F238E27FC236}">
                <a16:creationId xmlns:a16="http://schemas.microsoft.com/office/drawing/2014/main" id="{3A59394C-0D36-43A3-97F0-6BF57F959C65}"/>
              </a:ext>
            </a:extLst>
          </p:cNvPr>
          <p:cNvSpPr>
            <a:spLocks xmlns:a="http://schemas.openxmlformats.org/drawingml/2006/main" noGrp="1"/>
          </p:cNvSpPr>
          <p:nvPr/>
        </p:nvSpPr>
        <p:spPr>
          <a:xfrm xmlns:a="http://schemas.openxmlformats.org/drawingml/2006/main">
            <a:off x="5610225" y="40767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production app on Vercel</a:t>
            </a:r>
          </a:p>
        </p:txBody>
      </p:sp>
      <p:sp>
        <p:nvSpPr>
          <p:cNvPr id="28" name="code-row-4">
            <a:extLst xmlns:a="http://schemas.openxmlformats.org/drawingml/2006/main">
              <a:ext uri="{FF2B5EF4-FFF2-40B4-BE49-F238E27FC236}">
                <a16:creationId xmlns:a16="http://schemas.microsoft.com/office/drawing/2014/main" id="{8559B571-9869-4315-908E-5A3A7406BB39}"/>
              </a:ext>
            </a:extLst>
          </p:cNvPr>
          <p:cNvSpPr>
            <a:spLocks xmlns:a="http://schemas.openxmlformats.org/drawingml/2006/main" noGrp="1"/>
          </p:cNvSpPr>
          <p:nvPr/>
        </p:nvSpPr>
        <p:spPr>
          <a:xfrm xmlns:a="http://schemas.openxmlformats.org/drawingml/2006/main">
            <a:off x="3914775" y="4714875"/>
            <a:ext cx="3333750" cy="5905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9" name="">
            <a:extLst xmlns:a="http://schemas.openxmlformats.org/drawingml/2006/main">
              <a:ext uri="{FF2B5EF4-FFF2-40B4-BE49-F238E27FC236}">
                <a16:creationId xmlns:a16="http://schemas.microsoft.com/office/drawing/2014/main" id="{3A02B6BD-92ED-429C-9610-68E24C4B91C5}"/>
              </a:ext>
            </a:extLst>
          </p:cNvPr>
          <p:cNvSpPr>
            <a:spLocks xmlns:a="http://schemas.openxmlformats.org/drawingml/2006/main" noGrp="1"/>
          </p:cNvSpPr>
          <p:nvPr/>
        </p:nvSpPr>
        <p:spPr>
          <a:xfrm xmlns:a="http://schemas.openxmlformats.org/drawingml/2006/main">
            <a:off x="4076700" y="48006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tests/</a:t>
            </a:r>
          </a:p>
        </p:txBody>
      </p:sp>
      <p:sp>
        <p:nvSpPr>
          <p:cNvPr id="30" name="">
            <a:extLst xmlns:a="http://schemas.openxmlformats.org/drawingml/2006/main">
              <a:ext uri="{FF2B5EF4-FFF2-40B4-BE49-F238E27FC236}">
                <a16:creationId xmlns:a16="http://schemas.microsoft.com/office/drawing/2014/main" id="{8CB5FC34-6738-4806-AD25-4A7CA3FD5CF6}"/>
              </a:ext>
            </a:extLst>
          </p:cNvPr>
          <p:cNvSpPr>
            <a:spLocks xmlns:a="http://schemas.openxmlformats.org/drawingml/2006/main" noGrp="1"/>
          </p:cNvSpPr>
          <p:nvPr/>
        </p:nvSpPr>
        <p:spPr>
          <a:xfrm xmlns:a="http://schemas.openxmlformats.org/drawingml/2006/main">
            <a:off x="5610225" y="4800600"/>
            <a:ext cx="1485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38 regressions + retrieval fallback coverage</a:t>
            </a:r>
          </a:p>
        </p:txBody>
      </p:sp>
      <p:sp>
        <p:nvSpPr>
          <p:cNvPr id="31" name="code-command">
            <a:extLst xmlns:a="http://schemas.openxmlformats.org/drawingml/2006/main">
              <a:ext uri="{FF2B5EF4-FFF2-40B4-BE49-F238E27FC236}">
                <a16:creationId xmlns:a16="http://schemas.microsoft.com/office/drawing/2014/main" id="{9D12768C-BAFE-4762-8E30-05BD94C59A17}"/>
              </a:ext>
            </a:extLst>
          </p:cNvPr>
          <p:cNvSpPr>
            <a:spLocks xmlns:a="http://schemas.openxmlformats.org/drawingml/2006/main" noGrp="1"/>
          </p:cNvSpPr>
          <p:nvPr/>
        </p:nvSpPr>
        <p:spPr>
          <a:xfrm xmlns:a="http://schemas.openxmlformats.org/drawingml/2006/main">
            <a:off x="3914775" y="5524500"/>
            <a:ext cx="3333750" cy="285750"/>
          </a:xfrm>
          <a:prstGeom xmlns:a="http://schemas.openxmlformats.org/drawingml/2006/main" prst="rect">
            <a:avLst/>
          </a:prstGeom>
          <a:solidFill xmlns:a="http://schemas.openxmlformats.org/drawingml/2006/main">
            <a:srgbClr val="D9E6E1"/>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6A5D1E62-0CBD-4C7D-9CA7-BE82C55B195E}"/>
              </a:ext>
            </a:extLst>
          </p:cNvPr>
          <p:cNvSpPr>
            <a:spLocks xmlns:a="http://schemas.openxmlformats.org/drawingml/2006/main" noGrp="1"/>
          </p:cNvSpPr>
          <p:nvPr/>
        </p:nvSpPr>
        <p:spPr>
          <a:xfrm xmlns:a="http://schemas.openxmlformats.org/drawingml/2006/main">
            <a:off x="4048125" y="5534025"/>
            <a:ext cx="3067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Mono"/>
                <a:ea typeface="Aptos Mono"/>
                <a:cs typeface="Aptos Mono"/>
              </a:defRPr>
            </a:pPr>
            <a:r>
              <a:rPr sz="825" b="1">
                <a:solidFill>
                  <a:srgbClr val="2D5C56"/>
                </a:solidFill>
                <a:latin typeface="Aptos Mono"/>
                <a:ea typeface="Aptos Mono"/>
                <a:cs typeface="Aptos Mono"/>
              </a:rPr>
              <a:t>LIVE → singhacks-jb-wealth-intelligence.vercel.app</a:t>
            </a:r>
          </a:p>
        </p:txBody>
      </p:sp>
      <p:sp>
        <p:nvSpPr>
          <p:cNvPr id="33" name="">
            <a:extLst xmlns:a="http://schemas.openxmlformats.org/drawingml/2006/main">
              <a:ext uri="{FF2B5EF4-FFF2-40B4-BE49-F238E27FC236}">
                <a16:creationId xmlns:a16="http://schemas.microsoft.com/office/drawing/2014/main" id="{8274BBDE-0165-45B0-A3E4-FE2F95F65555}"/>
              </a:ext>
            </a:extLst>
          </p:cNvPr>
          <p:cNvSpPr>
            <a:spLocks xmlns:a="http://schemas.openxmlformats.org/drawingml/2006/main" noGrp="1"/>
          </p:cNvSpPr>
          <p:nvPr/>
        </p:nvSpPr>
        <p:spPr>
          <a:xfrm xmlns:a="http://schemas.openxmlformats.org/drawingml/2006/main">
            <a:off x="7677150" y="2152650"/>
            <a:ext cx="36671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FULL-SCALE EVOLUTION</a:t>
            </a:r>
          </a:p>
        </p:txBody>
      </p:sp>
      <p:sp>
        <p:nvSpPr>
          <p:cNvPr id="34" name="done-marker-1">
            <a:extLst xmlns:a="http://schemas.openxmlformats.org/drawingml/2006/main">
              <a:ext uri="{FF2B5EF4-FFF2-40B4-BE49-F238E27FC236}">
                <a16:creationId xmlns:a16="http://schemas.microsoft.com/office/drawing/2014/main" id="{F532AF68-C54C-473C-AC04-DA679A4791DE}"/>
              </a:ext>
            </a:extLst>
          </p:cNvPr>
          <p:cNvSpPr>
            <a:spLocks xmlns:a="http://schemas.openxmlformats.org/drawingml/2006/main" noGrp="1"/>
          </p:cNvSpPr>
          <p:nvPr/>
        </p:nvSpPr>
        <p:spPr>
          <a:xfrm xmlns:a="http://schemas.openxmlformats.org/drawingml/2006/main">
            <a:off x="7677150" y="2562225"/>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35" name="">
            <a:extLst xmlns:a="http://schemas.openxmlformats.org/drawingml/2006/main">
              <a:ext uri="{FF2B5EF4-FFF2-40B4-BE49-F238E27FC236}">
                <a16:creationId xmlns:a16="http://schemas.microsoft.com/office/drawing/2014/main" id="{D08BCCF1-DF21-4668-9502-AAFF11F80C07}"/>
              </a:ext>
            </a:extLst>
          </p:cNvPr>
          <p:cNvSpPr>
            <a:spLocks xmlns:a="http://schemas.openxmlformats.org/drawingml/2006/main" noGrp="1"/>
          </p:cNvSpPr>
          <p:nvPr/>
        </p:nvSpPr>
        <p:spPr>
          <a:xfrm xmlns:a="http://schemas.openxmlformats.org/drawingml/2006/main">
            <a:off x="7677150" y="25527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36" name="">
            <a:extLst xmlns:a="http://schemas.openxmlformats.org/drawingml/2006/main">
              <a:ext uri="{FF2B5EF4-FFF2-40B4-BE49-F238E27FC236}">
                <a16:creationId xmlns:a16="http://schemas.microsoft.com/office/drawing/2014/main" id="{B13AA108-5A48-461F-9251-A1F5B7B151CF}"/>
              </a:ext>
            </a:extLst>
          </p:cNvPr>
          <p:cNvSpPr>
            <a:spLocks xmlns:a="http://schemas.openxmlformats.org/drawingml/2006/main" noGrp="1"/>
          </p:cNvSpPr>
          <p:nvPr/>
        </p:nvSpPr>
        <p:spPr>
          <a:xfrm xmlns:a="http://schemas.openxmlformats.org/drawingml/2006/main">
            <a:off x="8039100" y="2552700"/>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Read-only connectors to portfolio, CRM, credit and approved events</a:t>
            </a:r>
          </a:p>
        </p:txBody>
      </p:sp>
      <p:sp>
        <p:nvSpPr>
          <p:cNvPr id="37" name="done-rule-1">
            <a:extLst xmlns:a="http://schemas.openxmlformats.org/drawingml/2006/main">
              <a:ext uri="{FF2B5EF4-FFF2-40B4-BE49-F238E27FC236}">
                <a16:creationId xmlns:a16="http://schemas.microsoft.com/office/drawing/2014/main" id="{D1034DD8-5377-44FB-9B14-086B9AF884DA}"/>
              </a:ext>
            </a:extLst>
          </p:cNvPr>
          <p:cNvSpPr>
            <a:spLocks xmlns:a="http://schemas.openxmlformats.org/drawingml/2006/main" noGrp="1"/>
          </p:cNvSpPr>
          <p:nvPr/>
        </p:nvSpPr>
        <p:spPr>
          <a:xfrm xmlns:a="http://schemas.openxmlformats.org/drawingml/2006/main">
            <a:off x="8039100" y="2914650"/>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8" name="done-marker-2">
            <a:extLst xmlns:a="http://schemas.openxmlformats.org/drawingml/2006/main">
              <a:ext uri="{FF2B5EF4-FFF2-40B4-BE49-F238E27FC236}">
                <a16:creationId xmlns:a16="http://schemas.microsoft.com/office/drawing/2014/main" id="{15EEE744-2F55-4431-85DE-0D8D67570B71}"/>
              </a:ext>
            </a:extLst>
          </p:cNvPr>
          <p:cNvSpPr>
            <a:spLocks xmlns:a="http://schemas.openxmlformats.org/drawingml/2006/main" noGrp="1"/>
          </p:cNvSpPr>
          <p:nvPr/>
        </p:nvSpPr>
        <p:spPr>
          <a:xfrm xmlns:a="http://schemas.openxmlformats.org/drawingml/2006/main">
            <a:off x="7677150" y="3067050"/>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39" name="">
            <a:extLst xmlns:a="http://schemas.openxmlformats.org/drawingml/2006/main">
              <a:ext uri="{FF2B5EF4-FFF2-40B4-BE49-F238E27FC236}">
                <a16:creationId xmlns:a16="http://schemas.microsoft.com/office/drawing/2014/main" id="{64936B99-278A-4BEA-9E0C-BA5C6B715D7D}"/>
              </a:ext>
            </a:extLst>
          </p:cNvPr>
          <p:cNvSpPr>
            <a:spLocks xmlns:a="http://schemas.openxmlformats.org/drawingml/2006/main" noGrp="1"/>
          </p:cNvSpPr>
          <p:nvPr/>
        </p:nvSpPr>
        <p:spPr>
          <a:xfrm xmlns:a="http://schemas.openxmlformats.org/drawingml/2006/main">
            <a:off x="7677150" y="3057525"/>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40" name="">
            <a:extLst xmlns:a="http://schemas.openxmlformats.org/drawingml/2006/main">
              <a:ext uri="{FF2B5EF4-FFF2-40B4-BE49-F238E27FC236}">
                <a16:creationId xmlns:a16="http://schemas.microsoft.com/office/drawing/2014/main" id="{0DE72897-4787-4E19-9EE8-0088DCFD57A0}"/>
              </a:ext>
            </a:extLst>
          </p:cNvPr>
          <p:cNvSpPr>
            <a:spLocks xmlns:a="http://schemas.openxmlformats.org/drawingml/2006/main" noGrp="1"/>
          </p:cNvSpPr>
          <p:nvPr/>
        </p:nvSpPr>
        <p:spPr>
          <a:xfrm xmlns:a="http://schemas.openxmlformats.org/drawingml/2006/main">
            <a:off x="8039100" y="3057525"/>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Private networking, SSO/RBAC and book-level entitlements</a:t>
            </a:r>
          </a:p>
        </p:txBody>
      </p:sp>
      <p:sp>
        <p:nvSpPr>
          <p:cNvPr id="41" name="done-rule-2">
            <a:extLst xmlns:a="http://schemas.openxmlformats.org/drawingml/2006/main">
              <a:ext uri="{FF2B5EF4-FFF2-40B4-BE49-F238E27FC236}">
                <a16:creationId xmlns:a16="http://schemas.microsoft.com/office/drawing/2014/main" id="{96A96DE1-F55C-45DB-8CBB-FE2122625B00}"/>
              </a:ext>
            </a:extLst>
          </p:cNvPr>
          <p:cNvSpPr>
            <a:spLocks xmlns:a="http://schemas.openxmlformats.org/drawingml/2006/main" noGrp="1"/>
          </p:cNvSpPr>
          <p:nvPr/>
        </p:nvSpPr>
        <p:spPr>
          <a:xfrm xmlns:a="http://schemas.openxmlformats.org/drawingml/2006/main">
            <a:off x="8039100" y="3419475"/>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2" name="done-marker-3">
            <a:extLst xmlns:a="http://schemas.openxmlformats.org/drawingml/2006/main">
              <a:ext uri="{FF2B5EF4-FFF2-40B4-BE49-F238E27FC236}">
                <a16:creationId xmlns:a16="http://schemas.microsoft.com/office/drawing/2014/main" id="{CD68E6DC-4BAE-4D83-9F29-56189A196124}"/>
              </a:ext>
            </a:extLst>
          </p:cNvPr>
          <p:cNvSpPr>
            <a:spLocks xmlns:a="http://schemas.openxmlformats.org/drawingml/2006/main" noGrp="1"/>
          </p:cNvSpPr>
          <p:nvPr/>
        </p:nvSpPr>
        <p:spPr>
          <a:xfrm xmlns:a="http://schemas.openxmlformats.org/drawingml/2006/main">
            <a:off x="7677150" y="3571875"/>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43" name="">
            <a:extLst xmlns:a="http://schemas.openxmlformats.org/drawingml/2006/main">
              <a:ext uri="{FF2B5EF4-FFF2-40B4-BE49-F238E27FC236}">
                <a16:creationId xmlns:a16="http://schemas.microsoft.com/office/drawing/2014/main" id="{B8E9AF2B-3549-4989-A909-747FB5282C98}"/>
              </a:ext>
            </a:extLst>
          </p:cNvPr>
          <p:cNvSpPr>
            <a:spLocks xmlns:a="http://schemas.openxmlformats.org/drawingml/2006/main" noGrp="1"/>
          </p:cNvSpPr>
          <p:nvPr/>
        </p:nvSpPr>
        <p:spPr>
          <a:xfrm xmlns:a="http://schemas.openxmlformats.org/drawingml/2006/main">
            <a:off x="7677150" y="35623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44" name="">
            <a:extLst xmlns:a="http://schemas.openxmlformats.org/drawingml/2006/main">
              <a:ext uri="{FF2B5EF4-FFF2-40B4-BE49-F238E27FC236}">
                <a16:creationId xmlns:a16="http://schemas.microsoft.com/office/drawing/2014/main" id="{6B948721-FD78-4A38-A7B6-BB0644736CAA}"/>
              </a:ext>
            </a:extLst>
          </p:cNvPr>
          <p:cNvSpPr>
            <a:spLocks xmlns:a="http://schemas.openxmlformats.org/drawingml/2006/main" noGrp="1"/>
          </p:cNvSpPr>
          <p:nvPr/>
        </p:nvSpPr>
        <p:spPr>
          <a:xfrm xmlns:a="http://schemas.openxmlformats.org/drawingml/2006/main">
            <a:off x="8039100" y="3562350"/>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Versioned policy-as-code with maker-checker approval</a:t>
            </a:r>
          </a:p>
        </p:txBody>
      </p:sp>
      <p:sp>
        <p:nvSpPr>
          <p:cNvPr id="45" name="done-rule-3">
            <a:extLst xmlns:a="http://schemas.openxmlformats.org/drawingml/2006/main">
              <a:ext uri="{FF2B5EF4-FFF2-40B4-BE49-F238E27FC236}">
                <a16:creationId xmlns:a16="http://schemas.microsoft.com/office/drawing/2014/main" id="{45C3540A-BF23-42C0-BFEB-DD700D12BD78}"/>
              </a:ext>
            </a:extLst>
          </p:cNvPr>
          <p:cNvSpPr>
            <a:spLocks xmlns:a="http://schemas.openxmlformats.org/drawingml/2006/main" noGrp="1"/>
          </p:cNvSpPr>
          <p:nvPr/>
        </p:nvSpPr>
        <p:spPr>
          <a:xfrm xmlns:a="http://schemas.openxmlformats.org/drawingml/2006/main">
            <a:off x="8039100" y="3924300"/>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6" name="done-marker-4">
            <a:extLst xmlns:a="http://schemas.openxmlformats.org/drawingml/2006/main">
              <a:ext uri="{FF2B5EF4-FFF2-40B4-BE49-F238E27FC236}">
                <a16:creationId xmlns:a16="http://schemas.microsoft.com/office/drawing/2014/main" id="{6A43A6E3-3CB1-4029-B843-1CFE6BC3BA10}"/>
              </a:ext>
            </a:extLst>
          </p:cNvPr>
          <p:cNvSpPr>
            <a:spLocks xmlns:a="http://schemas.openxmlformats.org/drawingml/2006/main" noGrp="1"/>
          </p:cNvSpPr>
          <p:nvPr/>
        </p:nvSpPr>
        <p:spPr>
          <a:xfrm xmlns:a="http://schemas.openxmlformats.org/drawingml/2006/main">
            <a:off x="7677150" y="4076700"/>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47" name="">
            <a:extLst xmlns:a="http://schemas.openxmlformats.org/drawingml/2006/main">
              <a:ext uri="{FF2B5EF4-FFF2-40B4-BE49-F238E27FC236}">
                <a16:creationId xmlns:a16="http://schemas.microsoft.com/office/drawing/2014/main" id="{B9696C0B-6EA0-4D98-8FE5-8E412B4F9E54}"/>
              </a:ext>
            </a:extLst>
          </p:cNvPr>
          <p:cNvSpPr>
            <a:spLocks xmlns:a="http://schemas.openxmlformats.org/drawingml/2006/main" noGrp="1"/>
          </p:cNvSpPr>
          <p:nvPr/>
        </p:nvSpPr>
        <p:spPr>
          <a:xfrm xmlns:a="http://schemas.openxmlformats.org/drawingml/2006/main">
            <a:off x="7677150" y="4067175"/>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48" name="">
            <a:extLst xmlns:a="http://schemas.openxmlformats.org/drawingml/2006/main">
              <a:ext uri="{FF2B5EF4-FFF2-40B4-BE49-F238E27FC236}">
                <a16:creationId xmlns:a16="http://schemas.microsoft.com/office/drawing/2014/main" id="{E45ABF71-2AF0-4A6A-B76D-44F4D53E7A83}"/>
              </a:ext>
            </a:extLst>
          </p:cNvPr>
          <p:cNvSpPr>
            <a:spLocks xmlns:a="http://schemas.openxmlformats.org/drawingml/2006/main" noGrp="1"/>
          </p:cNvSpPr>
          <p:nvPr/>
        </p:nvSpPr>
        <p:spPr>
          <a:xfrm xmlns:a="http://schemas.openxmlformats.org/drawingml/2006/main">
            <a:off x="8039100" y="4067175"/>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Event-driven scoring plus hybrid exact + semantic retrieval</a:t>
            </a:r>
          </a:p>
        </p:txBody>
      </p:sp>
      <p:sp>
        <p:nvSpPr>
          <p:cNvPr id="49" name="done-rule-4">
            <a:extLst xmlns:a="http://schemas.openxmlformats.org/drawingml/2006/main">
              <a:ext uri="{FF2B5EF4-FFF2-40B4-BE49-F238E27FC236}">
                <a16:creationId xmlns:a16="http://schemas.microsoft.com/office/drawing/2014/main" id="{50B23D19-1EFB-4D24-84FC-554F764424F8}"/>
              </a:ext>
            </a:extLst>
          </p:cNvPr>
          <p:cNvSpPr>
            <a:spLocks xmlns:a="http://schemas.openxmlformats.org/drawingml/2006/main" noGrp="1"/>
          </p:cNvSpPr>
          <p:nvPr/>
        </p:nvSpPr>
        <p:spPr>
          <a:xfrm xmlns:a="http://schemas.openxmlformats.org/drawingml/2006/main">
            <a:off x="8039100" y="4429125"/>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0" name="done-marker-5">
            <a:extLst xmlns:a="http://schemas.openxmlformats.org/drawingml/2006/main">
              <a:ext uri="{FF2B5EF4-FFF2-40B4-BE49-F238E27FC236}">
                <a16:creationId xmlns:a16="http://schemas.microsoft.com/office/drawing/2014/main" id="{B67AFDB8-1B57-4A46-A19D-20B4FAEDEFC5}"/>
              </a:ext>
            </a:extLst>
          </p:cNvPr>
          <p:cNvSpPr>
            <a:spLocks xmlns:a="http://schemas.openxmlformats.org/drawingml/2006/main" noGrp="1"/>
          </p:cNvSpPr>
          <p:nvPr/>
        </p:nvSpPr>
        <p:spPr>
          <a:xfrm xmlns:a="http://schemas.openxmlformats.org/drawingml/2006/main">
            <a:off x="7677150" y="4581525"/>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51" name="">
            <a:extLst xmlns:a="http://schemas.openxmlformats.org/drawingml/2006/main">
              <a:ext uri="{FF2B5EF4-FFF2-40B4-BE49-F238E27FC236}">
                <a16:creationId xmlns:a16="http://schemas.microsoft.com/office/drawing/2014/main" id="{6075B332-3169-465E-9538-D15E35D6E6E2}"/>
              </a:ext>
            </a:extLst>
          </p:cNvPr>
          <p:cNvSpPr>
            <a:spLocks xmlns:a="http://schemas.openxmlformats.org/drawingml/2006/main" noGrp="1"/>
          </p:cNvSpPr>
          <p:nvPr/>
        </p:nvSpPr>
        <p:spPr>
          <a:xfrm xmlns:a="http://schemas.openxmlformats.org/drawingml/2006/main">
            <a:off x="7677150" y="45720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52" name="">
            <a:extLst xmlns:a="http://schemas.openxmlformats.org/drawingml/2006/main">
              <a:ext uri="{FF2B5EF4-FFF2-40B4-BE49-F238E27FC236}">
                <a16:creationId xmlns:a16="http://schemas.microsoft.com/office/drawing/2014/main" id="{ACAD2E30-B4AF-4042-A548-A6FFDB2931D1}"/>
              </a:ext>
            </a:extLst>
          </p:cNvPr>
          <p:cNvSpPr>
            <a:spLocks xmlns:a="http://schemas.openxmlformats.org/drawingml/2006/main" noGrp="1"/>
          </p:cNvSpPr>
          <p:nvPr/>
        </p:nvSpPr>
        <p:spPr>
          <a:xfrm xmlns:a="http://schemas.openxmlformats.org/drawingml/2006/main">
            <a:off x="8039100" y="4572000"/>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Continuous evaluation for traceability, overrides and drift</a:t>
            </a:r>
          </a:p>
        </p:txBody>
      </p:sp>
      <p:sp>
        <p:nvSpPr>
          <p:cNvPr id="53" name="done-rule-5">
            <a:extLst xmlns:a="http://schemas.openxmlformats.org/drawingml/2006/main">
              <a:ext uri="{FF2B5EF4-FFF2-40B4-BE49-F238E27FC236}">
                <a16:creationId xmlns:a16="http://schemas.microsoft.com/office/drawing/2014/main" id="{6F902FFD-ED98-4AE5-90A0-92469C2708CE}"/>
              </a:ext>
            </a:extLst>
          </p:cNvPr>
          <p:cNvSpPr>
            <a:spLocks xmlns:a="http://schemas.openxmlformats.org/drawingml/2006/main" noGrp="1"/>
          </p:cNvSpPr>
          <p:nvPr/>
        </p:nvSpPr>
        <p:spPr>
          <a:xfrm xmlns:a="http://schemas.openxmlformats.org/drawingml/2006/main">
            <a:off x="8039100" y="4933950"/>
            <a:ext cx="33147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4" name="done-marker-6">
            <a:extLst xmlns:a="http://schemas.openxmlformats.org/drawingml/2006/main">
              <a:ext uri="{FF2B5EF4-FFF2-40B4-BE49-F238E27FC236}">
                <a16:creationId xmlns:a16="http://schemas.microsoft.com/office/drawing/2014/main" id="{13792273-4C97-4E06-9923-AA766ECFEA37}"/>
              </a:ext>
            </a:extLst>
          </p:cNvPr>
          <p:cNvSpPr>
            <a:spLocks xmlns:a="http://schemas.openxmlformats.org/drawingml/2006/main" noGrp="1"/>
          </p:cNvSpPr>
          <p:nvPr/>
        </p:nvSpPr>
        <p:spPr>
          <a:xfrm xmlns:a="http://schemas.openxmlformats.org/drawingml/2006/main">
            <a:off x="7677150" y="5086350"/>
            <a:ext cx="209550" cy="20955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55" name="">
            <a:extLst xmlns:a="http://schemas.openxmlformats.org/drawingml/2006/main">
              <a:ext uri="{FF2B5EF4-FFF2-40B4-BE49-F238E27FC236}">
                <a16:creationId xmlns:a16="http://schemas.microsoft.com/office/drawing/2014/main" id="{32C13909-8607-4CAC-AABF-DD98BA2AEE93}"/>
              </a:ext>
            </a:extLst>
          </p:cNvPr>
          <p:cNvSpPr>
            <a:spLocks xmlns:a="http://schemas.openxmlformats.org/drawingml/2006/main" noGrp="1"/>
          </p:cNvSpPr>
          <p:nvPr/>
        </p:nvSpPr>
        <p:spPr>
          <a:xfrm xmlns:a="http://schemas.openxmlformats.org/drawingml/2006/main">
            <a:off x="7677150" y="5076825"/>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a:t>
            </a:r>
          </a:p>
        </p:txBody>
      </p:sp>
      <p:sp>
        <p:nvSpPr>
          <p:cNvPr id="56" name="">
            <a:extLst xmlns:a="http://schemas.openxmlformats.org/drawingml/2006/main">
              <a:ext uri="{FF2B5EF4-FFF2-40B4-BE49-F238E27FC236}">
                <a16:creationId xmlns:a16="http://schemas.microsoft.com/office/drawing/2014/main" id="{9309BAD8-163B-4DFD-A24A-A21176FD283A}"/>
              </a:ext>
            </a:extLst>
          </p:cNvPr>
          <p:cNvSpPr>
            <a:spLocks xmlns:a="http://schemas.openxmlformats.org/drawingml/2006/main" noGrp="1"/>
          </p:cNvSpPr>
          <p:nvPr/>
        </p:nvSpPr>
        <p:spPr>
          <a:xfrm xmlns:a="http://schemas.openxmlformats.org/drawingml/2006/main">
            <a:off x="8039100" y="5076825"/>
            <a:ext cx="3314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Shadow mode → assisted workflow → approved automation</a:t>
            </a:r>
          </a:p>
        </p:txBody>
      </p:sp>
      <p:sp>
        <p:nvSpPr>
          <p:cNvPr id="57" name="footer-rule-10">
            <a:extLst xmlns:a="http://schemas.openxmlformats.org/drawingml/2006/main">
              <a:ext uri="{FF2B5EF4-FFF2-40B4-BE49-F238E27FC236}">
                <a16:creationId xmlns:a16="http://schemas.microsoft.com/office/drawing/2014/main" id="{DD6EE609-88AB-4E8B-87BE-1DD5D78221D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C9D849B7-443A-44F4-B19E-CA9FFF2E5178}"/>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Verified 05 Sep 2026: 38 Python tests · JavaScript syntax · live Vercel health · vector retrieval fails closed</a:t>
            </a:r>
          </a:p>
        </p:txBody>
      </p:sp>
      <p:sp>
        <p:nvSpPr>
          <p:cNvPr id="59" name="">
            <a:extLst xmlns:a="http://schemas.openxmlformats.org/drawingml/2006/main">
              <a:ext uri="{FF2B5EF4-FFF2-40B4-BE49-F238E27FC236}">
                <a16:creationId xmlns:a16="http://schemas.microsoft.com/office/drawing/2014/main" id="{C4F3CF7B-7A34-4225-86CE-9A2D93586A35}"/>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05</a:t>
            </a:r>
          </a:p>
        </p:txBody>
      </p:sp>
    </p:spTree>
    <p:extLst>
      <p:ext uri="{BB962C8B-B14F-4D97-AF65-F5344CB8AC3E}">
        <p14:creationId xmlns:p14="http://schemas.microsoft.com/office/powerpoint/2010/main" val="3478341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7A190A7D-C233-4964-8483-0EC934C937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tessera-tile-1">
            <a:extLst xmlns:a="http://schemas.openxmlformats.org/drawingml/2006/main">
              <a:ext uri="{FF2B5EF4-FFF2-40B4-BE49-F238E27FC236}">
                <a16:creationId xmlns:a16="http://schemas.microsoft.com/office/drawing/2014/main" id="{D9B812F8-DAC1-4399-9ED3-9545A08AB222}"/>
              </a:ext>
            </a:extLst>
          </p:cNvPr>
          <p:cNvSpPr>
            <a:spLocks xmlns:a="http://schemas.openxmlformats.org/drawingml/2006/main" noGrp="1"/>
          </p:cNvSpPr>
          <p:nvPr/>
        </p:nvSpPr>
        <p:spPr>
          <a:xfrm xmlns:a="http://schemas.openxmlformats.org/drawingml/2006/main" rot="2700000">
            <a:off x="676275" y="457200"/>
            <a:ext cx="133350" cy="1333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tessera-tile-2">
            <a:extLst xmlns:a="http://schemas.openxmlformats.org/drawingml/2006/main">
              <a:ext uri="{FF2B5EF4-FFF2-40B4-BE49-F238E27FC236}">
                <a16:creationId xmlns:a16="http://schemas.microsoft.com/office/drawing/2014/main" id="{195FF2C2-850B-486B-80D6-9BA2C55CEDE6}"/>
              </a:ext>
            </a:extLst>
          </p:cNvPr>
          <p:cNvSpPr>
            <a:spLocks xmlns:a="http://schemas.openxmlformats.org/drawingml/2006/main" noGrp="1"/>
          </p:cNvSpPr>
          <p:nvPr/>
        </p:nvSpPr>
        <p:spPr>
          <a:xfrm xmlns:a="http://schemas.openxmlformats.org/drawingml/2006/main" rot="2700000">
            <a:off x="847725" y="457200"/>
            <a:ext cx="133350" cy="133350"/>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4" name="tessera-tile-3">
            <a:extLst xmlns:a="http://schemas.openxmlformats.org/drawingml/2006/main">
              <a:ext uri="{FF2B5EF4-FFF2-40B4-BE49-F238E27FC236}">
                <a16:creationId xmlns:a16="http://schemas.microsoft.com/office/drawing/2014/main" id="{64F4F595-6350-449B-8891-CC3C47EF77AE}"/>
              </a:ext>
            </a:extLst>
          </p:cNvPr>
          <p:cNvSpPr>
            <a:spLocks xmlns:a="http://schemas.openxmlformats.org/drawingml/2006/main" noGrp="1"/>
          </p:cNvSpPr>
          <p:nvPr/>
        </p:nvSpPr>
        <p:spPr>
          <a:xfrm xmlns:a="http://schemas.openxmlformats.org/drawingml/2006/main" rot="2700000">
            <a:off x="676275" y="628650"/>
            <a:ext cx="133350" cy="133350"/>
          </a:xfrm>
          <a:prstGeom xmlns:a="http://schemas.openxmlformats.org/drawingml/2006/main" prst="rect">
            <a:avLst/>
          </a:prstGeom>
          <a:solidFill xmlns:a="http://schemas.openxmlformats.org/drawingml/2006/main">
            <a:srgbClr val="E7D6B5"/>
          </a:solidFill>
          <a:ln xmlns:a="http://schemas.openxmlformats.org/drawingml/2006/main" w="0">
            <a:solidFill>
              <a:srgbClr val="000000">
                <a:alpha val="0"/>
              </a:srgbClr>
            </a:solidFill>
            <a:prstDash val="solid"/>
          </a:ln>
        </p:spPr>
      </p:sp>
      <p:sp>
        <p:nvSpPr>
          <p:cNvPr id="5" name="tessera-tile-4">
            <a:extLst xmlns:a="http://schemas.openxmlformats.org/drawingml/2006/main">
              <a:ext uri="{FF2B5EF4-FFF2-40B4-BE49-F238E27FC236}">
                <a16:creationId xmlns:a16="http://schemas.microsoft.com/office/drawing/2014/main" id="{36C7577A-6DF1-4C86-8731-E46D5CA8C948}"/>
              </a:ext>
            </a:extLst>
          </p:cNvPr>
          <p:cNvSpPr>
            <a:spLocks xmlns:a="http://schemas.openxmlformats.org/drawingml/2006/main" noGrp="1"/>
          </p:cNvSpPr>
          <p:nvPr/>
        </p:nvSpPr>
        <p:spPr>
          <a:xfrm xmlns:a="http://schemas.openxmlformats.org/drawingml/2006/main" rot="2700000">
            <a:off x="847725" y="628650"/>
            <a:ext cx="133350" cy="13335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6" name="kicker-12-marker">
            <a:extLst xmlns:a="http://schemas.openxmlformats.org/drawingml/2006/main">
              <a:ext uri="{FF2B5EF4-FFF2-40B4-BE49-F238E27FC236}">
                <a16:creationId xmlns:a16="http://schemas.microsoft.com/office/drawing/2014/main" id="{B36E7366-5983-4F83-8B99-530F0C8044FE}"/>
              </a:ext>
            </a:extLst>
          </p:cNvPr>
          <p:cNvSpPr>
            <a:spLocks xmlns:a="http://schemas.openxmlformats.org/drawingml/2006/main" noGrp="1"/>
          </p:cNvSpPr>
          <p:nvPr/>
        </p:nvSpPr>
        <p:spPr>
          <a:xfrm xmlns:a="http://schemas.openxmlformats.org/drawingml/2006/main">
            <a:off x="1257300" y="542925"/>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7" name="kicker-12-label">
            <a:extLst xmlns:a="http://schemas.openxmlformats.org/drawingml/2006/main">
              <a:ext uri="{FF2B5EF4-FFF2-40B4-BE49-F238E27FC236}">
                <a16:creationId xmlns:a16="http://schemas.microsoft.com/office/drawing/2014/main" id="{B10FCB80-469E-435A-AA55-2B5D208234AF}"/>
              </a:ext>
            </a:extLst>
          </p:cNvPr>
          <p:cNvSpPr>
            <a:spLocks xmlns:a="http://schemas.openxmlformats.org/drawingml/2006/main" noGrp="1"/>
          </p:cNvSpPr>
          <p:nvPr/>
        </p:nvSpPr>
        <p:spPr>
          <a:xfrm xmlns:a="http://schemas.openxmlformats.org/drawingml/2006/main">
            <a:off x="1428750" y="4762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THE CLOSE</a:t>
            </a:r>
          </a:p>
        </p:txBody>
      </p:sp>
      <p:sp>
        <p:nvSpPr>
          <p:cNvPr id="8" name="">
            <a:extLst xmlns:a="http://schemas.openxmlformats.org/drawingml/2006/main">
              <a:ext uri="{FF2B5EF4-FFF2-40B4-BE49-F238E27FC236}">
                <a16:creationId xmlns:a16="http://schemas.microsoft.com/office/drawing/2014/main" id="{A361441B-19FB-4AC7-8408-5AE6DDB26A50}"/>
              </a:ext>
            </a:extLst>
          </p:cNvPr>
          <p:cNvSpPr>
            <a:spLocks xmlns:a="http://schemas.openxmlformats.org/drawingml/2006/main" noGrp="1"/>
          </p:cNvSpPr>
          <p:nvPr/>
        </p:nvSpPr>
        <p:spPr>
          <a:xfrm xmlns:a="http://schemas.openxmlformats.org/drawingml/2006/main">
            <a:off x="685800" y="1066800"/>
            <a:ext cx="6286500" cy="1666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450" b="0">
                <a:solidFill>
                  <a:srgbClr val="FFFFFF"/>
                </a:solidFill>
                <a:latin typeface="Georgia"/>
                <a:ea typeface="Georgia"/>
                <a:cs typeface="Georgia"/>
              </a:defRPr>
            </a:pPr>
            <a:r>
              <a:rPr sz="3450" b="0">
                <a:solidFill>
                  <a:srgbClr val="FFFFFF"/>
                </a:solidFill>
                <a:latin typeface="Georgia"/>
                <a:ea typeface="Georgia"/>
                <a:cs typeface="Georgia"/>
              </a:rPr>
              <a:t>Make the portfolio defensible.</a:t>
            </a:r>
          </a:p>
          <a:p xmlns:a="http://schemas.openxmlformats.org/drawingml/2006/main">
            <a:pPr algn="l">
              <a:buNone/>
              <a:defRPr sz="3450" b="0">
                <a:solidFill>
                  <a:srgbClr val="FFFFFF"/>
                </a:solidFill>
                <a:latin typeface="Georgia"/>
                <a:ea typeface="Georgia"/>
                <a:cs typeface="Georgia"/>
              </a:defRPr>
            </a:pPr>
            <a:r>
              <a:rPr sz="3450" b="0">
                <a:solidFill>
                  <a:srgbClr val="FFFFFF"/>
                </a:solidFill>
                <a:latin typeface="Georgia"/>
                <a:ea typeface="Georgia"/>
                <a:cs typeface="Georgia"/>
              </a:rPr>
              <a:t>Make the future discussable.</a:t>
            </a:r>
          </a:p>
          <a:p xmlns:a="http://schemas.openxmlformats.org/drawingml/2006/main">
            <a:pPr algn="l">
              <a:buNone/>
              <a:defRPr sz="3450" b="0">
                <a:solidFill>
                  <a:srgbClr val="FFFFFF"/>
                </a:solidFill>
                <a:latin typeface="Georgia"/>
                <a:ea typeface="Georgia"/>
                <a:cs typeface="Georgia"/>
              </a:defRPr>
            </a:pPr>
            <a:r>
              <a:rPr sz="3450" b="0">
                <a:solidFill>
                  <a:srgbClr val="FFFFFF"/>
                </a:solidFill>
                <a:latin typeface="Georgia"/>
                <a:ea typeface="Georgia"/>
                <a:cs typeface="Georgia"/>
              </a:rPr>
              <a:t>Make the RM indispensable.</a:t>
            </a:r>
          </a:p>
        </p:txBody>
      </p:sp>
      <p:sp>
        <p:nvSpPr>
          <p:cNvPr id="9" name="">
            <a:extLst xmlns:a="http://schemas.openxmlformats.org/drawingml/2006/main">
              <a:ext uri="{FF2B5EF4-FFF2-40B4-BE49-F238E27FC236}">
                <a16:creationId xmlns:a16="http://schemas.microsoft.com/office/drawing/2014/main" id="{2FD00930-93C6-427B-9ECA-373ABE084C76}"/>
              </a:ext>
            </a:extLst>
          </p:cNvPr>
          <p:cNvSpPr>
            <a:spLocks xmlns:a="http://schemas.openxmlformats.org/drawingml/2006/main" noGrp="1"/>
          </p:cNvSpPr>
          <p:nvPr/>
        </p:nvSpPr>
        <p:spPr>
          <a:xfrm xmlns:a="http://schemas.openxmlformats.org/drawingml/2006/main">
            <a:off x="714375" y="3028950"/>
            <a:ext cx="53816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C5CFCB"/>
                </a:solidFill>
                <a:latin typeface="Aptos"/>
                <a:ea typeface="Aptos"/>
                <a:cs typeface="Aptos"/>
              </a:defRPr>
            </a:pPr>
            <a:r>
              <a:rPr sz="1350" b="0">
                <a:solidFill>
                  <a:srgbClr val="C5CFCB"/>
                </a:solidFill>
                <a:latin typeface="Aptos"/>
                <a:ea typeface="Aptos"/>
                <a:cs typeface="Aptos"/>
              </a:rPr>
              <a:t>TESSERA turns portfolio contradictions into evidence-backed, scenario-aware conversations—while the Relationship Manager remains accountable.</a:t>
            </a:r>
          </a:p>
        </p:txBody>
      </p:sp>
      <p:sp>
        <p:nvSpPr>
          <p:cNvPr id="10" name="handoff-panel">
            <a:extLst xmlns:a="http://schemas.openxmlformats.org/drawingml/2006/main">
              <a:ext uri="{FF2B5EF4-FFF2-40B4-BE49-F238E27FC236}">
                <a16:creationId xmlns:a16="http://schemas.microsoft.com/office/drawing/2014/main" id="{AE9845AA-2B29-453F-BF9E-8FBD589F1280}"/>
              </a:ext>
            </a:extLst>
          </p:cNvPr>
          <p:cNvSpPr>
            <a:spLocks xmlns:a="http://schemas.openxmlformats.org/drawingml/2006/main" noGrp="1"/>
          </p:cNvSpPr>
          <p:nvPr/>
        </p:nvSpPr>
        <p:spPr>
          <a:xfrm xmlns:a="http://schemas.openxmlformats.org/drawingml/2006/main">
            <a:off x="685800" y="4095750"/>
            <a:ext cx="5391150"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1" name="">
            <a:extLst xmlns:a="http://schemas.openxmlformats.org/drawingml/2006/main">
              <a:ext uri="{FF2B5EF4-FFF2-40B4-BE49-F238E27FC236}">
                <a16:creationId xmlns:a16="http://schemas.microsoft.com/office/drawing/2014/main" id="{86434CC0-CBDC-41FB-9B71-422B130711C1}"/>
              </a:ext>
            </a:extLst>
          </p:cNvPr>
          <p:cNvSpPr>
            <a:spLocks xmlns:a="http://schemas.openxmlformats.org/drawingml/2006/main" noGrp="1"/>
          </p:cNvSpPr>
          <p:nvPr/>
        </p:nvSpPr>
        <p:spPr>
          <a:xfrm xmlns:a="http://schemas.openxmlformats.org/drawingml/2006/main">
            <a:off x="895350" y="4295775"/>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E7D6B5"/>
                </a:solidFill>
                <a:latin typeface="Aptos"/>
                <a:ea typeface="Aptos"/>
                <a:cs typeface="Aptos"/>
              </a:defRPr>
            </a:pPr>
            <a:r>
              <a:rPr sz="675" b="1">
                <a:solidFill>
                  <a:srgbClr val="E7D6B5"/>
                </a:solidFill>
                <a:latin typeface="Aptos"/>
                <a:ea typeface="Aptos"/>
                <a:cs typeface="Aptos"/>
              </a:rPr>
              <a:t>DEMO</a:t>
            </a:r>
          </a:p>
        </p:txBody>
      </p:sp>
      <p:sp>
        <p:nvSpPr>
          <p:cNvPr id="12" name="">
            <a:extLst xmlns:a="http://schemas.openxmlformats.org/drawingml/2006/main">
              <a:ext uri="{FF2B5EF4-FFF2-40B4-BE49-F238E27FC236}">
                <a16:creationId xmlns:a16="http://schemas.microsoft.com/office/drawing/2014/main" id="{3A74662D-EF81-4B5B-B8C1-53784C371ADB}"/>
              </a:ext>
            </a:extLst>
          </p:cNvPr>
          <p:cNvSpPr>
            <a:spLocks xmlns:a="http://schemas.openxmlformats.org/drawingml/2006/main" noGrp="1"/>
          </p:cNvSpPr>
          <p:nvPr/>
        </p:nvSpPr>
        <p:spPr>
          <a:xfrm xmlns:a="http://schemas.openxmlformats.org/drawingml/2006/main">
            <a:off x="895350" y="4543425"/>
            <a:ext cx="4381500" cy="219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FFFFFF"/>
                </a:solidFill>
                <a:latin typeface="Aptos Mono"/>
                <a:ea typeface="Aptos Mono"/>
                <a:cs typeface="Aptos Mono"/>
              </a:defRPr>
            </a:pPr>
            <a:r>
              <a:rPr sz="1050" b="0">
                <a:solidFill>
                  <a:srgbClr val="FFFFFF"/>
                </a:solidFill>
                <a:latin typeface="Aptos Mono"/>
                <a:ea typeface="Aptos Mono"/>
                <a:cs typeface="Aptos Mono"/>
              </a:rPr>
              <a:t>singhacks-jb-wealth-intelligence.vercel.app</a:t>
            </a:r>
          </a:p>
        </p:txBody>
      </p:sp>
      <p:sp>
        <p:nvSpPr>
          <p:cNvPr id="13" name="handoff-rule">
            <a:extLst xmlns:a="http://schemas.openxmlformats.org/drawingml/2006/main">
              <a:ext uri="{FF2B5EF4-FFF2-40B4-BE49-F238E27FC236}">
                <a16:creationId xmlns:a16="http://schemas.microsoft.com/office/drawing/2014/main" id="{DE5F87DD-F6DD-45EC-81DA-BF57021B082B}"/>
              </a:ext>
            </a:extLst>
          </p:cNvPr>
          <p:cNvSpPr>
            <a:spLocks xmlns:a="http://schemas.openxmlformats.org/drawingml/2006/main" noGrp="1"/>
          </p:cNvSpPr>
          <p:nvPr/>
        </p:nvSpPr>
        <p:spPr>
          <a:xfrm xmlns:a="http://schemas.openxmlformats.org/drawingml/2006/main">
            <a:off x="895350" y="4905375"/>
            <a:ext cx="4905375" cy="9525"/>
          </a:xfrm>
          <a:prstGeom xmlns:a="http://schemas.openxmlformats.org/drawingml/2006/main" prst="rect">
            <a:avLst/>
          </a:prstGeom>
          <a:solidFill xmlns:a="http://schemas.openxmlformats.org/drawingml/2006/main">
            <a:srgbClr val="42534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4CE5020-D8E5-473C-98B2-08861131A738}"/>
              </a:ext>
            </a:extLst>
          </p:cNvPr>
          <p:cNvSpPr>
            <a:spLocks xmlns:a="http://schemas.openxmlformats.org/drawingml/2006/main" noGrp="1"/>
          </p:cNvSpPr>
          <p:nvPr/>
        </p:nvSpPr>
        <p:spPr>
          <a:xfrm xmlns:a="http://schemas.openxmlformats.org/drawingml/2006/main">
            <a:off x="895350" y="50482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E7D6B5"/>
                </a:solidFill>
                <a:latin typeface="Aptos"/>
                <a:ea typeface="Aptos"/>
                <a:cs typeface="Aptos"/>
              </a:defRPr>
            </a:pPr>
            <a:r>
              <a:rPr sz="675" b="1">
                <a:solidFill>
                  <a:srgbClr val="E7D6B5"/>
                </a:solidFill>
                <a:latin typeface="Aptos"/>
                <a:ea typeface="Aptos"/>
                <a:cs typeface="Aptos"/>
              </a:rPr>
              <a:t>CODE REPOSITORY</a:t>
            </a:r>
          </a:p>
        </p:txBody>
      </p:sp>
      <p:sp>
        <p:nvSpPr>
          <p:cNvPr id="15" name="">
            <a:extLst xmlns:a="http://schemas.openxmlformats.org/drawingml/2006/main">
              <a:ext uri="{FF2B5EF4-FFF2-40B4-BE49-F238E27FC236}">
                <a16:creationId xmlns:a16="http://schemas.microsoft.com/office/drawing/2014/main" id="{E55AD83F-532A-40BB-8411-59F415D721F6}"/>
              </a:ext>
            </a:extLst>
          </p:cNvPr>
          <p:cNvSpPr>
            <a:spLocks xmlns:a="http://schemas.openxmlformats.org/drawingml/2006/main" noGrp="1"/>
          </p:cNvSpPr>
          <p:nvPr/>
        </p:nvSpPr>
        <p:spPr>
          <a:xfrm xmlns:a="http://schemas.openxmlformats.org/drawingml/2006/main">
            <a:off x="895350" y="5257800"/>
            <a:ext cx="476250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C5CFCB"/>
                </a:solidFill>
                <a:latin typeface="Aptos"/>
                <a:ea typeface="Aptos"/>
                <a:cs typeface="Aptos"/>
              </a:defRPr>
            </a:pPr>
            <a:r>
              <a:rPr sz="825" b="0">
                <a:solidFill>
                  <a:srgbClr val="C5CFCB"/>
                </a:solidFill>
                <a:latin typeface="Aptos"/>
                <a:ea typeface="Aptos"/>
                <a:cs typeface="Aptos"/>
              </a:rPr>
              <a:t>github.com/alicia112233/SingHacks2026 · grant judge access if private</a:t>
            </a:r>
          </a:p>
        </p:txBody>
      </p:sp>
      <p:sp>
        <p:nvSpPr>
          <p:cNvPr id="16" name="team-photo-frame">
            <a:extLst xmlns:a="http://schemas.openxmlformats.org/drawingml/2006/main">
              <a:ext uri="{FF2B5EF4-FFF2-40B4-BE49-F238E27FC236}">
                <a16:creationId xmlns:a16="http://schemas.microsoft.com/office/drawing/2014/main" id="{C2479FCF-CBAE-4A58-8B5D-3A40BE0C339C}"/>
              </a:ext>
            </a:extLst>
          </p:cNvPr>
          <p:cNvSpPr>
            <a:spLocks xmlns:a="http://schemas.openxmlformats.org/drawingml/2006/main" noGrp="1"/>
          </p:cNvSpPr>
          <p:nvPr/>
        </p:nvSpPr>
        <p:spPr>
          <a:xfrm xmlns:a="http://schemas.openxmlformats.org/drawingml/2006/main">
            <a:off x="6743700" y="866775"/>
            <a:ext cx="4838700" cy="4591050"/>
          </a:xfrm>
          <a:prstGeom xmlns:a="http://schemas.openxmlformats.org/drawingml/2006/main" prst="rect">
            <a:avLst/>
          </a:prstGeom>
          <a:solidFill xmlns:a="http://schemas.openxmlformats.org/drawingml/2006/main">
            <a:srgbClr val="1F2B28"/>
          </a:solidFill>
          <a:ln xmlns:a="http://schemas.openxmlformats.org/drawingml/2006/main" w="19050">
            <a:solidFill>
              <a:srgbClr val="B78F50"/>
            </a:solidFill>
            <a:prstDash val="solid"/>
          </a:ln>
        </p:spPr>
      </p:sp>
      <p:sp>
        <p:nvSpPr>
          <p:cNvPr id="17" name="photo-top-rule">
            <a:extLst xmlns:a="http://schemas.openxmlformats.org/drawingml/2006/main">
              <a:ext uri="{FF2B5EF4-FFF2-40B4-BE49-F238E27FC236}">
                <a16:creationId xmlns:a16="http://schemas.microsoft.com/office/drawing/2014/main" id="{9D0A6CB3-3D7C-4CA8-9028-CAA1637CECA7}"/>
              </a:ext>
            </a:extLst>
          </p:cNvPr>
          <p:cNvSpPr>
            <a:spLocks xmlns:a="http://schemas.openxmlformats.org/drawingml/2006/main" noGrp="1"/>
          </p:cNvSpPr>
          <p:nvPr/>
        </p:nvSpPr>
        <p:spPr>
          <a:xfrm xmlns:a="http://schemas.openxmlformats.org/drawingml/2006/main">
            <a:off x="6981825" y="1104900"/>
            <a:ext cx="4362450" cy="9525"/>
          </a:xfrm>
          <a:prstGeom xmlns:a="http://schemas.openxmlformats.org/drawingml/2006/main" prst="rect">
            <a:avLst/>
          </a:prstGeom>
          <a:solidFill xmlns:a="http://schemas.openxmlformats.org/drawingml/2006/main">
            <a:srgbClr val="42534F"/>
          </a:solidFill>
          <a:ln xmlns:a="http://schemas.openxmlformats.org/drawingml/2006/main" w="0">
            <a:solidFill>
              <a:srgbClr val="000000">
                <a:alpha val="0"/>
              </a:srgbClr>
            </a:solidFill>
            <a:prstDash val="solid"/>
          </a:ln>
        </p:spPr>
      </p:sp>
      <p:sp>
        <p:nvSpPr>
          <p:cNvPr id="18" name="photo-bottom-rule">
            <a:extLst xmlns:a="http://schemas.openxmlformats.org/drawingml/2006/main">
              <a:ext uri="{FF2B5EF4-FFF2-40B4-BE49-F238E27FC236}">
                <a16:creationId xmlns:a16="http://schemas.microsoft.com/office/drawing/2014/main" id="{B7013B6B-C2C1-4BA2-8D26-C067208CD394}"/>
              </a:ext>
            </a:extLst>
          </p:cNvPr>
          <p:cNvSpPr>
            <a:spLocks xmlns:a="http://schemas.openxmlformats.org/drawingml/2006/main" noGrp="1"/>
          </p:cNvSpPr>
          <p:nvPr/>
        </p:nvSpPr>
        <p:spPr>
          <a:xfrm xmlns:a="http://schemas.openxmlformats.org/drawingml/2006/main">
            <a:off x="6981825" y="5219700"/>
            <a:ext cx="4362450" cy="9525"/>
          </a:xfrm>
          <a:prstGeom xmlns:a="http://schemas.openxmlformats.org/drawingml/2006/main" prst="rect">
            <a:avLst/>
          </a:prstGeom>
          <a:solidFill xmlns:a="http://schemas.openxmlformats.org/drawingml/2006/main">
            <a:srgbClr val="42534F"/>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1B4D3C8-59D0-489C-ADB5-415238949D57}"/>
              </a:ext>
            </a:extLst>
          </p:cNvPr>
          <p:cNvSpPr>
            <a:spLocks xmlns:a="http://schemas.openxmlformats.org/drawingml/2006/main" noGrp="1"/>
          </p:cNvSpPr>
          <p:nvPr/>
        </p:nvSpPr>
        <p:spPr>
          <a:xfrm xmlns:a="http://schemas.openxmlformats.org/drawingml/2006/main">
            <a:off x="7000875" y="12001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E7D6B5"/>
                </a:solidFill>
                <a:latin typeface="Aptos"/>
                <a:ea typeface="Aptos"/>
                <a:cs typeface="Aptos"/>
              </a:defRPr>
            </a:pPr>
            <a:r>
              <a:rPr sz="750" b="1">
                <a:solidFill>
                  <a:srgbClr val="E7D6B5"/>
                </a:solidFill>
                <a:latin typeface="Aptos"/>
                <a:ea typeface="Aptos"/>
                <a:cs typeface="Aptos"/>
              </a:rPr>
              <a:t>30-DAY SHADOW PILOT</a:t>
            </a:r>
          </a:p>
        </p:txBody>
      </p:sp>
      <p:sp>
        <p:nvSpPr>
          <p:cNvPr id="20" name="">
            <a:extLst xmlns:a="http://schemas.openxmlformats.org/drawingml/2006/main">
              <a:ext uri="{FF2B5EF4-FFF2-40B4-BE49-F238E27FC236}">
                <a16:creationId xmlns:a16="http://schemas.microsoft.com/office/drawing/2014/main" id="{51E1F1CA-9BCE-4E56-9561-CA04F827C5BA}"/>
              </a:ext>
            </a:extLst>
          </p:cNvPr>
          <p:cNvSpPr>
            <a:spLocks xmlns:a="http://schemas.openxmlformats.org/drawingml/2006/main" noGrp="1"/>
          </p:cNvSpPr>
          <p:nvPr/>
        </p:nvSpPr>
        <p:spPr>
          <a:xfrm xmlns:a="http://schemas.openxmlformats.org/drawingml/2006/main">
            <a:off x="7239000" y="2314575"/>
            <a:ext cx="38481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550" b="0">
                <a:solidFill>
                  <a:srgbClr val="FFFFFF"/>
                </a:solidFill>
                <a:latin typeface="Georgia"/>
                <a:ea typeface="Georgia"/>
                <a:cs typeface="Georgia"/>
              </a:defRPr>
            </a:pPr>
            <a:r>
              <a:rPr sz="2550" b="0">
                <a:solidFill>
                  <a:srgbClr val="FFFFFF"/>
                </a:solidFill>
                <a:latin typeface="Georgia"/>
                <a:ea typeface="Georgia"/>
                <a:cs typeface="Georgia"/>
              </a:rPr>
              <a:t>1 DESK</a:t>
            </a:r>
          </a:p>
          <a:p xmlns:a="http://schemas.openxmlformats.org/drawingml/2006/main">
            <a:pPr algn="ctr">
              <a:buNone/>
              <a:defRPr sz="2550" b="0">
                <a:solidFill>
                  <a:srgbClr val="FFFFFF"/>
                </a:solidFill>
                <a:latin typeface="Georgia"/>
                <a:ea typeface="Georgia"/>
                <a:cs typeface="Georgia"/>
              </a:defRPr>
            </a:pPr>
            <a:r>
              <a:rPr sz="2550" b="0">
                <a:solidFill>
                  <a:srgbClr val="FFFFFF"/>
                </a:solidFill>
                <a:latin typeface="Georgia"/>
                <a:ea typeface="Georgia"/>
                <a:cs typeface="Georgia"/>
              </a:rPr>
              <a:t>REAL DECISIONS</a:t>
            </a:r>
          </a:p>
        </p:txBody>
      </p:sp>
      <p:sp>
        <p:nvSpPr>
          <p:cNvPr id="21" name="">
            <a:extLst xmlns:a="http://schemas.openxmlformats.org/drawingml/2006/main">
              <a:ext uri="{FF2B5EF4-FFF2-40B4-BE49-F238E27FC236}">
                <a16:creationId xmlns:a16="http://schemas.microsoft.com/office/drawing/2014/main" id="{C1553164-24A5-414B-9FA3-BDE5E41FE2B0}"/>
              </a:ext>
            </a:extLst>
          </p:cNvPr>
          <p:cNvSpPr>
            <a:spLocks xmlns:a="http://schemas.openxmlformats.org/drawingml/2006/main" noGrp="1"/>
          </p:cNvSpPr>
          <p:nvPr/>
        </p:nvSpPr>
        <p:spPr>
          <a:xfrm xmlns:a="http://schemas.openxmlformats.org/drawingml/2006/main">
            <a:off x="7391400" y="3381375"/>
            <a:ext cx="3543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75" b="0">
                <a:solidFill>
                  <a:srgbClr val="AAB6B2"/>
                </a:solidFill>
                <a:latin typeface="Aptos"/>
                <a:ea typeface="Aptos"/>
                <a:cs typeface="Aptos"/>
              </a:defRPr>
            </a:pPr>
            <a:r>
              <a:rPr sz="975" b="0">
                <a:solidFill>
                  <a:srgbClr val="AAB6B2"/>
                </a:solidFill>
                <a:latin typeface="Aptos"/>
                <a:ea typeface="Aptos"/>
                <a:cs typeface="Aptos"/>
              </a:rPr>
              <a:t>No client-facing automation.</a:t>
            </a:r>
          </a:p>
          <a:p xmlns:a="http://schemas.openxmlformats.org/drawingml/2006/main">
            <a:pPr algn="ctr">
              <a:buNone/>
              <a:defRPr sz="975" b="0">
                <a:solidFill>
                  <a:srgbClr val="AAB6B2"/>
                </a:solidFill>
                <a:latin typeface="Aptos"/>
                <a:ea typeface="Aptos"/>
                <a:cs typeface="Aptos"/>
              </a:defRPr>
            </a:pPr>
            <a:r>
              <a:rPr sz="975" b="0">
                <a:solidFill>
                  <a:srgbClr val="AAB6B2"/>
                </a:solidFill>
                <a:latin typeface="Aptos"/>
                <a:ea typeface="Aptos"/>
                <a:cs typeface="Aptos"/>
              </a:rPr>
              <a:t>Measure behaviour before expansion.</a:t>
            </a:r>
          </a:p>
        </p:txBody>
      </p:sp>
      <p:sp>
        <p:nvSpPr>
          <p:cNvPr id="22" name="">
            <a:extLst xmlns:a="http://schemas.openxmlformats.org/drawingml/2006/main">
              <a:ext uri="{FF2B5EF4-FFF2-40B4-BE49-F238E27FC236}">
                <a16:creationId xmlns:a16="http://schemas.microsoft.com/office/drawing/2014/main" id="{A5F3CC39-E775-41AF-B514-3D92BCC85A42}"/>
              </a:ext>
            </a:extLst>
          </p:cNvPr>
          <p:cNvSpPr>
            <a:spLocks xmlns:a="http://schemas.openxmlformats.org/drawingml/2006/main" noGrp="1"/>
          </p:cNvSpPr>
          <p:nvPr/>
        </p:nvSpPr>
        <p:spPr>
          <a:xfrm xmlns:a="http://schemas.openxmlformats.org/drawingml/2006/main">
            <a:off x="7239000" y="4819650"/>
            <a:ext cx="38576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E7D6B5"/>
                </a:solidFill>
                <a:latin typeface="Aptos"/>
                <a:ea typeface="Aptos"/>
                <a:cs typeface="Aptos"/>
              </a:defRPr>
            </a:pPr>
            <a:r>
              <a:rPr sz="750" b="1">
                <a:solidFill>
                  <a:srgbClr val="E7D6B5"/>
                </a:solidFill>
                <a:latin typeface="Aptos"/>
                <a:ea typeface="Aptos"/>
                <a:cs typeface="Aptos"/>
              </a:rPr>
              <a:t>SUCCESS = TIME SAVED · TRACEABILITY · OVERRIDE QUALITY</a:t>
            </a:r>
          </a:p>
        </p:txBody>
      </p:sp>
      <p:sp>
        <p:nvSpPr>
          <p:cNvPr id="23" name="final-ask">
            <a:extLst xmlns:a="http://schemas.openxmlformats.org/drawingml/2006/main">
              <a:ext uri="{FF2B5EF4-FFF2-40B4-BE49-F238E27FC236}">
                <a16:creationId xmlns:a16="http://schemas.microsoft.com/office/drawing/2014/main" id="{8409F8D8-21CA-49F0-AF6E-907D3A6D0015}"/>
              </a:ext>
            </a:extLst>
          </p:cNvPr>
          <p:cNvSpPr>
            <a:spLocks xmlns:a="http://schemas.openxmlformats.org/drawingml/2006/main" noGrp="1"/>
          </p:cNvSpPr>
          <p:nvPr/>
        </p:nvSpPr>
        <p:spPr>
          <a:xfrm xmlns:a="http://schemas.openxmlformats.org/drawingml/2006/main">
            <a:off x="685800" y="5838825"/>
            <a:ext cx="10896600" cy="3810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54A22B9-0192-41A1-B589-12C13428E19E}"/>
              </a:ext>
            </a:extLst>
          </p:cNvPr>
          <p:cNvSpPr>
            <a:spLocks xmlns:a="http://schemas.openxmlformats.org/drawingml/2006/main" noGrp="1"/>
          </p:cNvSpPr>
          <p:nvPr/>
        </p:nvSpPr>
        <p:spPr>
          <a:xfrm xmlns:a="http://schemas.openxmlformats.org/drawingml/2006/main">
            <a:off x="895350" y="5848350"/>
            <a:ext cx="10477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17201E"/>
                </a:solidFill>
                <a:latin typeface="Aptos"/>
                <a:ea typeface="Aptos"/>
                <a:cs typeface="Aptos"/>
              </a:defRPr>
            </a:pPr>
            <a:r>
              <a:rPr sz="975" b="1">
                <a:solidFill>
                  <a:srgbClr val="17201E"/>
                </a:solidFill>
                <a:latin typeface="Aptos"/>
                <a:ea typeface="Aptos"/>
                <a:cs typeface="Aptos"/>
              </a:rPr>
              <a:t>ASK: SPONSOR A 30-DAY SHADOW PILOT, THEN SCALE ONLY WHAT THE EVIDENCE SUPPORTS.</a:t>
            </a:r>
          </a:p>
        </p:txBody>
      </p:sp>
      <p:sp>
        <p:nvSpPr>
          <p:cNvPr id="25" name="">
            <a:extLst xmlns:a="http://schemas.openxmlformats.org/drawingml/2006/main">
              <a:ext uri="{FF2B5EF4-FFF2-40B4-BE49-F238E27FC236}">
                <a16:creationId xmlns:a16="http://schemas.microsoft.com/office/drawing/2014/main" id="{785A1A09-A0A1-42E1-8E9A-9709065A3268}"/>
              </a:ext>
            </a:extLst>
          </p:cNvPr>
          <p:cNvSpPr>
            <a:spLocks xmlns:a="http://schemas.openxmlformats.org/drawingml/2006/main" noGrp="1"/>
          </p:cNvSpPr>
          <p:nvPr/>
        </p:nvSpPr>
        <p:spPr>
          <a:xfrm xmlns:a="http://schemas.openxmlformats.org/drawingml/2006/main">
            <a:off x="685800" y="6496050"/>
            <a:ext cx="857250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9EAAA6"/>
                </a:solidFill>
                <a:latin typeface="Aptos"/>
                <a:ea typeface="Aptos"/>
                <a:cs typeface="Aptos"/>
              </a:defRPr>
            </a:pPr>
            <a:r>
              <a:rPr sz="675" b="0">
                <a:solidFill>
                  <a:srgbClr val="9EAAA6"/>
                </a:solidFill>
                <a:latin typeface="Aptos"/>
                <a:ea typeface="Aptos"/>
                <a:cs typeface="Aptos"/>
              </a:rPr>
              <a:t>Synthetic challenge data · unofficial concept · not investment advice</a:t>
            </a:r>
          </a:p>
        </p:txBody>
      </p:sp>
      <p:sp>
        <p:nvSpPr>
          <p:cNvPr id="26" name="">
            <a:extLst xmlns:a="http://schemas.openxmlformats.org/drawingml/2006/main">
              <a:ext uri="{FF2B5EF4-FFF2-40B4-BE49-F238E27FC236}">
                <a16:creationId xmlns:a16="http://schemas.microsoft.com/office/drawing/2014/main" id="{BAE1F6DA-98DA-4D00-856C-A4FF5176F061}"/>
              </a:ext>
            </a:extLst>
          </p:cNvPr>
          <p:cNvSpPr>
            <a:spLocks xmlns:a="http://schemas.openxmlformats.org/drawingml/2006/main" noGrp="1"/>
          </p:cNvSpPr>
          <p:nvPr/>
        </p:nvSpPr>
        <p:spPr>
          <a:xfrm xmlns:a="http://schemas.openxmlformats.org/drawingml/2006/main">
            <a:off x="10972800" y="6486525"/>
            <a:ext cx="609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E7D6B5"/>
                </a:solidFill>
                <a:latin typeface="Aptos Mono"/>
                <a:ea typeface="Aptos Mono"/>
                <a:cs typeface="Aptos Mono"/>
              </a:defRPr>
            </a:pPr>
            <a:r>
              <a:rPr sz="750" b="1">
                <a:solidFill>
                  <a:srgbClr val="E7D6B5"/>
                </a:solidFill>
                <a:latin typeface="Aptos Mono"/>
                <a:ea typeface="Aptos Mono"/>
                <a:cs typeface="Aptos Mono"/>
              </a:rPr>
              <a:t>06</a:t>
            </a:r>
          </a:p>
        </p:txBody>
      </p:sp>
    </p:spTree>
    <p:extLst>
      <p:ext uri="{BB962C8B-B14F-4D97-AF65-F5344CB8AC3E}">
        <p14:creationId xmlns:p14="http://schemas.microsoft.com/office/powerpoint/2010/main" val="174561295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E9C63388-FC6B-4521-85EE-F824902736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6-marker">
            <a:extLst xmlns:a="http://schemas.openxmlformats.org/drawingml/2006/main">
              <a:ext uri="{FF2B5EF4-FFF2-40B4-BE49-F238E27FC236}">
                <a16:creationId xmlns:a16="http://schemas.microsoft.com/office/drawing/2014/main" id="{2FB1306C-B775-4322-9178-18A8EA534887}"/>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6-label">
            <a:extLst xmlns:a="http://schemas.openxmlformats.org/drawingml/2006/main">
              <a:ext uri="{FF2B5EF4-FFF2-40B4-BE49-F238E27FC236}">
                <a16:creationId xmlns:a16="http://schemas.microsoft.com/office/drawing/2014/main" id="{701669A7-6126-4F25-B5FE-4CDCC983ADB9}"/>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CLIENT PROOF · LAU CHI MING</a:t>
            </a:r>
          </a:p>
        </p:txBody>
      </p:sp>
      <p:sp>
        <p:nvSpPr>
          <p:cNvPr id="4" name="">
            <a:extLst xmlns:a="http://schemas.openxmlformats.org/drawingml/2006/main">
              <a:ext uri="{FF2B5EF4-FFF2-40B4-BE49-F238E27FC236}">
                <a16:creationId xmlns:a16="http://schemas.microsoft.com/office/drawing/2014/main" id="{3C9951F9-4187-424C-ACB2-ECF0E0EF768E}"/>
              </a:ext>
            </a:extLst>
          </p:cNvPr>
          <p:cNvSpPr>
            <a:spLocks xmlns:a="http://schemas.openxmlformats.org/drawingml/2006/main" noGrp="1"/>
          </p:cNvSpPr>
          <p:nvPr/>
        </p:nvSpPr>
        <p:spPr>
          <a:xfrm xmlns:a="http://schemas.openxmlformats.org/drawingml/2006/main">
            <a:off x="609600" y="685800"/>
            <a:ext cx="10858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0">
                <a:solidFill>
                  <a:srgbClr val="17201E"/>
                </a:solidFill>
                <a:latin typeface="Georgia"/>
                <a:ea typeface="Georgia"/>
                <a:cs typeface="Georgia"/>
              </a:defRPr>
            </a:pPr>
            <a:r>
              <a:rPr sz="2925" b="0">
                <a:solidFill>
                  <a:srgbClr val="17201E"/>
                </a:solidFill>
                <a:latin typeface="Georgia"/>
                <a:ea typeface="Georgia"/>
                <a:cs typeface="Georgia"/>
              </a:rPr>
              <a:t>Four wrappers create one 49.0% property bet—and just 0.59 LTV points remain.</a:t>
            </a:r>
          </a:p>
        </p:txBody>
      </p:sp>
      <p:sp>
        <p:nvSpPr>
          <p:cNvPr id="5" name="">
            <a:extLst xmlns:a="http://schemas.openxmlformats.org/drawingml/2006/main">
              <a:ext uri="{FF2B5EF4-FFF2-40B4-BE49-F238E27FC236}">
                <a16:creationId xmlns:a16="http://schemas.microsoft.com/office/drawing/2014/main" id="{9E05D041-5060-47F1-A262-76ACD1FBB351}"/>
              </a:ext>
            </a:extLst>
          </p:cNvPr>
          <p:cNvSpPr>
            <a:spLocks xmlns:a="http://schemas.openxmlformats.org/drawingml/2006/main" noGrp="1"/>
          </p:cNvSpPr>
          <p:nvPr/>
        </p:nvSpPr>
        <p:spPr>
          <a:xfrm xmlns:a="http://schemas.openxmlformats.org/drawingml/2006/main">
            <a:off x="609600" y="1609725"/>
            <a:ext cx="87630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6F766F"/>
                </a:solidFill>
                <a:latin typeface="Aptos"/>
                <a:ea typeface="Aptos"/>
                <a:cs typeface="Aptos"/>
              </a:defRPr>
            </a:pPr>
            <a:r>
              <a:rPr sz="1275" b="0">
                <a:solidFill>
                  <a:srgbClr val="6F766F"/>
                </a:solidFill>
                <a:latin typeface="Aptos"/>
                <a:ea typeface="Aptos"/>
                <a:cs typeface="Aptos"/>
              </a:rPr>
              <a:t>The asset-class report fragments the risk. Look-through and credit math put it back together.</a:t>
            </a:r>
          </a:p>
        </p:txBody>
      </p:sp>
      <p:sp>
        <p:nvSpPr>
          <p:cNvPr id="6" name="">
            <a:extLst xmlns:a="http://schemas.openxmlformats.org/drawingml/2006/main">
              <a:ext uri="{FF2B5EF4-FFF2-40B4-BE49-F238E27FC236}">
                <a16:creationId xmlns:a16="http://schemas.microsoft.com/office/drawing/2014/main" id="{06DC87CA-E95D-49EB-AFF5-7943F8E2CC8E}"/>
              </a:ext>
            </a:extLst>
          </p:cNvPr>
          <p:cNvSpPr>
            <a:spLocks xmlns:a="http://schemas.openxmlformats.org/drawingml/2006/main" noGrp="1"/>
          </p:cNvSpPr>
          <p:nvPr/>
        </p:nvSpPr>
        <p:spPr>
          <a:xfrm xmlns:a="http://schemas.openxmlformats.org/drawingml/2006/main">
            <a:off x="609600" y="2200275"/>
            <a:ext cx="476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BANK-HELD PORTFOLIO LOOK-THROUGH</a:t>
            </a:r>
          </a:p>
        </p:txBody>
      </p:sp>
      <p:sp>
        <p:nvSpPr>
          <p:cNvPr id="7" name="lau-stack-1">
            <a:extLst xmlns:a="http://schemas.openxmlformats.org/drawingml/2006/main">
              <a:ext uri="{FF2B5EF4-FFF2-40B4-BE49-F238E27FC236}">
                <a16:creationId xmlns:a16="http://schemas.microsoft.com/office/drawing/2014/main" id="{9F2CDBE1-9F0C-4732-ADE9-6CC0E30AFA35}"/>
              </a:ext>
            </a:extLst>
          </p:cNvPr>
          <p:cNvSpPr>
            <a:spLocks xmlns:a="http://schemas.openxmlformats.org/drawingml/2006/main" noGrp="1"/>
          </p:cNvSpPr>
          <p:nvPr/>
        </p:nvSpPr>
        <p:spPr>
          <a:xfrm xmlns:a="http://schemas.openxmlformats.org/drawingml/2006/main">
            <a:off x="609600" y="2628900"/>
            <a:ext cx="974522" cy="47625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8" name="lau-stack-2">
            <a:extLst xmlns:a="http://schemas.openxmlformats.org/drawingml/2006/main">
              <a:ext uri="{FF2B5EF4-FFF2-40B4-BE49-F238E27FC236}">
                <a16:creationId xmlns:a16="http://schemas.microsoft.com/office/drawing/2014/main" id="{2A9144BE-9279-4D66-9D69-1147B1528A46}"/>
              </a:ext>
            </a:extLst>
          </p:cNvPr>
          <p:cNvSpPr>
            <a:spLocks xmlns:a="http://schemas.openxmlformats.org/drawingml/2006/main" noGrp="1"/>
          </p:cNvSpPr>
          <p:nvPr/>
        </p:nvSpPr>
        <p:spPr>
          <a:xfrm xmlns:a="http://schemas.openxmlformats.org/drawingml/2006/main">
            <a:off x="1584122" y="2628900"/>
            <a:ext cx="641394" cy="476250"/>
          </a:xfrm>
          <a:prstGeom xmlns:a="http://schemas.openxmlformats.org/drawingml/2006/main" prst="rect">
            <a:avLst/>
          </a:prstGeom>
          <a:solidFill xmlns:a="http://schemas.openxmlformats.org/drawingml/2006/main">
            <a:srgbClr val="5B7F78"/>
          </a:solidFill>
          <a:ln xmlns:a="http://schemas.openxmlformats.org/drawingml/2006/main" w="0">
            <a:solidFill>
              <a:srgbClr val="000000">
                <a:alpha val="0"/>
              </a:srgbClr>
            </a:solidFill>
            <a:prstDash val="solid"/>
          </a:ln>
        </p:spPr>
      </p:sp>
      <p:sp>
        <p:nvSpPr>
          <p:cNvPr id="9" name="lau-stack-3">
            <a:extLst xmlns:a="http://schemas.openxmlformats.org/drawingml/2006/main">
              <a:ext uri="{FF2B5EF4-FFF2-40B4-BE49-F238E27FC236}">
                <a16:creationId xmlns:a16="http://schemas.microsoft.com/office/drawing/2014/main" id="{A7BC2E65-ED13-4683-93A0-43A0B8EFC74D}"/>
              </a:ext>
            </a:extLst>
          </p:cNvPr>
          <p:cNvSpPr>
            <a:spLocks xmlns:a="http://schemas.openxmlformats.org/drawingml/2006/main" noGrp="1"/>
          </p:cNvSpPr>
          <p:nvPr/>
        </p:nvSpPr>
        <p:spPr>
          <a:xfrm xmlns:a="http://schemas.openxmlformats.org/drawingml/2006/main">
            <a:off x="2225516" y="2628900"/>
            <a:ext cx="472345" cy="4762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0" name="lau-stack-4">
            <a:extLst xmlns:a="http://schemas.openxmlformats.org/drawingml/2006/main">
              <a:ext uri="{FF2B5EF4-FFF2-40B4-BE49-F238E27FC236}">
                <a16:creationId xmlns:a16="http://schemas.microsoft.com/office/drawing/2014/main" id="{35032FCD-3D22-45F9-BBF2-EEC96C85B3D4}"/>
              </a:ext>
            </a:extLst>
          </p:cNvPr>
          <p:cNvSpPr>
            <a:spLocks xmlns:a="http://schemas.openxmlformats.org/drawingml/2006/main" noGrp="1"/>
          </p:cNvSpPr>
          <p:nvPr/>
        </p:nvSpPr>
        <p:spPr>
          <a:xfrm xmlns:a="http://schemas.openxmlformats.org/drawingml/2006/main">
            <a:off x="2697861" y="2628900"/>
            <a:ext cx="348044" cy="47625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11" name="lau-stack-5">
            <a:extLst xmlns:a="http://schemas.openxmlformats.org/drawingml/2006/main">
              <a:ext uri="{FF2B5EF4-FFF2-40B4-BE49-F238E27FC236}">
                <a16:creationId xmlns:a16="http://schemas.microsoft.com/office/drawing/2014/main" id="{63F9BC72-5270-452F-B957-4A3267A54C49}"/>
              </a:ext>
            </a:extLst>
          </p:cNvPr>
          <p:cNvSpPr>
            <a:spLocks xmlns:a="http://schemas.openxmlformats.org/drawingml/2006/main" noGrp="1"/>
          </p:cNvSpPr>
          <p:nvPr/>
        </p:nvSpPr>
        <p:spPr>
          <a:xfrm xmlns:a="http://schemas.openxmlformats.org/drawingml/2006/main">
            <a:off x="3045905" y="2628900"/>
            <a:ext cx="2535746" cy="47625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12" name="lau-legend-1">
            <a:extLst xmlns:a="http://schemas.openxmlformats.org/drawingml/2006/main">
              <a:ext uri="{FF2B5EF4-FFF2-40B4-BE49-F238E27FC236}">
                <a16:creationId xmlns:a16="http://schemas.microsoft.com/office/drawing/2014/main" id="{498BD3BC-B8F0-433B-9974-7289A93623BD}"/>
              </a:ext>
            </a:extLst>
          </p:cNvPr>
          <p:cNvSpPr>
            <a:spLocks xmlns:a="http://schemas.openxmlformats.org/drawingml/2006/main" noGrp="1"/>
          </p:cNvSpPr>
          <p:nvPr/>
        </p:nvSpPr>
        <p:spPr>
          <a:xfrm xmlns:a="http://schemas.openxmlformats.org/drawingml/2006/main">
            <a:off x="609600" y="3400425"/>
            <a:ext cx="76200" cy="7620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9343C39-F5A7-457A-8BA0-C123ACB0A5B4}"/>
              </a:ext>
            </a:extLst>
          </p:cNvPr>
          <p:cNvSpPr>
            <a:spLocks xmlns:a="http://schemas.openxmlformats.org/drawingml/2006/main" noGrp="1"/>
          </p:cNvSpPr>
          <p:nvPr/>
        </p:nvSpPr>
        <p:spPr>
          <a:xfrm xmlns:a="http://schemas.openxmlformats.org/drawingml/2006/main">
            <a:off x="790575" y="33623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Direct Mid-Levels property</a:t>
            </a:r>
          </a:p>
        </p:txBody>
      </p:sp>
      <p:sp>
        <p:nvSpPr>
          <p:cNvPr id="14" name="">
            <a:extLst xmlns:a="http://schemas.openxmlformats.org/drawingml/2006/main">
              <a:ext uri="{FF2B5EF4-FFF2-40B4-BE49-F238E27FC236}">
                <a16:creationId xmlns:a16="http://schemas.microsoft.com/office/drawing/2014/main" id="{0E902501-AA42-4B53-8A7A-6887A26BDC93}"/>
              </a:ext>
            </a:extLst>
          </p:cNvPr>
          <p:cNvSpPr>
            <a:spLocks xmlns:a="http://schemas.openxmlformats.org/drawingml/2006/main" noGrp="1"/>
          </p:cNvSpPr>
          <p:nvPr/>
        </p:nvSpPr>
        <p:spPr>
          <a:xfrm xmlns:a="http://schemas.openxmlformats.org/drawingml/2006/main">
            <a:off x="4476750" y="3362325"/>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19.6%</a:t>
            </a:r>
          </a:p>
        </p:txBody>
      </p:sp>
      <p:sp>
        <p:nvSpPr>
          <p:cNvPr id="15" name="lau-legend-rule-1">
            <a:extLst xmlns:a="http://schemas.openxmlformats.org/drawingml/2006/main">
              <a:ext uri="{FF2B5EF4-FFF2-40B4-BE49-F238E27FC236}">
                <a16:creationId xmlns:a16="http://schemas.microsoft.com/office/drawing/2014/main" id="{C25DA11F-1108-429C-9B14-A4CB91917A14}"/>
              </a:ext>
            </a:extLst>
          </p:cNvPr>
          <p:cNvSpPr>
            <a:spLocks xmlns:a="http://schemas.openxmlformats.org/drawingml/2006/main" noGrp="1"/>
          </p:cNvSpPr>
          <p:nvPr/>
        </p:nvSpPr>
        <p:spPr>
          <a:xfrm xmlns:a="http://schemas.openxmlformats.org/drawingml/2006/main">
            <a:off x="790575" y="3657600"/>
            <a:ext cx="47815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16" name="lau-legend-2">
            <a:extLst xmlns:a="http://schemas.openxmlformats.org/drawingml/2006/main">
              <a:ext uri="{FF2B5EF4-FFF2-40B4-BE49-F238E27FC236}">
                <a16:creationId xmlns:a16="http://schemas.microsoft.com/office/drawing/2014/main" id="{53CBB4E3-1F09-4473-A24D-F93E99369840}"/>
              </a:ext>
            </a:extLst>
          </p:cNvPr>
          <p:cNvSpPr>
            <a:spLocks xmlns:a="http://schemas.openxmlformats.org/drawingml/2006/main" noGrp="1"/>
          </p:cNvSpPr>
          <p:nvPr/>
        </p:nvSpPr>
        <p:spPr>
          <a:xfrm xmlns:a="http://schemas.openxmlformats.org/drawingml/2006/main">
            <a:off x="609600" y="3848100"/>
            <a:ext cx="76200" cy="76200"/>
          </a:xfrm>
          <a:prstGeom xmlns:a="http://schemas.openxmlformats.org/drawingml/2006/main" prst="rect">
            <a:avLst/>
          </a:prstGeom>
          <a:solidFill xmlns:a="http://schemas.openxmlformats.org/drawingml/2006/main">
            <a:srgbClr val="5B7F7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C65411F-E403-4D02-A913-437B5ED2EFAF}"/>
              </a:ext>
            </a:extLst>
          </p:cNvPr>
          <p:cNvSpPr>
            <a:spLocks xmlns:a="http://schemas.openxmlformats.org/drawingml/2006/main" noGrp="1"/>
          </p:cNvSpPr>
          <p:nvPr/>
        </p:nvSpPr>
        <p:spPr>
          <a:xfrm xmlns:a="http://schemas.openxmlformats.org/drawingml/2006/main">
            <a:off x="790575" y="38100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Golden Harbour perpetual</a:t>
            </a:r>
          </a:p>
        </p:txBody>
      </p:sp>
      <p:sp>
        <p:nvSpPr>
          <p:cNvPr id="18" name="">
            <a:extLst xmlns:a="http://schemas.openxmlformats.org/drawingml/2006/main">
              <a:ext uri="{FF2B5EF4-FFF2-40B4-BE49-F238E27FC236}">
                <a16:creationId xmlns:a16="http://schemas.microsoft.com/office/drawing/2014/main" id="{5DBBE742-41C9-4BC9-BEA6-69A569C39B67}"/>
              </a:ext>
            </a:extLst>
          </p:cNvPr>
          <p:cNvSpPr>
            <a:spLocks xmlns:a="http://schemas.openxmlformats.org/drawingml/2006/main" noGrp="1"/>
          </p:cNvSpPr>
          <p:nvPr/>
        </p:nvSpPr>
        <p:spPr>
          <a:xfrm xmlns:a="http://schemas.openxmlformats.org/drawingml/2006/main">
            <a:off x="4476750" y="3810000"/>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12.9%</a:t>
            </a:r>
          </a:p>
        </p:txBody>
      </p:sp>
      <p:sp>
        <p:nvSpPr>
          <p:cNvPr id="19" name="lau-legend-rule-2">
            <a:extLst xmlns:a="http://schemas.openxmlformats.org/drawingml/2006/main">
              <a:ext uri="{FF2B5EF4-FFF2-40B4-BE49-F238E27FC236}">
                <a16:creationId xmlns:a16="http://schemas.microsoft.com/office/drawing/2014/main" id="{D536DD75-6C1E-4C09-B339-99A9DD8B9632}"/>
              </a:ext>
            </a:extLst>
          </p:cNvPr>
          <p:cNvSpPr>
            <a:spLocks xmlns:a="http://schemas.openxmlformats.org/drawingml/2006/main" noGrp="1"/>
          </p:cNvSpPr>
          <p:nvPr/>
        </p:nvSpPr>
        <p:spPr>
          <a:xfrm xmlns:a="http://schemas.openxmlformats.org/drawingml/2006/main">
            <a:off x="790575" y="4105275"/>
            <a:ext cx="47815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0" name="lau-legend-3">
            <a:extLst xmlns:a="http://schemas.openxmlformats.org/drawingml/2006/main">
              <a:ext uri="{FF2B5EF4-FFF2-40B4-BE49-F238E27FC236}">
                <a16:creationId xmlns:a16="http://schemas.microsoft.com/office/drawing/2014/main" id="{7AAFB9B1-655A-4D69-BAC8-E9DCB60AAD74}"/>
              </a:ext>
            </a:extLst>
          </p:cNvPr>
          <p:cNvSpPr>
            <a:spLocks xmlns:a="http://schemas.openxmlformats.org/drawingml/2006/main" noGrp="1"/>
          </p:cNvSpPr>
          <p:nvPr/>
        </p:nvSpPr>
        <p:spPr>
          <a:xfrm xmlns:a="http://schemas.openxmlformats.org/drawingml/2006/main">
            <a:off x="609600" y="4295775"/>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5BCF35C-1AB8-43C8-A21D-5A3555A6AB41}"/>
              </a:ext>
            </a:extLst>
          </p:cNvPr>
          <p:cNvSpPr>
            <a:spLocks xmlns:a="http://schemas.openxmlformats.org/drawingml/2006/main" noGrp="1"/>
          </p:cNvSpPr>
          <p:nvPr/>
        </p:nvSpPr>
        <p:spPr>
          <a:xfrm xmlns:a="http://schemas.openxmlformats.org/drawingml/2006/main">
            <a:off x="790575" y="425767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Golden Harbour equity</a:t>
            </a:r>
          </a:p>
        </p:txBody>
      </p:sp>
      <p:sp>
        <p:nvSpPr>
          <p:cNvPr id="22" name="">
            <a:extLst xmlns:a="http://schemas.openxmlformats.org/drawingml/2006/main">
              <a:ext uri="{FF2B5EF4-FFF2-40B4-BE49-F238E27FC236}">
                <a16:creationId xmlns:a16="http://schemas.microsoft.com/office/drawing/2014/main" id="{65E3B390-5A8A-4B42-AA23-49C21D4CF5C5}"/>
              </a:ext>
            </a:extLst>
          </p:cNvPr>
          <p:cNvSpPr>
            <a:spLocks xmlns:a="http://schemas.openxmlformats.org/drawingml/2006/main" noGrp="1"/>
          </p:cNvSpPr>
          <p:nvPr/>
        </p:nvSpPr>
        <p:spPr>
          <a:xfrm xmlns:a="http://schemas.openxmlformats.org/drawingml/2006/main">
            <a:off x="4476750" y="4257675"/>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9.5%</a:t>
            </a:r>
          </a:p>
        </p:txBody>
      </p:sp>
      <p:sp>
        <p:nvSpPr>
          <p:cNvPr id="23" name="lau-legend-rule-3">
            <a:extLst xmlns:a="http://schemas.openxmlformats.org/drawingml/2006/main">
              <a:ext uri="{FF2B5EF4-FFF2-40B4-BE49-F238E27FC236}">
                <a16:creationId xmlns:a16="http://schemas.microsoft.com/office/drawing/2014/main" id="{E4E5A5E1-CBE2-40EE-80BD-345937D72DE1}"/>
              </a:ext>
            </a:extLst>
          </p:cNvPr>
          <p:cNvSpPr>
            <a:spLocks xmlns:a="http://schemas.openxmlformats.org/drawingml/2006/main" noGrp="1"/>
          </p:cNvSpPr>
          <p:nvPr/>
        </p:nvSpPr>
        <p:spPr>
          <a:xfrm xmlns:a="http://schemas.openxmlformats.org/drawingml/2006/main">
            <a:off x="790575" y="4552950"/>
            <a:ext cx="47815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4" name="lau-legend-4">
            <a:extLst xmlns:a="http://schemas.openxmlformats.org/drawingml/2006/main">
              <a:ext uri="{FF2B5EF4-FFF2-40B4-BE49-F238E27FC236}">
                <a16:creationId xmlns:a16="http://schemas.microsoft.com/office/drawing/2014/main" id="{A712DB48-C849-495B-AB8F-92D90CC26A48}"/>
              </a:ext>
            </a:extLst>
          </p:cNvPr>
          <p:cNvSpPr>
            <a:spLocks xmlns:a="http://schemas.openxmlformats.org/drawingml/2006/main" noGrp="1"/>
          </p:cNvSpPr>
          <p:nvPr/>
        </p:nvSpPr>
        <p:spPr>
          <a:xfrm xmlns:a="http://schemas.openxmlformats.org/drawingml/2006/main">
            <a:off x="609600" y="4743450"/>
            <a:ext cx="76200" cy="7620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C177342-8521-4977-AB98-9E759DF41E91}"/>
              </a:ext>
            </a:extLst>
          </p:cNvPr>
          <p:cNvSpPr>
            <a:spLocks xmlns:a="http://schemas.openxmlformats.org/drawingml/2006/main" noGrp="1"/>
          </p:cNvSpPr>
          <p:nvPr/>
        </p:nvSpPr>
        <p:spPr>
          <a:xfrm xmlns:a="http://schemas.openxmlformats.org/drawingml/2006/main">
            <a:off x="790575" y="470535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17201E"/>
                </a:solidFill>
                <a:latin typeface="Aptos"/>
                <a:ea typeface="Aptos"/>
                <a:cs typeface="Aptos"/>
              </a:defRPr>
            </a:pPr>
            <a:r>
              <a:rPr sz="975" b="0">
                <a:solidFill>
                  <a:srgbClr val="17201E"/>
                </a:solidFill>
                <a:latin typeface="Aptos"/>
                <a:ea typeface="Aptos"/>
                <a:cs typeface="Aptos"/>
              </a:rPr>
              <a:t>Golden Harbour accumulator</a:t>
            </a:r>
          </a:p>
        </p:txBody>
      </p:sp>
      <p:sp>
        <p:nvSpPr>
          <p:cNvPr id="26" name="">
            <a:extLst xmlns:a="http://schemas.openxmlformats.org/drawingml/2006/main">
              <a:ext uri="{FF2B5EF4-FFF2-40B4-BE49-F238E27FC236}">
                <a16:creationId xmlns:a16="http://schemas.microsoft.com/office/drawing/2014/main" id="{C07BF49C-0231-4335-AA55-9C589E9B4246}"/>
              </a:ext>
            </a:extLst>
          </p:cNvPr>
          <p:cNvSpPr>
            <a:spLocks xmlns:a="http://schemas.openxmlformats.org/drawingml/2006/main" noGrp="1"/>
          </p:cNvSpPr>
          <p:nvPr/>
        </p:nvSpPr>
        <p:spPr>
          <a:xfrm xmlns:a="http://schemas.openxmlformats.org/drawingml/2006/main">
            <a:off x="4476750" y="4705350"/>
            <a:ext cx="1095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75" b="1">
                <a:solidFill>
                  <a:srgbClr val="17201E"/>
                </a:solidFill>
                <a:latin typeface="Aptos Mono"/>
                <a:ea typeface="Aptos Mono"/>
                <a:cs typeface="Aptos Mono"/>
              </a:defRPr>
            </a:pPr>
            <a:r>
              <a:rPr sz="975" b="1">
                <a:solidFill>
                  <a:srgbClr val="17201E"/>
                </a:solidFill>
                <a:latin typeface="Aptos Mono"/>
                <a:ea typeface="Aptos Mono"/>
                <a:cs typeface="Aptos Mono"/>
              </a:rPr>
              <a:t>7.0%</a:t>
            </a:r>
          </a:p>
        </p:txBody>
      </p:sp>
      <p:sp>
        <p:nvSpPr>
          <p:cNvPr id="27" name="">
            <a:extLst xmlns:a="http://schemas.openxmlformats.org/drawingml/2006/main">
              <a:ext uri="{FF2B5EF4-FFF2-40B4-BE49-F238E27FC236}">
                <a16:creationId xmlns:a16="http://schemas.microsoft.com/office/drawing/2014/main" id="{2C6DF9EC-A1D0-4556-ADB3-3CA4D87180BD}"/>
              </a:ext>
            </a:extLst>
          </p:cNvPr>
          <p:cNvSpPr>
            <a:spLocks xmlns:a="http://schemas.openxmlformats.org/drawingml/2006/main" noGrp="1"/>
          </p:cNvSpPr>
          <p:nvPr/>
        </p:nvSpPr>
        <p:spPr>
          <a:xfrm xmlns:a="http://schemas.openxmlformats.org/drawingml/2006/main">
            <a:off x="790575" y="5257800"/>
            <a:ext cx="409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B85D43"/>
                </a:solidFill>
                <a:latin typeface="Aptos"/>
                <a:ea typeface="Aptos"/>
                <a:cs typeface="Aptos"/>
              </a:defRPr>
            </a:pPr>
            <a:r>
              <a:rPr sz="900" b="1">
                <a:solidFill>
                  <a:srgbClr val="B85D43"/>
                </a:solidFill>
                <a:latin typeface="Aptos"/>
                <a:ea typeface="Aptos"/>
                <a:cs typeface="Aptos"/>
              </a:rPr>
              <a:t>+ operating business exposure outside the dataset</a:t>
            </a:r>
          </a:p>
        </p:txBody>
      </p:sp>
      <p:sp>
        <p:nvSpPr>
          <p:cNvPr id="28" name="ltv-panel">
            <a:extLst xmlns:a="http://schemas.openxmlformats.org/drawingml/2006/main">
              <a:ext uri="{FF2B5EF4-FFF2-40B4-BE49-F238E27FC236}">
                <a16:creationId xmlns:a16="http://schemas.microsoft.com/office/drawing/2014/main" id="{45D12E4E-7AA3-4E65-A482-463F4BD5CC11}"/>
              </a:ext>
            </a:extLst>
          </p:cNvPr>
          <p:cNvSpPr>
            <a:spLocks xmlns:a="http://schemas.openxmlformats.org/drawingml/2006/main" noGrp="1"/>
          </p:cNvSpPr>
          <p:nvPr/>
        </p:nvSpPr>
        <p:spPr>
          <a:xfrm xmlns:a="http://schemas.openxmlformats.org/drawingml/2006/main">
            <a:off x="6172200" y="2114550"/>
            <a:ext cx="5410200" cy="360045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29" name="">
            <a:extLst xmlns:a="http://schemas.openxmlformats.org/drawingml/2006/main">
              <a:ext uri="{FF2B5EF4-FFF2-40B4-BE49-F238E27FC236}">
                <a16:creationId xmlns:a16="http://schemas.microsoft.com/office/drawing/2014/main" id="{CF0A8AAA-A27C-47EA-9A18-F76246145992}"/>
              </a:ext>
            </a:extLst>
          </p:cNvPr>
          <p:cNvSpPr>
            <a:spLocks xmlns:a="http://schemas.openxmlformats.org/drawingml/2006/main" noGrp="1"/>
          </p:cNvSpPr>
          <p:nvPr/>
        </p:nvSpPr>
        <p:spPr>
          <a:xfrm xmlns:a="http://schemas.openxmlformats.org/drawingml/2006/main">
            <a:off x="6438900" y="2343150"/>
            <a:ext cx="476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THE REPORTED HEADROOM IS NOT THE TRIGGER BUFFER</a:t>
            </a:r>
          </a:p>
        </p:txBody>
      </p:sp>
      <p:sp>
        <p:nvSpPr>
          <p:cNvPr id="30" name="">
            <a:extLst xmlns:a="http://schemas.openxmlformats.org/drawingml/2006/main">
              <a:ext uri="{FF2B5EF4-FFF2-40B4-BE49-F238E27FC236}">
                <a16:creationId xmlns:a16="http://schemas.microsoft.com/office/drawing/2014/main" id="{588FF9C5-1B6D-4103-9DE7-531A74CDE8AC}"/>
              </a:ext>
            </a:extLst>
          </p:cNvPr>
          <p:cNvSpPr>
            <a:spLocks xmlns:a="http://schemas.openxmlformats.org/drawingml/2006/main" noGrp="1"/>
          </p:cNvSpPr>
          <p:nvPr/>
        </p:nvSpPr>
        <p:spPr>
          <a:xfrm xmlns:a="http://schemas.openxmlformats.org/drawingml/2006/main">
            <a:off x="6448425" y="2743200"/>
            <a:ext cx="1809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0">
                <a:solidFill>
                  <a:srgbClr val="17201E"/>
                </a:solidFill>
                <a:latin typeface="Georgia"/>
                <a:ea typeface="Georgia"/>
                <a:cs typeface="Georgia"/>
              </a:defRPr>
            </a:pPr>
            <a:r>
              <a:rPr sz="2925" b="0">
                <a:solidFill>
                  <a:srgbClr val="17201E"/>
                </a:solidFill>
                <a:latin typeface="Georgia"/>
                <a:ea typeface="Georgia"/>
                <a:cs typeface="Georgia"/>
              </a:rPr>
              <a:t>69.41%</a:t>
            </a:r>
          </a:p>
        </p:txBody>
      </p:sp>
      <p:sp>
        <p:nvSpPr>
          <p:cNvPr id="31" name="">
            <a:extLst xmlns:a="http://schemas.openxmlformats.org/drawingml/2006/main">
              <a:ext uri="{FF2B5EF4-FFF2-40B4-BE49-F238E27FC236}">
                <a16:creationId xmlns:a16="http://schemas.microsoft.com/office/drawing/2014/main" id="{BBBA62A4-2B2A-46E7-8EE0-0566C1F16674}"/>
              </a:ext>
            </a:extLst>
          </p:cNvPr>
          <p:cNvSpPr>
            <a:spLocks xmlns:a="http://schemas.openxmlformats.org/drawingml/2006/main" noGrp="1"/>
          </p:cNvSpPr>
          <p:nvPr/>
        </p:nvSpPr>
        <p:spPr>
          <a:xfrm xmlns:a="http://schemas.openxmlformats.org/drawingml/2006/main">
            <a:off x="6448425" y="3238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CURRENT LTV</a:t>
            </a:r>
          </a:p>
        </p:txBody>
      </p:sp>
      <p:sp>
        <p:nvSpPr>
          <p:cNvPr id="32" name="">
            <a:extLst xmlns:a="http://schemas.openxmlformats.org/drawingml/2006/main">
              <a:ext uri="{FF2B5EF4-FFF2-40B4-BE49-F238E27FC236}">
                <a16:creationId xmlns:a16="http://schemas.microsoft.com/office/drawing/2014/main" id="{C42C9BF8-F067-41EA-91BB-9FD04DF3E480}"/>
              </a:ext>
            </a:extLst>
          </p:cNvPr>
          <p:cNvSpPr>
            <a:spLocks xmlns:a="http://schemas.openxmlformats.org/drawingml/2006/main" noGrp="1"/>
          </p:cNvSpPr>
          <p:nvPr/>
        </p:nvSpPr>
        <p:spPr>
          <a:xfrm xmlns:a="http://schemas.openxmlformats.org/drawingml/2006/main">
            <a:off x="8562975" y="2743200"/>
            <a:ext cx="1809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0">
                <a:solidFill>
                  <a:srgbClr val="B85D43"/>
                </a:solidFill>
                <a:latin typeface="Georgia"/>
                <a:ea typeface="Georgia"/>
                <a:cs typeface="Georgia"/>
              </a:defRPr>
            </a:pPr>
            <a:r>
              <a:rPr sz="2925" b="0">
                <a:solidFill>
                  <a:srgbClr val="B85D43"/>
                </a:solidFill>
                <a:latin typeface="Georgia"/>
                <a:ea typeface="Georgia"/>
                <a:cs typeface="Georgia"/>
              </a:rPr>
              <a:t>70.00%</a:t>
            </a:r>
          </a:p>
        </p:txBody>
      </p:sp>
      <p:sp>
        <p:nvSpPr>
          <p:cNvPr id="33" name="">
            <a:extLst xmlns:a="http://schemas.openxmlformats.org/drawingml/2006/main">
              <a:ext uri="{FF2B5EF4-FFF2-40B4-BE49-F238E27FC236}">
                <a16:creationId xmlns:a16="http://schemas.microsoft.com/office/drawing/2014/main" id="{2A4CF0F9-B572-4E9D-926A-7FBC576A6578}"/>
              </a:ext>
            </a:extLst>
          </p:cNvPr>
          <p:cNvSpPr>
            <a:spLocks xmlns:a="http://schemas.openxmlformats.org/drawingml/2006/main" noGrp="1"/>
          </p:cNvSpPr>
          <p:nvPr/>
        </p:nvSpPr>
        <p:spPr>
          <a:xfrm xmlns:a="http://schemas.openxmlformats.org/drawingml/2006/main">
            <a:off x="8562975" y="3238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MARGIN-CALL TRIGGER</a:t>
            </a:r>
          </a:p>
        </p:txBody>
      </p:sp>
      <p:sp>
        <p:nvSpPr>
          <p:cNvPr id="34" name="ltv-gauge-bg">
            <a:extLst xmlns:a="http://schemas.openxmlformats.org/drawingml/2006/main">
              <a:ext uri="{FF2B5EF4-FFF2-40B4-BE49-F238E27FC236}">
                <a16:creationId xmlns:a16="http://schemas.microsoft.com/office/drawing/2014/main" id="{507EFA7D-3551-414E-8985-72228505A456}"/>
              </a:ext>
            </a:extLst>
          </p:cNvPr>
          <p:cNvSpPr>
            <a:spLocks xmlns:a="http://schemas.openxmlformats.org/drawingml/2006/main" noGrp="1"/>
          </p:cNvSpPr>
          <p:nvPr/>
        </p:nvSpPr>
        <p:spPr>
          <a:xfrm xmlns:a="http://schemas.openxmlformats.org/drawingml/2006/main">
            <a:off x="6448425" y="3695700"/>
            <a:ext cx="4438650" cy="133350"/>
          </a:xfrm>
          <a:prstGeom xmlns:a="http://schemas.openxmlformats.org/drawingml/2006/main" prst="rect">
            <a:avLst/>
          </a:prstGeom>
          <a:solidFill xmlns:a="http://schemas.openxmlformats.org/drawingml/2006/main">
            <a:srgbClr val="E8E2D8"/>
          </a:solidFill>
          <a:ln xmlns:a="http://schemas.openxmlformats.org/drawingml/2006/main" w="0">
            <a:solidFill>
              <a:srgbClr val="000000">
                <a:alpha val="0"/>
              </a:srgbClr>
            </a:solidFill>
            <a:prstDash val="solid"/>
          </a:ln>
        </p:spPr>
      </p:sp>
      <p:sp>
        <p:nvSpPr>
          <p:cNvPr id="35" name="ltv-gauge-current">
            <a:extLst xmlns:a="http://schemas.openxmlformats.org/drawingml/2006/main">
              <a:ext uri="{FF2B5EF4-FFF2-40B4-BE49-F238E27FC236}">
                <a16:creationId xmlns:a16="http://schemas.microsoft.com/office/drawing/2014/main" id="{C1AC0C23-B74F-4690-9BEC-4E78A4261A4A}"/>
              </a:ext>
            </a:extLst>
          </p:cNvPr>
          <p:cNvSpPr>
            <a:spLocks xmlns:a="http://schemas.openxmlformats.org/drawingml/2006/main" noGrp="1"/>
          </p:cNvSpPr>
          <p:nvPr/>
        </p:nvSpPr>
        <p:spPr>
          <a:xfrm xmlns:a="http://schemas.openxmlformats.org/drawingml/2006/main">
            <a:off x="6448425" y="3695700"/>
            <a:ext cx="3851084" cy="133350"/>
          </a:xfrm>
          <a:prstGeom xmlns:a="http://schemas.openxmlformats.org/drawingml/2006/main" prst="rect">
            <a:avLst/>
          </a:prstGeom>
          <a:solidFill xmlns:a="http://schemas.openxmlformats.org/drawingml/2006/main">
            <a:srgbClr val="2D5C56"/>
          </a:solidFill>
          <a:ln xmlns:a="http://schemas.openxmlformats.org/drawingml/2006/main" w="0">
            <a:solidFill>
              <a:srgbClr val="000000">
                <a:alpha val="0"/>
              </a:srgbClr>
            </a:solidFill>
            <a:prstDash val="solid"/>
          </a:ln>
        </p:spPr>
      </p:sp>
      <p:sp>
        <p:nvSpPr>
          <p:cNvPr id="36" name="ltv-trigger-marker">
            <a:extLst xmlns:a="http://schemas.openxmlformats.org/drawingml/2006/main">
              <a:ext uri="{FF2B5EF4-FFF2-40B4-BE49-F238E27FC236}">
                <a16:creationId xmlns:a16="http://schemas.microsoft.com/office/drawing/2014/main" id="{07CE03E5-47C2-43A1-9452-4261DD7E8A17}"/>
              </a:ext>
            </a:extLst>
          </p:cNvPr>
          <p:cNvSpPr>
            <a:spLocks xmlns:a="http://schemas.openxmlformats.org/drawingml/2006/main" noGrp="1"/>
          </p:cNvSpPr>
          <p:nvPr/>
        </p:nvSpPr>
        <p:spPr>
          <a:xfrm xmlns:a="http://schemas.openxmlformats.org/drawingml/2006/main">
            <a:off x="10313194" y="3543300"/>
            <a:ext cx="38100" cy="457200"/>
          </a:xfrm>
          <a:prstGeom xmlns:a="http://schemas.openxmlformats.org/drawingml/2006/main" prst="rect">
            <a:avLst/>
          </a:prstGeom>
          <a:solidFill xmlns:a="http://schemas.openxmlformats.org/drawingml/2006/main">
            <a:srgbClr val="B85D43"/>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A73BF5AB-F797-4162-B608-D47CE4894123}"/>
              </a:ext>
            </a:extLst>
          </p:cNvPr>
          <p:cNvSpPr>
            <a:spLocks xmlns:a="http://schemas.openxmlformats.org/drawingml/2006/main" noGrp="1"/>
          </p:cNvSpPr>
          <p:nvPr/>
        </p:nvSpPr>
        <p:spPr>
          <a:xfrm xmlns:a="http://schemas.openxmlformats.org/drawingml/2006/main">
            <a:off x="9594659" y="396240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675" b="1">
                <a:solidFill>
                  <a:srgbClr val="2D5C56"/>
                </a:solidFill>
                <a:latin typeface="Aptos"/>
                <a:ea typeface="Aptos"/>
                <a:cs typeface="Aptos"/>
              </a:defRPr>
            </a:pPr>
            <a:r>
              <a:rPr sz="675" b="1">
                <a:solidFill>
                  <a:srgbClr val="2D5C56"/>
                </a:solidFill>
                <a:latin typeface="Aptos"/>
                <a:ea typeface="Aptos"/>
                <a:cs typeface="Aptos"/>
              </a:rPr>
              <a:t>CURRENT</a:t>
            </a:r>
          </a:p>
        </p:txBody>
      </p:sp>
      <p:sp>
        <p:nvSpPr>
          <p:cNvPr id="38" name="">
            <a:extLst xmlns:a="http://schemas.openxmlformats.org/drawingml/2006/main">
              <a:ext uri="{FF2B5EF4-FFF2-40B4-BE49-F238E27FC236}">
                <a16:creationId xmlns:a16="http://schemas.microsoft.com/office/drawing/2014/main" id="{1C24FA44-3C8E-42D1-A318-8D96C963E5B0}"/>
              </a:ext>
            </a:extLst>
          </p:cNvPr>
          <p:cNvSpPr>
            <a:spLocks xmlns:a="http://schemas.openxmlformats.org/drawingml/2006/main" noGrp="1"/>
          </p:cNvSpPr>
          <p:nvPr/>
        </p:nvSpPr>
        <p:spPr>
          <a:xfrm xmlns:a="http://schemas.openxmlformats.org/drawingml/2006/main">
            <a:off x="10408444" y="3514725"/>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1">
                <a:solidFill>
                  <a:srgbClr val="B85D43"/>
                </a:solidFill>
                <a:latin typeface="Aptos"/>
                <a:ea typeface="Aptos"/>
                <a:cs typeface="Aptos"/>
              </a:defRPr>
            </a:pPr>
            <a:r>
              <a:rPr sz="675" b="1">
                <a:solidFill>
                  <a:srgbClr val="B85D43"/>
                </a:solidFill>
                <a:latin typeface="Aptos"/>
                <a:ea typeface="Aptos"/>
                <a:cs typeface="Aptos"/>
              </a:rPr>
              <a:t>TRIGGER</a:t>
            </a:r>
          </a:p>
        </p:txBody>
      </p:sp>
      <p:sp>
        <p:nvSpPr>
          <p:cNvPr id="39" name="ltv-proof-rule">
            <a:extLst xmlns:a="http://schemas.openxmlformats.org/drawingml/2006/main">
              <a:ext uri="{FF2B5EF4-FFF2-40B4-BE49-F238E27FC236}">
                <a16:creationId xmlns:a16="http://schemas.microsoft.com/office/drawing/2014/main" id="{0A33BEF4-8EBB-4517-8AAB-513F72B44D99}"/>
              </a:ext>
            </a:extLst>
          </p:cNvPr>
          <p:cNvSpPr>
            <a:spLocks xmlns:a="http://schemas.openxmlformats.org/drawingml/2006/main" noGrp="1"/>
          </p:cNvSpPr>
          <p:nvPr/>
        </p:nvSpPr>
        <p:spPr>
          <a:xfrm xmlns:a="http://schemas.openxmlformats.org/drawingml/2006/main">
            <a:off x="6448425" y="4333875"/>
            <a:ext cx="443865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EB8E2018-9CF5-4789-B7DF-E666B47CA821}"/>
              </a:ext>
            </a:extLst>
          </p:cNvPr>
          <p:cNvSpPr>
            <a:spLocks xmlns:a="http://schemas.openxmlformats.org/drawingml/2006/main" noGrp="1"/>
          </p:cNvSpPr>
          <p:nvPr/>
        </p:nvSpPr>
        <p:spPr>
          <a:xfrm xmlns:a="http://schemas.openxmlformats.org/drawingml/2006/main">
            <a:off x="6448425" y="4533900"/>
            <a:ext cx="204787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01E"/>
                </a:solidFill>
                <a:latin typeface="Georgia"/>
                <a:ea typeface="Georgia"/>
                <a:cs typeface="Georgia"/>
              </a:defRPr>
            </a:pPr>
            <a:r>
              <a:rPr sz="1800" b="0">
                <a:solidFill>
                  <a:srgbClr val="17201E"/>
                </a:solidFill>
                <a:latin typeface="Georgia"/>
                <a:ea typeface="Georgia"/>
                <a:cs typeface="Georgia"/>
              </a:rPr>
              <a:t>HKD 25.56m</a:t>
            </a:r>
          </a:p>
        </p:txBody>
      </p:sp>
      <p:sp>
        <p:nvSpPr>
          <p:cNvPr id="41" name="">
            <a:extLst xmlns:a="http://schemas.openxmlformats.org/drawingml/2006/main">
              <a:ext uri="{FF2B5EF4-FFF2-40B4-BE49-F238E27FC236}">
                <a16:creationId xmlns:a16="http://schemas.microsoft.com/office/drawing/2014/main" id="{20D39ECB-8EC3-4CD6-93BC-A98D7EA0DC42}"/>
              </a:ext>
            </a:extLst>
          </p:cNvPr>
          <p:cNvSpPr>
            <a:spLocks xmlns:a="http://schemas.openxmlformats.org/drawingml/2006/main" noGrp="1"/>
          </p:cNvSpPr>
          <p:nvPr/>
        </p:nvSpPr>
        <p:spPr>
          <a:xfrm xmlns:a="http://schemas.openxmlformats.org/drawingml/2006/main">
            <a:off x="6448425" y="4991100"/>
            <a:ext cx="20478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REPORTED HEADROOM: LENDING VALUE MINUS DRAWN</a:t>
            </a:r>
          </a:p>
        </p:txBody>
      </p:sp>
      <p:sp>
        <p:nvSpPr>
          <p:cNvPr id="42" name="">
            <a:extLst xmlns:a="http://schemas.openxmlformats.org/drawingml/2006/main">
              <a:ext uri="{FF2B5EF4-FFF2-40B4-BE49-F238E27FC236}">
                <a16:creationId xmlns:a16="http://schemas.microsoft.com/office/drawing/2014/main" id="{B130511F-4340-443A-916C-E7713411DAFA}"/>
              </a:ext>
            </a:extLst>
          </p:cNvPr>
          <p:cNvSpPr>
            <a:spLocks xmlns:a="http://schemas.openxmlformats.org/drawingml/2006/main" noGrp="1"/>
          </p:cNvSpPr>
          <p:nvPr/>
        </p:nvSpPr>
        <p:spPr>
          <a:xfrm xmlns:a="http://schemas.openxmlformats.org/drawingml/2006/main">
            <a:off x="8715375" y="4533900"/>
            <a:ext cx="2143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B85D43"/>
                </a:solidFill>
                <a:latin typeface="Georgia"/>
                <a:ea typeface="Georgia"/>
                <a:cs typeface="Georgia"/>
              </a:defRPr>
            </a:pPr>
            <a:r>
              <a:rPr sz="1800" b="0">
                <a:solidFill>
                  <a:srgbClr val="B85D43"/>
                </a:solidFill>
                <a:latin typeface="Georgia"/>
                <a:ea typeface="Georgia"/>
                <a:cs typeface="Georgia"/>
              </a:rPr>
              <a:t>HKD 0.71m</a:t>
            </a:r>
          </a:p>
        </p:txBody>
      </p:sp>
      <p:sp>
        <p:nvSpPr>
          <p:cNvPr id="43" name="">
            <a:extLst xmlns:a="http://schemas.openxmlformats.org/drawingml/2006/main">
              <a:ext uri="{FF2B5EF4-FFF2-40B4-BE49-F238E27FC236}">
                <a16:creationId xmlns:a16="http://schemas.microsoft.com/office/drawing/2014/main" id="{09A871C2-2B2F-419F-971F-A9EE54064618}"/>
              </a:ext>
            </a:extLst>
          </p:cNvPr>
          <p:cNvSpPr>
            <a:spLocks xmlns:a="http://schemas.openxmlformats.org/drawingml/2006/main" noGrp="1"/>
          </p:cNvSpPr>
          <p:nvPr/>
        </p:nvSpPr>
        <p:spPr>
          <a:xfrm xmlns:a="http://schemas.openxmlformats.org/drawingml/2006/main">
            <a:off x="8715375" y="4991100"/>
            <a:ext cx="21431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ACTUAL LENDING-VALUE CUSHION TO 70%</a:t>
            </a:r>
          </a:p>
        </p:txBody>
      </p:sp>
      <p:sp>
        <p:nvSpPr>
          <p:cNvPr id="44" name="ltv-callout">
            <a:extLst xmlns:a="http://schemas.openxmlformats.org/drawingml/2006/main">
              <a:ext uri="{FF2B5EF4-FFF2-40B4-BE49-F238E27FC236}">
                <a16:creationId xmlns:a16="http://schemas.microsoft.com/office/drawing/2014/main" id="{C3734E44-08AE-460C-B85D-CD004DCF01D3}"/>
              </a:ext>
            </a:extLst>
          </p:cNvPr>
          <p:cNvSpPr>
            <a:spLocks xmlns:a="http://schemas.openxmlformats.org/drawingml/2006/main" noGrp="1"/>
          </p:cNvSpPr>
          <p:nvPr/>
        </p:nvSpPr>
        <p:spPr>
          <a:xfrm xmlns:a="http://schemas.openxmlformats.org/drawingml/2006/main">
            <a:off x="6438900" y="5305425"/>
            <a:ext cx="4438650" cy="276225"/>
          </a:xfrm>
          <a:prstGeom xmlns:a="http://schemas.openxmlformats.org/drawingml/2006/main" prst="rect">
            <a:avLst/>
          </a:prstGeom>
          <a:solidFill xmlns:a="http://schemas.openxmlformats.org/drawingml/2006/main">
            <a:srgbClr val="F1DDD4"/>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78BF9E45-1DBA-4CF9-9017-380736153932}"/>
              </a:ext>
            </a:extLst>
          </p:cNvPr>
          <p:cNvSpPr>
            <a:spLocks xmlns:a="http://schemas.openxmlformats.org/drawingml/2006/main" noGrp="1"/>
          </p:cNvSpPr>
          <p:nvPr/>
        </p:nvSpPr>
        <p:spPr>
          <a:xfrm xmlns:a="http://schemas.openxmlformats.org/drawingml/2006/main">
            <a:off x="6572250" y="5314950"/>
            <a:ext cx="41719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B85D43"/>
                </a:solidFill>
                <a:latin typeface="Aptos"/>
                <a:ea typeface="Aptos"/>
                <a:cs typeface="Aptos"/>
              </a:defRPr>
            </a:pPr>
            <a:r>
              <a:rPr sz="900" b="1">
                <a:solidFill>
                  <a:srgbClr val="B85D43"/>
                </a:solidFill>
                <a:latin typeface="Aptos"/>
                <a:ea typeface="Aptos"/>
                <a:cs typeface="Aptos"/>
              </a:rPr>
              <a:t>A 0.85% fall in eligible lending value reaches the trigger.</a:t>
            </a:r>
          </a:p>
        </p:txBody>
      </p:sp>
      <p:sp>
        <p:nvSpPr>
          <p:cNvPr id="46" name="footer-rule-6">
            <a:extLst xmlns:a="http://schemas.openxmlformats.org/drawingml/2006/main">
              <a:ext uri="{FF2B5EF4-FFF2-40B4-BE49-F238E27FC236}">
                <a16:creationId xmlns:a16="http://schemas.microsoft.com/office/drawing/2014/main" id="{4E7C4F32-B890-47E1-BAEB-CE49906E646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1C06435F-1EB0-4218-8E07-CACFBDA00E90}"/>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holdings.csv · instruments.csv · credit_facilities.csv CF-0002 · planned_cash_needs.csv CN-013 · synthetic data</a:t>
            </a:r>
          </a:p>
        </p:txBody>
      </p:sp>
      <p:sp>
        <p:nvSpPr>
          <p:cNvPr id="48" name="">
            <a:extLst xmlns:a="http://schemas.openxmlformats.org/drawingml/2006/main">
              <a:ext uri="{FF2B5EF4-FFF2-40B4-BE49-F238E27FC236}">
                <a16:creationId xmlns:a16="http://schemas.microsoft.com/office/drawing/2014/main" id="{353BF4C1-1824-4599-B7A1-4E9463CD8FEA}"/>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A1</a:t>
            </a:r>
          </a:p>
        </p:txBody>
      </p:sp>
    </p:spTree>
    <p:extLst>
      <p:ext uri="{BB962C8B-B14F-4D97-AF65-F5344CB8AC3E}">
        <p14:creationId xmlns:p14="http://schemas.microsoft.com/office/powerpoint/2010/main" val="17832320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60CCA7FB-61CC-4C6D-A448-6C52E6D09B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kicker-08-marker">
            <a:extLst xmlns:a="http://schemas.openxmlformats.org/drawingml/2006/main">
              <a:ext uri="{FF2B5EF4-FFF2-40B4-BE49-F238E27FC236}">
                <a16:creationId xmlns:a16="http://schemas.microsoft.com/office/drawing/2014/main" id="{5567857E-B135-4106-8DB0-D7F20DF6038E}"/>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8-label">
            <a:extLst xmlns:a="http://schemas.openxmlformats.org/drawingml/2006/main">
              <a:ext uri="{FF2B5EF4-FFF2-40B4-BE49-F238E27FC236}">
                <a16:creationId xmlns:a16="http://schemas.microsoft.com/office/drawing/2014/main" id="{5B3EA2DE-C746-48A9-8868-FE4515C979AC}"/>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D5C56"/>
                </a:solidFill>
                <a:latin typeface="Aptos"/>
                <a:ea typeface="Aptos"/>
                <a:cs typeface="Aptos"/>
              </a:defRPr>
            </a:pPr>
            <a:r>
              <a:rPr sz="825" b="1">
                <a:solidFill>
                  <a:srgbClr val="2D5C56"/>
                </a:solidFill>
                <a:latin typeface="Aptos"/>
                <a:ea typeface="Aptos"/>
                <a:cs typeface="Aptos"/>
              </a:rPr>
              <a:t>TRUST PROOF · CHEUNG KWOK WING</a:t>
            </a:r>
          </a:p>
        </p:txBody>
      </p:sp>
      <p:sp>
        <p:nvSpPr>
          <p:cNvPr id="4" name="">
            <a:extLst xmlns:a="http://schemas.openxmlformats.org/drawingml/2006/main">
              <a:ext uri="{FF2B5EF4-FFF2-40B4-BE49-F238E27FC236}">
                <a16:creationId xmlns:a16="http://schemas.microsoft.com/office/drawing/2014/main" id="{EA69E573-A96D-4ED0-861F-53BAAE35F274}"/>
              </a:ext>
            </a:extLst>
          </p:cNvPr>
          <p:cNvSpPr>
            <a:spLocks xmlns:a="http://schemas.openxmlformats.org/drawingml/2006/main" noGrp="1"/>
          </p:cNvSpPr>
          <p:nvPr/>
        </p:nvSpPr>
        <p:spPr>
          <a:xfrm xmlns:a="http://schemas.openxmlformats.org/drawingml/2006/main">
            <a:off x="609600" y="685800"/>
            <a:ext cx="10668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17201E"/>
                </a:solidFill>
                <a:latin typeface="Georgia"/>
                <a:ea typeface="Georgia"/>
                <a:cs typeface="Georgia"/>
              </a:defRPr>
            </a:pPr>
            <a:r>
              <a:rPr sz="3150" b="0">
                <a:solidFill>
                  <a:srgbClr val="17201E"/>
                </a:solidFill>
                <a:latin typeface="Georgia"/>
                <a:ea typeface="Georgia"/>
                <a:cs typeface="Georgia"/>
              </a:rPr>
              <a:t>The trustworthy answer begins with: “We need to verify your draw.”</a:t>
            </a:r>
          </a:p>
        </p:txBody>
      </p:sp>
      <p:sp>
        <p:nvSpPr>
          <p:cNvPr id="5" name="">
            <a:extLst xmlns:a="http://schemas.openxmlformats.org/drawingml/2006/main">
              <a:ext uri="{FF2B5EF4-FFF2-40B4-BE49-F238E27FC236}">
                <a16:creationId xmlns:a16="http://schemas.microsoft.com/office/drawing/2014/main" id="{C1423D54-0C8B-4DC0-B8ED-1A1ACE4B5B04}"/>
              </a:ext>
            </a:extLst>
          </p:cNvPr>
          <p:cNvSpPr>
            <a:spLocks xmlns:a="http://schemas.openxmlformats.org/drawingml/2006/main" noGrp="1"/>
          </p:cNvSpPr>
          <p:nvPr/>
        </p:nvSpPr>
        <p:spPr>
          <a:xfrm xmlns:a="http://schemas.openxmlformats.org/drawingml/2006/main">
            <a:off x="609600" y="1704975"/>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F766F"/>
                </a:solidFill>
                <a:latin typeface="Aptos"/>
                <a:ea typeface="Aptos"/>
                <a:cs typeface="Aptos"/>
              </a:defRPr>
            </a:pPr>
            <a:r>
              <a:rPr sz="1200" b="0">
                <a:solidFill>
                  <a:srgbClr val="6F766F"/>
                </a:solidFill>
                <a:latin typeface="Aptos"/>
                <a:ea typeface="Aptos"/>
                <a:cs typeface="Aptos"/>
              </a:rPr>
              <a:t>A model that silently picks the convenient number is not an advisory system.</a:t>
            </a:r>
          </a:p>
        </p:txBody>
      </p:sp>
      <p:sp>
        <p:nvSpPr>
          <p:cNvPr id="6" name="conflict-panel">
            <a:extLst xmlns:a="http://schemas.openxmlformats.org/drawingml/2006/main">
              <a:ext uri="{FF2B5EF4-FFF2-40B4-BE49-F238E27FC236}">
                <a16:creationId xmlns:a16="http://schemas.microsoft.com/office/drawing/2014/main" id="{C5361D92-62AD-4AB1-99E8-E0C962ABB4A5}"/>
              </a:ext>
            </a:extLst>
          </p:cNvPr>
          <p:cNvSpPr>
            <a:spLocks xmlns:a="http://schemas.openxmlformats.org/drawingml/2006/main" noGrp="1"/>
          </p:cNvSpPr>
          <p:nvPr/>
        </p:nvSpPr>
        <p:spPr>
          <a:xfrm xmlns:a="http://schemas.openxmlformats.org/drawingml/2006/main">
            <a:off x="609600" y="2105025"/>
            <a:ext cx="4972050" cy="1905000"/>
          </a:xfrm>
          <a:prstGeom xmlns:a="http://schemas.openxmlformats.org/drawingml/2006/main" prst="rect">
            <a:avLst/>
          </a:prstGeom>
          <a:solidFill xmlns:a="http://schemas.openxmlformats.org/drawingml/2006/main">
            <a:srgbClr val="FBF9F4"/>
          </a:solidFill>
          <a:ln xmlns:a="http://schemas.openxmlformats.org/drawingml/2006/main" w="9525">
            <a:solidFill>
              <a:srgbClr val="D9D2C5"/>
            </a:solidFill>
            <a:prstDash val="solid"/>
          </a:ln>
        </p:spPr>
      </p:sp>
      <p:sp>
        <p:nvSpPr>
          <p:cNvPr id="7" name="">
            <a:extLst xmlns:a="http://schemas.openxmlformats.org/drawingml/2006/main">
              <a:ext uri="{FF2B5EF4-FFF2-40B4-BE49-F238E27FC236}">
                <a16:creationId xmlns:a16="http://schemas.microsoft.com/office/drawing/2014/main" id="{07F4869B-A70B-40AF-9859-BC05C0EF6DAF}"/>
              </a:ext>
            </a:extLst>
          </p:cNvPr>
          <p:cNvSpPr>
            <a:spLocks xmlns:a="http://schemas.openxmlformats.org/drawingml/2006/main" noGrp="1"/>
          </p:cNvSpPr>
          <p:nvPr/>
        </p:nvSpPr>
        <p:spPr>
          <a:xfrm xmlns:a="http://schemas.openxmlformats.org/drawingml/2006/main">
            <a:off x="838200" y="2333625"/>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THE RECORDS DISAGREE</a:t>
            </a:r>
          </a:p>
        </p:txBody>
      </p:sp>
      <p:sp>
        <p:nvSpPr>
          <p:cNvPr id="8" name="">
            <a:extLst xmlns:a="http://schemas.openxmlformats.org/drawingml/2006/main">
              <a:ext uri="{FF2B5EF4-FFF2-40B4-BE49-F238E27FC236}">
                <a16:creationId xmlns:a16="http://schemas.microsoft.com/office/drawing/2014/main" id="{0C9B722F-ADA6-41B6-A771-8068B67420BE}"/>
              </a:ext>
            </a:extLst>
          </p:cNvPr>
          <p:cNvSpPr>
            <a:spLocks xmlns:a="http://schemas.openxmlformats.org/drawingml/2006/main" noGrp="1"/>
          </p:cNvSpPr>
          <p:nvPr/>
        </p:nvSpPr>
        <p:spPr>
          <a:xfrm xmlns:a="http://schemas.openxmlformats.org/drawingml/2006/main">
            <a:off x="838200" y="2733675"/>
            <a:ext cx="1905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75" b="0">
                <a:solidFill>
                  <a:srgbClr val="17201E"/>
                </a:solidFill>
                <a:latin typeface="Georgia"/>
                <a:ea typeface="Georgia"/>
                <a:cs typeface="Georgia"/>
              </a:defRPr>
            </a:pPr>
            <a:r>
              <a:rPr sz="2475" b="0">
                <a:solidFill>
                  <a:srgbClr val="17201E"/>
                </a:solidFill>
                <a:latin typeface="Georgia"/>
                <a:ea typeface="Georgia"/>
                <a:cs typeface="Georgia"/>
              </a:rPr>
              <a:t>USD 1.10m</a:t>
            </a:r>
          </a:p>
        </p:txBody>
      </p:sp>
      <p:sp>
        <p:nvSpPr>
          <p:cNvPr id="9" name="">
            <a:extLst xmlns:a="http://schemas.openxmlformats.org/drawingml/2006/main">
              <a:ext uri="{FF2B5EF4-FFF2-40B4-BE49-F238E27FC236}">
                <a16:creationId xmlns:a16="http://schemas.microsoft.com/office/drawing/2014/main" id="{E39A0B21-D6B9-4410-AB94-26681D7CEF54}"/>
              </a:ext>
            </a:extLst>
          </p:cNvPr>
          <p:cNvSpPr>
            <a:spLocks xmlns:a="http://schemas.openxmlformats.org/drawingml/2006/main" noGrp="1"/>
          </p:cNvSpPr>
          <p:nvPr/>
        </p:nvSpPr>
        <p:spPr>
          <a:xfrm xmlns:a="http://schemas.openxmlformats.org/drawingml/2006/main">
            <a:off x="838200" y="3190875"/>
            <a:ext cx="190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LATEST RM NOTE · N-016</a:t>
            </a:r>
          </a:p>
        </p:txBody>
      </p:sp>
      <p:sp>
        <p:nvSpPr>
          <p:cNvPr id="10" name="">
            <a:extLst xmlns:a="http://schemas.openxmlformats.org/drawingml/2006/main">
              <a:ext uri="{FF2B5EF4-FFF2-40B4-BE49-F238E27FC236}">
                <a16:creationId xmlns:a16="http://schemas.microsoft.com/office/drawing/2014/main" id="{CBE0AC04-24EB-4515-A455-B149C80157E3}"/>
              </a:ext>
            </a:extLst>
          </p:cNvPr>
          <p:cNvSpPr>
            <a:spLocks xmlns:a="http://schemas.openxmlformats.org/drawingml/2006/main" noGrp="1"/>
          </p:cNvSpPr>
          <p:nvPr/>
        </p:nvSpPr>
        <p:spPr>
          <a:xfrm xmlns:a="http://schemas.openxmlformats.org/drawingml/2006/main">
            <a:off x="2876550" y="2714625"/>
            <a:ext cx="4191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325" b="0">
                <a:solidFill>
                  <a:srgbClr val="B85D43"/>
                </a:solidFill>
                <a:latin typeface="Georgia"/>
                <a:ea typeface="Georgia"/>
                <a:cs typeface="Georgia"/>
              </a:defRPr>
            </a:pPr>
            <a:r>
              <a:rPr sz="2325" b="0">
                <a:solidFill>
                  <a:srgbClr val="B85D43"/>
                </a:solidFill>
                <a:latin typeface="Georgia"/>
                <a:ea typeface="Georgia"/>
                <a:cs typeface="Georgia"/>
              </a:rPr>
              <a:t>≠</a:t>
            </a:r>
          </a:p>
        </p:txBody>
      </p:sp>
      <p:sp>
        <p:nvSpPr>
          <p:cNvPr id="11" name="">
            <a:extLst xmlns:a="http://schemas.openxmlformats.org/drawingml/2006/main">
              <a:ext uri="{FF2B5EF4-FFF2-40B4-BE49-F238E27FC236}">
                <a16:creationId xmlns:a16="http://schemas.microsoft.com/office/drawing/2014/main" id="{CC0A18C5-6549-459B-A2F0-62671A5023A0}"/>
              </a:ext>
            </a:extLst>
          </p:cNvPr>
          <p:cNvSpPr>
            <a:spLocks xmlns:a="http://schemas.openxmlformats.org/drawingml/2006/main" noGrp="1"/>
          </p:cNvSpPr>
          <p:nvPr/>
        </p:nvSpPr>
        <p:spPr>
          <a:xfrm xmlns:a="http://schemas.openxmlformats.org/drawingml/2006/main">
            <a:off x="3457575" y="2733675"/>
            <a:ext cx="188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75" b="0">
                <a:solidFill>
                  <a:srgbClr val="B85D43"/>
                </a:solidFill>
                <a:latin typeface="Georgia"/>
                <a:ea typeface="Georgia"/>
                <a:cs typeface="Georgia"/>
              </a:defRPr>
            </a:pPr>
            <a:r>
              <a:rPr sz="2475" b="0">
                <a:solidFill>
                  <a:srgbClr val="B85D43"/>
                </a:solidFill>
                <a:latin typeface="Georgia"/>
                <a:ea typeface="Georgia"/>
                <a:cs typeface="Georgia"/>
              </a:rPr>
              <a:t>USD 1.28m</a:t>
            </a:r>
          </a:p>
        </p:txBody>
      </p:sp>
      <p:sp>
        <p:nvSpPr>
          <p:cNvPr id="12" name="">
            <a:extLst xmlns:a="http://schemas.openxmlformats.org/drawingml/2006/main">
              <a:ext uri="{FF2B5EF4-FFF2-40B4-BE49-F238E27FC236}">
                <a16:creationId xmlns:a16="http://schemas.microsoft.com/office/drawing/2014/main" id="{338C7BCC-0D1A-4C6B-B4FB-214B23DF9E4F}"/>
              </a:ext>
            </a:extLst>
          </p:cNvPr>
          <p:cNvSpPr>
            <a:spLocks xmlns:a="http://schemas.openxmlformats.org/drawingml/2006/main" noGrp="1"/>
          </p:cNvSpPr>
          <p:nvPr/>
        </p:nvSpPr>
        <p:spPr>
          <a:xfrm xmlns:a="http://schemas.openxmlformats.org/drawingml/2006/main">
            <a:off x="3457575" y="3190875"/>
            <a:ext cx="1885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PLANNED NEED · CN-012</a:t>
            </a:r>
          </a:p>
        </p:txBody>
      </p:sp>
      <p:sp>
        <p:nvSpPr>
          <p:cNvPr id="13" name="conflict-action">
            <a:extLst xmlns:a="http://schemas.openxmlformats.org/drawingml/2006/main">
              <a:ext uri="{FF2B5EF4-FFF2-40B4-BE49-F238E27FC236}">
                <a16:creationId xmlns:a16="http://schemas.microsoft.com/office/drawing/2014/main" id="{A08EE641-BD82-42E3-8A07-2063BA9AFB50}"/>
              </a:ext>
            </a:extLst>
          </p:cNvPr>
          <p:cNvSpPr>
            <a:spLocks xmlns:a="http://schemas.openxmlformats.org/drawingml/2006/main" noGrp="1"/>
          </p:cNvSpPr>
          <p:nvPr/>
        </p:nvSpPr>
        <p:spPr>
          <a:xfrm xmlns:a="http://schemas.openxmlformats.org/drawingml/2006/main">
            <a:off x="838200" y="3486150"/>
            <a:ext cx="4505325" cy="333375"/>
          </a:xfrm>
          <a:prstGeom xmlns:a="http://schemas.openxmlformats.org/drawingml/2006/main" prst="rect">
            <a:avLst/>
          </a:prstGeom>
          <a:solidFill xmlns:a="http://schemas.openxmlformats.org/drawingml/2006/main">
            <a:srgbClr val="F1DDD4"/>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A3D1FE3-2C2F-4CB4-9EF4-5C8D98DAC8F2}"/>
              </a:ext>
            </a:extLst>
          </p:cNvPr>
          <p:cNvSpPr>
            <a:spLocks xmlns:a="http://schemas.openxmlformats.org/drawingml/2006/main" noGrp="1"/>
          </p:cNvSpPr>
          <p:nvPr/>
        </p:nvSpPr>
        <p:spPr>
          <a:xfrm xmlns:a="http://schemas.openxmlformats.org/drawingml/2006/main">
            <a:off x="962025" y="3495675"/>
            <a:ext cx="42576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750" b="1">
                <a:solidFill>
                  <a:srgbClr val="B85D43"/>
                </a:solidFill>
                <a:latin typeface="Aptos"/>
                <a:ea typeface="Aptos"/>
                <a:cs typeface="Aptos"/>
              </a:defRPr>
            </a:pPr>
            <a:r>
              <a:rPr sz="750" b="1">
                <a:solidFill>
                  <a:srgbClr val="B85D43"/>
                </a:solidFill>
                <a:latin typeface="Aptos"/>
                <a:ea typeface="Aptos"/>
                <a:cs typeface="Aptos"/>
              </a:rPr>
              <a:t>CONFIDENCE ↓  ·  TURN THE CONFLICT INTO THE FIRST QUESTION</a:t>
            </a:r>
          </a:p>
        </p:txBody>
      </p:sp>
      <p:sp>
        <p:nvSpPr>
          <p:cNvPr id="15" name="conversation-panel">
            <a:extLst xmlns:a="http://schemas.openxmlformats.org/drawingml/2006/main">
              <a:ext uri="{FF2B5EF4-FFF2-40B4-BE49-F238E27FC236}">
                <a16:creationId xmlns:a16="http://schemas.microsoft.com/office/drawing/2014/main" id="{FF8B613C-0ED3-4335-BFFA-58F3938AE624}"/>
              </a:ext>
            </a:extLst>
          </p:cNvPr>
          <p:cNvSpPr>
            <a:spLocks xmlns:a="http://schemas.openxmlformats.org/drawingml/2006/main" noGrp="1"/>
          </p:cNvSpPr>
          <p:nvPr/>
        </p:nvSpPr>
        <p:spPr>
          <a:xfrm xmlns:a="http://schemas.openxmlformats.org/drawingml/2006/main">
            <a:off x="5867400" y="2105025"/>
            <a:ext cx="5715000" cy="1905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CBBC12D-912C-4AAB-B80D-42FB5C532F57}"/>
              </a:ext>
            </a:extLst>
          </p:cNvPr>
          <p:cNvSpPr>
            <a:spLocks xmlns:a="http://schemas.openxmlformats.org/drawingml/2006/main" noGrp="1"/>
          </p:cNvSpPr>
          <p:nvPr/>
        </p:nvSpPr>
        <p:spPr>
          <a:xfrm xmlns:a="http://schemas.openxmlformats.org/drawingml/2006/main">
            <a:off x="6115050" y="233362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E7D6B5"/>
                </a:solidFill>
                <a:latin typeface="Aptos"/>
                <a:ea typeface="Aptos"/>
                <a:cs typeface="Aptos"/>
              </a:defRPr>
            </a:pPr>
            <a:r>
              <a:rPr sz="750" b="1">
                <a:solidFill>
                  <a:srgbClr val="E7D6B5"/>
                </a:solidFill>
                <a:latin typeface="Aptos"/>
                <a:ea typeface="Aptos"/>
                <a:cs typeface="Aptos"/>
              </a:rPr>
              <a:t>CONVERSATION OPEN</a:t>
            </a:r>
          </a:p>
        </p:txBody>
      </p:sp>
      <p:sp>
        <p:nvSpPr>
          <p:cNvPr id="17" name="">
            <a:extLst xmlns:a="http://schemas.openxmlformats.org/drawingml/2006/main">
              <a:ext uri="{FF2B5EF4-FFF2-40B4-BE49-F238E27FC236}">
                <a16:creationId xmlns:a16="http://schemas.microsoft.com/office/drawing/2014/main" id="{5E239647-EE22-4628-96D5-BF9E2A65B9C9}"/>
              </a:ext>
            </a:extLst>
          </p:cNvPr>
          <p:cNvSpPr>
            <a:spLocks xmlns:a="http://schemas.openxmlformats.org/drawingml/2006/main" noGrp="1"/>
          </p:cNvSpPr>
          <p:nvPr/>
        </p:nvSpPr>
        <p:spPr>
          <a:xfrm xmlns:a="http://schemas.openxmlformats.org/drawingml/2006/main">
            <a:off x="6115050" y="2724150"/>
            <a:ext cx="5048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FFFFFF"/>
                </a:solidFill>
                <a:latin typeface="Georgia"/>
                <a:ea typeface="Georgia"/>
                <a:cs typeface="Georgia"/>
              </a:defRPr>
            </a:pPr>
            <a:r>
              <a:rPr sz="1800" b="0">
                <a:solidFill>
                  <a:srgbClr val="FFFFFF"/>
                </a:solidFill>
                <a:latin typeface="Georgia"/>
                <a:ea typeface="Georgia"/>
                <a:cs typeface="Georgia"/>
              </a:rPr>
              <a:t>“The issue is not whether the bonds repay—it is whether their timetable still fits yours.”</a:t>
            </a:r>
          </a:p>
        </p:txBody>
      </p:sp>
      <p:sp>
        <p:nvSpPr>
          <p:cNvPr id="18" name="">
            <a:extLst xmlns:a="http://schemas.openxmlformats.org/drawingml/2006/main">
              <a:ext uri="{FF2B5EF4-FFF2-40B4-BE49-F238E27FC236}">
                <a16:creationId xmlns:a16="http://schemas.microsoft.com/office/drawing/2014/main" id="{E078ACE8-2BAC-42E5-83E2-D80F915CA2E1}"/>
              </a:ext>
            </a:extLst>
          </p:cNvPr>
          <p:cNvSpPr>
            <a:spLocks xmlns:a="http://schemas.openxmlformats.org/drawingml/2006/main" noGrp="1"/>
          </p:cNvSpPr>
          <p:nvPr/>
        </p:nvSpPr>
        <p:spPr>
          <a:xfrm xmlns:a="http://schemas.openxmlformats.org/drawingml/2006/main">
            <a:off x="6115050" y="3629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9EAAA6"/>
                </a:solidFill>
                <a:latin typeface="Aptos"/>
                <a:ea typeface="Aptos"/>
                <a:cs typeface="Aptos"/>
              </a:defRPr>
            </a:pPr>
            <a:r>
              <a:rPr sz="750" b="0">
                <a:solidFill>
                  <a:srgbClr val="9EAAA6"/>
                </a:solidFill>
                <a:latin typeface="Aptos"/>
                <a:ea typeface="Aptos"/>
                <a:cs typeface="Aptos"/>
              </a:rPr>
              <a:t>RM-approved draft · no trade instruction</a:t>
            </a:r>
          </a:p>
        </p:txBody>
      </p:sp>
      <p:sp>
        <p:nvSpPr>
          <p:cNvPr id="19" name="">
            <a:extLst xmlns:a="http://schemas.openxmlformats.org/drawingml/2006/main">
              <a:ext uri="{FF2B5EF4-FFF2-40B4-BE49-F238E27FC236}">
                <a16:creationId xmlns:a16="http://schemas.microsoft.com/office/drawing/2014/main" id="{1F3119C4-D12E-4316-9C3A-6FD06B88CEA0}"/>
              </a:ext>
            </a:extLst>
          </p:cNvPr>
          <p:cNvSpPr>
            <a:spLocks xmlns:a="http://schemas.openxmlformats.org/drawingml/2006/main" noGrp="1"/>
          </p:cNvSpPr>
          <p:nvPr/>
        </p:nvSpPr>
        <p:spPr>
          <a:xfrm xmlns:a="http://schemas.openxmlformats.org/drawingml/2006/main">
            <a:off x="609600" y="4391025"/>
            <a:ext cx="876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THE LIFE HORIZON AND THE ASSET HORIZON HAVE DRIFTED APART</a:t>
            </a:r>
          </a:p>
        </p:txBody>
      </p:sp>
      <p:sp>
        <p:nvSpPr>
          <p:cNvPr id="20" name="horizon-line">
            <a:extLst xmlns:a="http://schemas.openxmlformats.org/drawingml/2006/main">
              <a:ext uri="{FF2B5EF4-FFF2-40B4-BE49-F238E27FC236}">
                <a16:creationId xmlns:a16="http://schemas.microsoft.com/office/drawing/2014/main" id="{95169826-E2EB-4CD5-8A31-9714DF7CDB40}"/>
              </a:ext>
            </a:extLst>
          </p:cNvPr>
          <p:cNvSpPr>
            <a:spLocks xmlns:a="http://schemas.openxmlformats.org/drawingml/2006/main" noGrp="1"/>
          </p:cNvSpPr>
          <p:nvPr/>
        </p:nvSpPr>
        <p:spPr>
          <a:xfrm xmlns:a="http://schemas.openxmlformats.org/drawingml/2006/main">
            <a:off x="876300" y="5181600"/>
            <a:ext cx="10039350" cy="2857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21" name="horizon-point-1">
            <a:extLst xmlns:a="http://schemas.openxmlformats.org/drawingml/2006/main">
              <a:ext uri="{FF2B5EF4-FFF2-40B4-BE49-F238E27FC236}">
                <a16:creationId xmlns:a16="http://schemas.microsoft.com/office/drawing/2014/main" id="{DFE4D87E-CB9A-4AB7-8EF9-31CA1F38D6BC}"/>
              </a:ext>
            </a:extLst>
          </p:cNvPr>
          <p:cNvSpPr>
            <a:spLocks xmlns:a="http://schemas.openxmlformats.org/drawingml/2006/main" noGrp="1"/>
          </p:cNvSpPr>
          <p:nvPr/>
        </p:nvSpPr>
        <p:spPr>
          <a:xfrm xmlns:a="http://schemas.openxmlformats.org/drawingml/2006/main">
            <a:off x="781050" y="5095875"/>
            <a:ext cx="190500" cy="190500"/>
          </a:xfrm>
          <a:prstGeom xmlns:a="http://schemas.openxmlformats.org/drawingml/2006/main" prst="ellipse">
            <a:avLst/>
          </a:prstGeom>
          <a:solidFill xmlns:a="http://schemas.openxmlformats.org/drawingml/2006/main">
            <a:srgbClr val="B78F50"/>
          </a:solidFill>
          <a:ln xmlns:a="http://schemas.openxmlformats.org/drawingml/2006/main" w="0">
            <a:solidFill>
              <a:srgbClr val="B78F50"/>
            </a:solidFill>
            <a:prstDash val="solid"/>
          </a:ln>
        </p:spPr>
      </p:sp>
      <p:sp>
        <p:nvSpPr>
          <p:cNvPr id="22" name="">
            <a:extLst xmlns:a="http://schemas.openxmlformats.org/drawingml/2006/main">
              <a:ext uri="{FF2B5EF4-FFF2-40B4-BE49-F238E27FC236}">
                <a16:creationId xmlns:a16="http://schemas.microsoft.com/office/drawing/2014/main" id="{3AF7215C-70E2-4ADA-B8D4-A4522432C649}"/>
              </a:ext>
            </a:extLst>
          </p:cNvPr>
          <p:cNvSpPr>
            <a:spLocks xmlns:a="http://schemas.openxmlformats.org/drawingml/2006/main" noGrp="1"/>
          </p:cNvSpPr>
          <p:nvPr/>
        </p:nvSpPr>
        <p:spPr>
          <a:xfrm xmlns:a="http://schemas.openxmlformats.org/drawingml/2006/main">
            <a:off x="476250" y="4705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0">
                <a:solidFill>
                  <a:srgbClr val="B78F50"/>
                </a:solidFill>
                <a:latin typeface="Georgia"/>
                <a:ea typeface="Georgia"/>
                <a:cs typeface="Georgia"/>
              </a:defRPr>
            </a:pPr>
            <a:r>
              <a:rPr sz="1350" b="0">
                <a:solidFill>
                  <a:srgbClr val="B78F50"/>
                </a:solidFill>
                <a:latin typeface="Georgia"/>
                <a:ea typeface="Georgia"/>
                <a:cs typeface="Georgia"/>
              </a:rPr>
              <a:t>2026</a:t>
            </a:r>
          </a:p>
        </p:txBody>
      </p:sp>
      <p:sp>
        <p:nvSpPr>
          <p:cNvPr id="23" name="">
            <a:extLst xmlns:a="http://schemas.openxmlformats.org/drawingml/2006/main">
              <a:ext uri="{FF2B5EF4-FFF2-40B4-BE49-F238E27FC236}">
                <a16:creationId xmlns:a16="http://schemas.microsoft.com/office/drawing/2014/main" id="{FE7EE03C-54E5-487C-8C08-DAEE7EFA86C6}"/>
              </a:ext>
            </a:extLst>
          </p:cNvPr>
          <p:cNvSpPr>
            <a:spLocks xmlns:a="http://schemas.openxmlformats.org/drawingml/2006/main" noGrp="1"/>
          </p:cNvSpPr>
          <p:nvPr/>
        </p:nvSpPr>
        <p:spPr>
          <a:xfrm xmlns:a="http://schemas.openxmlformats.org/drawingml/2006/main">
            <a:off x="323850" y="5400675"/>
            <a:ext cx="1104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AGE 71</a:t>
            </a:r>
          </a:p>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TODAY</a:t>
            </a:r>
          </a:p>
        </p:txBody>
      </p:sp>
      <p:sp>
        <p:nvSpPr>
          <p:cNvPr id="24" name="horizon-point-2">
            <a:extLst xmlns:a="http://schemas.openxmlformats.org/drawingml/2006/main">
              <a:ext uri="{FF2B5EF4-FFF2-40B4-BE49-F238E27FC236}">
                <a16:creationId xmlns:a16="http://schemas.microsoft.com/office/drawing/2014/main" id="{9907D76D-6221-4F24-BBB4-4B4E289D1644}"/>
              </a:ext>
            </a:extLst>
          </p:cNvPr>
          <p:cNvSpPr>
            <a:spLocks xmlns:a="http://schemas.openxmlformats.org/drawingml/2006/main" noGrp="1"/>
          </p:cNvSpPr>
          <p:nvPr/>
        </p:nvSpPr>
        <p:spPr>
          <a:xfrm xmlns:a="http://schemas.openxmlformats.org/drawingml/2006/main">
            <a:off x="7121692" y="5095875"/>
            <a:ext cx="190500" cy="190500"/>
          </a:xfrm>
          <a:prstGeom xmlns:a="http://schemas.openxmlformats.org/drawingml/2006/main" prst="ellipse">
            <a:avLst/>
          </a:prstGeom>
          <a:solidFill xmlns:a="http://schemas.openxmlformats.org/drawingml/2006/main">
            <a:srgbClr val="2D5C56"/>
          </a:solidFill>
          <a:ln xmlns:a="http://schemas.openxmlformats.org/drawingml/2006/main" w="0">
            <a:solidFill>
              <a:srgbClr val="2D5C56"/>
            </a:solidFill>
            <a:prstDash val="solid"/>
          </a:ln>
        </p:spPr>
      </p:sp>
      <p:sp>
        <p:nvSpPr>
          <p:cNvPr id="25" name="">
            <a:extLst xmlns:a="http://schemas.openxmlformats.org/drawingml/2006/main">
              <a:ext uri="{FF2B5EF4-FFF2-40B4-BE49-F238E27FC236}">
                <a16:creationId xmlns:a16="http://schemas.microsoft.com/office/drawing/2014/main" id="{AB2B2364-867B-47D6-875A-FCFDC981FC8C}"/>
              </a:ext>
            </a:extLst>
          </p:cNvPr>
          <p:cNvSpPr>
            <a:spLocks xmlns:a="http://schemas.openxmlformats.org/drawingml/2006/main" noGrp="1"/>
          </p:cNvSpPr>
          <p:nvPr/>
        </p:nvSpPr>
        <p:spPr>
          <a:xfrm xmlns:a="http://schemas.openxmlformats.org/drawingml/2006/main">
            <a:off x="6816892" y="4705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0">
                <a:solidFill>
                  <a:srgbClr val="2D5C56"/>
                </a:solidFill>
                <a:latin typeface="Georgia"/>
                <a:ea typeface="Georgia"/>
                <a:cs typeface="Georgia"/>
              </a:defRPr>
            </a:pPr>
            <a:r>
              <a:rPr sz="1350" b="0">
                <a:solidFill>
                  <a:srgbClr val="2D5C56"/>
                </a:solidFill>
                <a:latin typeface="Georgia"/>
                <a:ea typeface="Georgia"/>
                <a:cs typeface="Georgia"/>
              </a:rPr>
              <a:t>2038</a:t>
            </a:r>
          </a:p>
        </p:txBody>
      </p:sp>
      <p:sp>
        <p:nvSpPr>
          <p:cNvPr id="26" name="">
            <a:extLst xmlns:a="http://schemas.openxmlformats.org/drawingml/2006/main">
              <a:ext uri="{FF2B5EF4-FFF2-40B4-BE49-F238E27FC236}">
                <a16:creationId xmlns:a16="http://schemas.microsoft.com/office/drawing/2014/main" id="{7FB135CE-3169-420D-AC5B-345D7EB3809F}"/>
              </a:ext>
            </a:extLst>
          </p:cNvPr>
          <p:cNvSpPr>
            <a:spLocks xmlns:a="http://schemas.openxmlformats.org/drawingml/2006/main" noGrp="1"/>
          </p:cNvSpPr>
          <p:nvPr/>
        </p:nvSpPr>
        <p:spPr>
          <a:xfrm xmlns:a="http://schemas.openxmlformats.org/drawingml/2006/main">
            <a:off x="6664492" y="5400675"/>
            <a:ext cx="1104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12-YEAR HORIZON</a:t>
            </a:r>
          </a:p>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ENDS</a:t>
            </a:r>
          </a:p>
        </p:txBody>
      </p:sp>
      <p:sp>
        <p:nvSpPr>
          <p:cNvPr id="27" name="horizon-point-3">
            <a:extLst xmlns:a="http://schemas.openxmlformats.org/drawingml/2006/main">
              <a:ext uri="{FF2B5EF4-FFF2-40B4-BE49-F238E27FC236}">
                <a16:creationId xmlns:a16="http://schemas.microsoft.com/office/drawing/2014/main" id="{3FB81610-64C5-4895-B36A-824F5FCB830E}"/>
              </a:ext>
            </a:extLst>
          </p:cNvPr>
          <p:cNvSpPr>
            <a:spLocks xmlns:a="http://schemas.openxmlformats.org/drawingml/2006/main" noGrp="1"/>
          </p:cNvSpPr>
          <p:nvPr/>
        </p:nvSpPr>
        <p:spPr>
          <a:xfrm xmlns:a="http://schemas.openxmlformats.org/drawingml/2006/main">
            <a:off x="10820400" y="5095875"/>
            <a:ext cx="190500" cy="190500"/>
          </a:xfrm>
          <a:prstGeom xmlns:a="http://schemas.openxmlformats.org/drawingml/2006/main" prst="ellipse">
            <a:avLst/>
          </a:prstGeom>
          <a:solidFill xmlns:a="http://schemas.openxmlformats.org/drawingml/2006/main">
            <a:srgbClr val="B85D43"/>
          </a:solidFill>
          <a:ln xmlns:a="http://schemas.openxmlformats.org/drawingml/2006/main" w="0">
            <a:solidFill>
              <a:srgbClr val="B85D43"/>
            </a:solidFill>
            <a:prstDash val="solid"/>
          </a:ln>
        </p:spPr>
      </p:sp>
      <p:sp>
        <p:nvSpPr>
          <p:cNvPr id="28" name="">
            <a:extLst xmlns:a="http://schemas.openxmlformats.org/drawingml/2006/main">
              <a:ext uri="{FF2B5EF4-FFF2-40B4-BE49-F238E27FC236}">
                <a16:creationId xmlns:a16="http://schemas.microsoft.com/office/drawing/2014/main" id="{0D79D832-5E32-4608-9215-8A3158AC5DA1}"/>
              </a:ext>
            </a:extLst>
          </p:cNvPr>
          <p:cNvSpPr>
            <a:spLocks xmlns:a="http://schemas.openxmlformats.org/drawingml/2006/main" noGrp="1"/>
          </p:cNvSpPr>
          <p:nvPr/>
        </p:nvSpPr>
        <p:spPr>
          <a:xfrm xmlns:a="http://schemas.openxmlformats.org/drawingml/2006/main">
            <a:off x="10515600" y="4705350"/>
            <a:ext cx="80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0">
                <a:solidFill>
                  <a:srgbClr val="B85D43"/>
                </a:solidFill>
                <a:latin typeface="Georgia"/>
                <a:ea typeface="Georgia"/>
                <a:cs typeface="Georgia"/>
              </a:defRPr>
            </a:pPr>
            <a:r>
              <a:rPr sz="1350" b="0">
                <a:solidFill>
                  <a:srgbClr val="B85D43"/>
                </a:solidFill>
                <a:latin typeface="Georgia"/>
                <a:ea typeface="Georgia"/>
                <a:cs typeface="Georgia"/>
              </a:rPr>
              <a:t>2045</a:t>
            </a:r>
          </a:p>
        </p:txBody>
      </p:sp>
      <p:sp>
        <p:nvSpPr>
          <p:cNvPr id="29" name="">
            <a:extLst xmlns:a="http://schemas.openxmlformats.org/drawingml/2006/main">
              <a:ext uri="{FF2B5EF4-FFF2-40B4-BE49-F238E27FC236}">
                <a16:creationId xmlns:a16="http://schemas.microsoft.com/office/drawing/2014/main" id="{20B9CE5F-11AE-4443-ADEE-590913B6D380}"/>
              </a:ext>
            </a:extLst>
          </p:cNvPr>
          <p:cNvSpPr>
            <a:spLocks xmlns:a="http://schemas.openxmlformats.org/drawingml/2006/main" noGrp="1"/>
          </p:cNvSpPr>
          <p:nvPr/>
        </p:nvSpPr>
        <p:spPr>
          <a:xfrm xmlns:a="http://schemas.openxmlformats.org/drawingml/2006/main">
            <a:off x="10363200" y="5400675"/>
            <a:ext cx="1104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LARGEST BOND</a:t>
            </a:r>
          </a:p>
          <a:p xmlns:a="http://schemas.openxmlformats.org/drawingml/2006/main">
            <a:pPr algn="ctr">
              <a:buNone/>
              <a:defRPr sz="750" b="1">
                <a:solidFill>
                  <a:srgbClr val="6F766F"/>
                </a:solidFill>
                <a:latin typeface="Aptos"/>
                <a:ea typeface="Aptos"/>
                <a:cs typeface="Aptos"/>
              </a:defRPr>
            </a:pPr>
            <a:r>
              <a:rPr sz="750" b="1">
                <a:solidFill>
                  <a:srgbClr val="6F766F"/>
                </a:solidFill>
                <a:latin typeface="Aptos"/>
                <a:ea typeface="Aptos"/>
                <a:cs typeface="Aptos"/>
              </a:rPr>
              <a:t>MATURES</a:t>
            </a:r>
          </a:p>
        </p:txBody>
      </p:sp>
      <p:sp>
        <p:nvSpPr>
          <p:cNvPr id="30" name="">
            <a:extLst xmlns:a="http://schemas.openxmlformats.org/drawingml/2006/main">
              <a:ext uri="{FF2B5EF4-FFF2-40B4-BE49-F238E27FC236}">
                <a16:creationId xmlns:a16="http://schemas.microsoft.com/office/drawing/2014/main" id="{054F3A05-1992-4FC8-ABC1-F89EB7D13C03}"/>
              </a:ext>
            </a:extLst>
          </p:cNvPr>
          <p:cNvSpPr>
            <a:spLocks xmlns:a="http://schemas.openxmlformats.org/drawingml/2006/main" noGrp="1"/>
          </p:cNvSpPr>
          <p:nvPr/>
        </p:nvSpPr>
        <p:spPr>
          <a:xfrm xmlns:a="http://schemas.openxmlformats.org/drawingml/2006/main">
            <a:off x="609600" y="5829300"/>
            <a:ext cx="1619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01E"/>
                </a:solidFill>
                <a:latin typeface="Georgia"/>
                <a:ea typeface="Georgia"/>
                <a:cs typeface="Georgia"/>
              </a:defRPr>
            </a:pPr>
            <a:r>
              <a:rPr sz="1875" b="0">
                <a:solidFill>
                  <a:srgbClr val="17201E"/>
                </a:solidFill>
                <a:latin typeface="Georgia"/>
                <a:ea typeface="Georgia"/>
                <a:cs typeface="Georgia"/>
              </a:rPr>
              <a:t>66.6%</a:t>
            </a:r>
          </a:p>
        </p:txBody>
      </p:sp>
      <p:sp>
        <p:nvSpPr>
          <p:cNvPr id="31" name="">
            <a:extLst xmlns:a="http://schemas.openxmlformats.org/drawingml/2006/main">
              <a:ext uri="{FF2B5EF4-FFF2-40B4-BE49-F238E27FC236}">
                <a16:creationId xmlns:a16="http://schemas.microsoft.com/office/drawing/2014/main" id="{EACD7A52-6BAA-4F92-BDCA-7137BA9939E4}"/>
              </a:ext>
            </a:extLst>
          </p:cNvPr>
          <p:cNvSpPr>
            <a:spLocks xmlns:a="http://schemas.openxmlformats.org/drawingml/2006/main" noGrp="1"/>
          </p:cNvSpPr>
          <p:nvPr/>
        </p:nvSpPr>
        <p:spPr>
          <a:xfrm xmlns:a="http://schemas.openxmlformats.org/drawingml/2006/main">
            <a:off x="609600" y="6267450"/>
            <a:ext cx="1619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FIXED INCOME</a:t>
            </a:r>
          </a:p>
        </p:txBody>
      </p:sp>
      <p:sp>
        <p:nvSpPr>
          <p:cNvPr id="32" name="">
            <a:extLst xmlns:a="http://schemas.openxmlformats.org/drawingml/2006/main">
              <a:ext uri="{FF2B5EF4-FFF2-40B4-BE49-F238E27FC236}">
                <a16:creationId xmlns:a16="http://schemas.microsoft.com/office/drawing/2014/main" id="{C6657E1C-BAEB-4F03-9511-9E7AF9190FE5}"/>
              </a:ext>
            </a:extLst>
          </p:cNvPr>
          <p:cNvSpPr>
            <a:spLocks xmlns:a="http://schemas.openxmlformats.org/drawingml/2006/main" noGrp="1"/>
          </p:cNvSpPr>
          <p:nvPr/>
        </p:nvSpPr>
        <p:spPr>
          <a:xfrm xmlns:a="http://schemas.openxmlformats.org/drawingml/2006/main">
            <a:off x="2552700" y="5829300"/>
            <a:ext cx="2000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01E"/>
                </a:solidFill>
                <a:latin typeface="Georgia"/>
                <a:ea typeface="Georgia"/>
                <a:cs typeface="Georgia"/>
              </a:defRPr>
            </a:pPr>
            <a:r>
              <a:rPr sz="1875" b="0">
                <a:solidFill>
                  <a:srgbClr val="17201E"/>
                </a:solidFill>
                <a:latin typeface="Georgia"/>
                <a:ea typeface="Georgia"/>
                <a:cs typeface="Georgia"/>
              </a:rPr>
              <a:t>20.8%</a:t>
            </a:r>
          </a:p>
        </p:txBody>
      </p:sp>
      <p:sp>
        <p:nvSpPr>
          <p:cNvPr id="33" name="">
            <a:extLst xmlns:a="http://schemas.openxmlformats.org/drawingml/2006/main">
              <a:ext uri="{FF2B5EF4-FFF2-40B4-BE49-F238E27FC236}">
                <a16:creationId xmlns:a16="http://schemas.microsoft.com/office/drawing/2014/main" id="{17450AC4-D421-4E8A-8B2E-12847ADE150C}"/>
              </a:ext>
            </a:extLst>
          </p:cNvPr>
          <p:cNvSpPr>
            <a:spLocks xmlns:a="http://schemas.openxmlformats.org/drawingml/2006/main" noGrp="1"/>
          </p:cNvSpPr>
          <p:nvPr/>
        </p:nvSpPr>
        <p:spPr>
          <a:xfrm xmlns:a="http://schemas.openxmlformats.org/drawingml/2006/main">
            <a:off x="2552700" y="6267450"/>
            <a:ext cx="2000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ONE TREASURY DUE 2045</a:t>
            </a:r>
          </a:p>
        </p:txBody>
      </p:sp>
      <p:sp>
        <p:nvSpPr>
          <p:cNvPr id="34" name="">
            <a:extLst xmlns:a="http://schemas.openxmlformats.org/drawingml/2006/main">
              <a:ext uri="{FF2B5EF4-FFF2-40B4-BE49-F238E27FC236}">
                <a16:creationId xmlns:a16="http://schemas.microsoft.com/office/drawing/2014/main" id="{0880AC55-D631-4516-AA73-49E8532A62AD}"/>
              </a:ext>
            </a:extLst>
          </p:cNvPr>
          <p:cNvSpPr>
            <a:spLocks xmlns:a="http://schemas.openxmlformats.org/drawingml/2006/main" noGrp="1"/>
          </p:cNvSpPr>
          <p:nvPr/>
        </p:nvSpPr>
        <p:spPr>
          <a:xfrm xmlns:a="http://schemas.openxmlformats.org/drawingml/2006/main">
            <a:off x="4838700" y="582930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17201E"/>
                </a:solidFill>
                <a:latin typeface="Georgia"/>
                <a:ea typeface="Georgia"/>
                <a:cs typeface="Georgia"/>
              </a:defRPr>
            </a:pPr>
            <a:r>
              <a:rPr sz="1875" b="0">
                <a:solidFill>
                  <a:srgbClr val="17201E"/>
                </a:solidFill>
                <a:latin typeface="Georgia"/>
                <a:ea typeface="Georgia"/>
                <a:cs typeface="Georgia"/>
              </a:rPr>
              <a:t>1.5 yrs</a:t>
            </a:r>
          </a:p>
        </p:txBody>
      </p:sp>
      <p:sp>
        <p:nvSpPr>
          <p:cNvPr id="35" name="">
            <a:extLst xmlns:a="http://schemas.openxmlformats.org/drawingml/2006/main">
              <a:ext uri="{FF2B5EF4-FFF2-40B4-BE49-F238E27FC236}">
                <a16:creationId xmlns:a16="http://schemas.microsoft.com/office/drawing/2014/main" id="{F5A9B43E-0886-4989-917E-760EDA919438}"/>
              </a:ext>
            </a:extLst>
          </p:cNvPr>
          <p:cNvSpPr>
            <a:spLocks xmlns:a="http://schemas.openxmlformats.org/drawingml/2006/main" noGrp="1"/>
          </p:cNvSpPr>
          <p:nvPr/>
        </p:nvSpPr>
        <p:spPr>
          <a:xfrm xmlns:a="http://schemas.openxmlformats.org/drawingml/2006/main">
            <a:off x="4838700" y="62674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6F766F"/>
                </a:solidFill>
                <a:latin typeface="Aptos"/>
                <a:ea typeface="Aptos"/>
                <a:cs typeface="Aptos"/>
              </a:defRPr>
            </a:pPr>
            <a:r>
              <a:rPr sz="750" b="1">
                <a:solidFill>
                  <a:srgbClr val="6F766F"/>
                </a:solidFill>
                <a:latin typeface="Aptos"/>
                <a:ea typeface="Aptos"/>
                <a:cs typeface="Aptos"/>
              </a:rPr>
              <a:t>CASH-ONLY RUNWAY AT USD 1.28M</a:t>
            </a:r>
          </a:p>
        </p:txBody>
      </p:sp>
      <p:sp>
        <p:nvSpPr>
          <p:cNvPr id="36" name="">
            <a:extLst xmlns:a="http://schemas.openxmlformats.org/drawingml/2006/main">
              <a:ext uri="{FF2B5EF4-FFF2-40B4-BE49-F238E27FC236}">
                <a16:creationId xmlns:a16="http://schemas.microsoft.com/office/drawing/2014/main" id="{5CE5C966-EE72-4460-A89E-AD0A726F61C5}"/>
              </a:ext>
            </a:extLst>
          </p:cNvPr>
          <p:cNvSpPr>
            <a:spLocks xmlns:a="http://schemas.openxmlformats.org/drawingml/2006/main" noGrp="1"/>
          </p:cNvSpPr>
          <p:nvPr/>
        </p:nvSpPr>
        <p:spPr>
          <a:xfrm xmlns:a="http://schemas.openxmlformats.org/drawingml/2006/main">
            <a:off x="7791450" y="5905500"/>
            <a:ext cx="3676650" cy="276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825" b="0">
                <a:solidFill>
                  <a:srgbClr val="6F766F"/>
                </a:solidFill>
                <a:latin typeface="Aptos"/>
                <a:ea typeface="Aptos"/>
                <a:cs typeface="Aptos"/>
              </a:defRPr>
            </a:pPr>
            <a:r>
              <a:rPr sz="825" b="0">
                <a:solidFill>
                  <a:srgbClr val="6F766F"/>
                </a:solidFill>
                <a:latin typeface="Aptos"/>
                <a:ea typeface="Aptos"/>
                <a:cs typeface="Aptos"/>
              </a:rPr>
              <a:t>Value paths include flows; do not call the decline ‘performance’ without attribution.</a:t>
            </a:r>
          </a:p>
        </p:txBody>
      </p:sp>
      <p:sp>
        <p:nvSpPr>
          <p:cNvPr id="37" name="footer-rule-8">
            <a:extLst xmlns:a="http://schemas.openxmlformats.org/drawingml/2006/main">
              <a:ext uri="{FF2B5EF4-FFF2-40B4-BE49-F238E27FC236}">
                <a16:creationId xmlns:a16="http://schemas.microsoft.com/office/drawing/2014/main" id="{9ADBF185-395B-4BE3-89E9-933D547E3A4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CDA6070-975D-4ABB-BD03-CF7C58404FB1}"/>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6F766F"/>
                </a:solidFill>
                <a:latin typeface="Aptos"/>
                <a:ea typeface="Aptos"/>
                <a:cs typeface="Aptos"/>
              </a:defRPr>
            </a:pPr>
            <a:r>
              <a:rPr sz="675" b="0">
                <a:solidFill>
                  <a:srgbClr val="6F766F"/>
                </a:solidFill>
                <a:latin typeface="Aptos"/>
                <a:ea typeface="Aptos"/>
                <a:cs typeface="Aptos"/>
              </a:rPr>
              <a:t>Source: holdings.csv 2026-08-26 · planned_cash_needs.csv CN-012 · rm_notes.json N-016 · synthetic data</a:t>
            </a:r>
          </a:p>
        </p:txBody>
      </p:sp>
      <p:sp>
        <p:nvSpPr>
          <p:cNvPr id="39" name="">
            <a:extLst xmlns:a="http://schemas.openxmlformats.org/drawingml/2006/main">
              <a:ext uri="{FF2B5EF4-FFF2-40B4-BE49-F238E27FC236}">
                <a16:creationId xmlns:a16="http://schemas.microsoft.com/office/drawing/2014/main" id="{66935512-74FE-4E83-A3B1-3C707825CFB5}"/>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2D5C56"/>
                </a:solidFill>
                <a:latin typeface="Aptos Mono"/>
                <a:ea typeface="Aptos Mono"/>
                <a:cs typeface="Aptos Mono"/>
              </a:defRPr>
            </a:pPr>
            <a:r>
              <a:rPr sz="750" b="1">
                <a:solidFill>
                  <a:srgbClr val="2D5C56"/>
                </a:solidFill>
                <a:latin typeface="Aptos Mono"/>
                <a:ea typeface="Aptos Mono"/>
                <a:cs typeface="Aptos Mono"/>
              </a:rPr>
              <a:t>A2</a:t>
            </a:r>
          </a:p>
        </p:txBody>
      </p:sp>
    </p:spTree>
    <p:extLst>
      <p:ext uri="{BB962C8B-B14F-4D97-AF65-F5344CB8AC3E}">
        <p14:creationId xmlns:p14="http://schemas.microsoft.com/office/powerpoint/2010/main" val="6566135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lide-background">
            <a:extLst xmlns:a="http://schemas.openxmlformats.org/drawingml/2006/main">
              <a:ext uri="{FF2B5EF4-FFF2-40B4-BE49-F238E27FC236}">
                <a16:creationId xmlns:a16="http://schemas.microsoft.com/office/drawing/2014/main" id="{3CA4917C-C15D-4E5C-9810-1BFA278419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1E"/>
          </a:solidFill>
          <a:ln xmlns:a="http://schemas.openxmlformats.org/drawingml/2006/main" w="0">
            <a:solidFill>
              <a:srgbClr val="000000">
                <a:alpha val="0"/>
              </a:srgbClr>
            </a:solidFill>
            <a:prstDash val="solid"/>
          </a:ln>
        </p:spPr>
      </p:sp>
      <p:sp>
        <p:nvSpPr>
          <p:cNvPr id="2" name="kicker-09-marker">
            <a:extLst xmlns:a="http://schemas.openxmlformats.org/drawingml/2006/main">
              <a:ext uri="{FF2B5EF4-FFF2-40B4-BE49-F238E27FC236}">
                <a16:creationId xmlns:a16="http://schemas.microsoft.com/office/drawing/2014/main" id="{D222C706-5104-4F0B-B0AD-2D13F5027AD8}"/>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 name="kicker-09-label">
            <a:extLst xmlns:a="http://schemas.openxmlformats.org/drawingml/2006/main">
              <a:ext uri="{FF2B5EF4-FFF2-40B4-BE49-F238E27FC236}">
                <a16:creationId xmlns:a16="http://schemas.microsoft.com/office/drawing/2014/main" id="{F06090EE-79BA-4C90-A159-9A99EC568972}"/>
              </a:ext>
            </a:extLst>
          </p:cNvPr>
          <p:cNvSpPr>
            <a:spLocks xmlns:a="http://schemas.openxmlformats.org/drawingml/2006/main" noGrp="1"/>
          </p:cNvSpPr>
          <p:nvPr/>
        </p:nvSpPr>
        <p:spPr>
          <a:xfrm xmlns:a="http://schemas.openxmlformats.org/drawingml/2006/main">
            <a:off x="781050" y="37147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E7D6B5"/>
                </a:solidFill>
                <a:latin typeface="Aptos"/>
                <a:ea typeface="Aptos"/>
                <a:cs typeface="Aptos"/>
              </a:defRPr>
            </a:pPr>
            <a:r>
              <a:rPr sz="825" b="1">
                <a:solidFill>
                  <a:srgbClr val="E7D6B5"/>
                </a:solidFill>
                <a:latin typeface="Aptos"/>
                <a:ea typeface="Aptos"/>
                <a:cs typeface="Aptos"/>
              </a:rPr>
              <a:t>GOVERNANCE BY CONSTRUCTION</a:t>
            </a:r>
          </a:p>
        </p:txBody>
      </p:sp>
      <p:sp>
        <p:nvSpPr>
          <p:cNvPr id="4" name="">
            <a:extLst xmlns:a="http://schemas.openxmlformats.org/drawingml/2006/main">
              <a:ext uri="{FF2B5EF4-FFF2-40B4-BE49-F238E27FC236}">
                <a16:creationId xmlns:a16="http://schemas.microsoft.com/office/drawing/2014/main" id="{FE50F646-3A55-4306-8A1E-E36E5B17738F}"/>
              </a:ext>
            </a:extLst>
          </p:cNvPr>
          <p:cNvSpPr>
            <a:spLocks xmlns:a="http://schemas.openxmlformats.org/drawingml/2006/main" noGrp="1"/>
          </p:cNvSpPr>
          <p:nvPr/>
        </p:nvSpPr>
        <p:spPr>
          <a:xfrm xmlns:a="http://schemas.openxmlformats.org/drawingml/2006/main">
            <a:off x="609600" y="685800"/>
            <a:ext cx="10287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The model may write the sentence. It cannot choose its own facts—or its own evidence.</a:t>
            </a:r>
          </a:p>
        </p:txBody>
      </p:sp>
      <p:sp>
        <p:nvSpPr>
          <p:cNvPr id="5" name="">
            <a:extLst xmlns:a="http://schemas.openxmlformats.org/drawingml/2006/main">
              <a:ext uri="{FF2B5EF4-FFF2-40B4-BE49-F238E27FC236}">
                <a16:creationId xmlns:a16="http://schemas.microsoft.com/office/drawing/2014/main" id="{5700D74E-2167-4C46-B5AA-F89B50EF0DCF}"/>
              </a:ext>
            </a:extLst>
          </p:cNvPr>
          <p:cNvSpPr>
            <a:spLocks xmlns:a="http://schemas.openxmlformats.org/drawingml/2006/main" noGrp="1"/>
          </p:cNvSpPr>
          <p:nvPr/>
        </p:nvSpPr>
        <p:spPr>
          <a:xfrm xmlns:a="http://schemas.openxmlformats.org/drawingml/2006/main">
            <a:off x="609600" y="1704975"/>
            <a:ext cx="990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B8C3BF"/>
                </a:solidFill>
                <a:latin typeface="Aptos"/>
                <a:ea typeface="Aptos"/>
                <a:cs typeface="Aptos"/>
              </a:defRPr>
            </a:pPr>
            <a:r>
              <a:rPr sz="1200" b="0">
                <a:solidFill>
                  <a:srgbClr val="B8C3BF"/>
                </a:solidFill>
                <a:latin typeface="Aptos"/>
                <a:ea typeface="Aptos"/>
                <a:cs typeface="Aptos"/>
              </a:rPr>
              <a:t>Deterministic calculations, scoped Chroma retrieval, policy-before-language and a human ledger make trust architectural.</a:t>
            </a:r>
          </a:p>
        </p:txBody>
      </p:sp>
      <p:sp>
        <p:nvSpPr>
          <p:cNvPr id="6" name="node-1">
            <a:extLst xmlns:a="http://schemas.openxmlformats.org/drawingml/2006/main">
              <a:ext uri="{FF2B5EF4-FFF2-40B4-BE49-F238E27FC236}">
                <a16:creationId xmlns:a16="http://schemas.microsoft.com/office/drawing/2014/main" id="{D5384A20-4947-46A7-BC0D-AAC4594850FB}"/>
              </a:ext>
            </a:extLst>
          </p:cNvPr>
          <p:cNvSpPr>
            <a:spLocks xmlns:a="http://schemas.openxmlformats.org/drawingml/2006/main" noGrp="1"/>
          </p:cNvSpPr>
          <p:nvPr/>
        </p:nvSpPr>
        <p:spPr>
          <a:xfrm xmlns:a="http://schemas.openxmlformats.org/drawingml/2006/main">
            <a:off x="60960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7" name="">
            <a:extLst xmlns:a="http://schemas.openxmlformats.org/drawingml/2006/main">
              <a:ext uri="{FF2B5EF4-FFF2-40B4-BE49-F238E27FC236}">
                <a16:creationId xmlns:a16="http://schemas.microsoft.com/office/drawing/2014/main" id="{EA9132EF-61F3-434C-8D56-615F18AD4145}"/>
              </a:ext>
            </a:extLst>
          </p:cNvPr>
          <p:cNvSpPr>
            <a:spLocks xmlns:a="http://schemas.openxmlformats.org/drawingml/2006/main" noGrp="1"/>
          </p:cNvSpPr>
          <p:nvPr/>
        </p:nvSpPr>
        <p:spPr>
          <a:xfrm xmlns:a="http://schemas.openxmlformats.org/drawingml/2006/main">
            <a:off x="76200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01</a:t>
            </a:r>
          </a:p>
        </p:txBody>
      </p:sp>
      <p:sp>
        <p:nvSpPr>
          <p:cNvPr id="8" name="">
            <a:extLst xmlns:a="http://schemas.openxmlformats.org/drawingml/2006/main">
              <a:ext uri="{FF2B5EF4-FFF2-40B4-BE49-F238E27FC236}">
                <a16:creationId xmlns:a16="http://schemas.microsoft.com/office/drawing/2014/main" id="{ED58D955-B173-4CD2-9534-711F93FE1CD1}"/>
              </a:ext>
            </a:extLst>
          </p:cNvPr>
          <p:cNvSpPr>
            <a:spLocks xmlns:a="http://schemas.openxmlformats.org/drawingml/2006/main" noGrp="1"/>
          </p:cNvSpPr>
          <p:nvPr/>
        </p:nvSpPr>
        <p:spPr>
          <a:xfrm xmlns:a="http://schemas.openxmlformats.org/drawingml/2006/main">
            <a:off x="76200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Bank records</a:t>
            </a:r>
          </a:p>
        </p:txBody>
      </p:sp>
      <p:sp>
        <p:nvSpPr>
          <p:cNvPr id="9" name="">
            <a:extLst xmlns:a="http://schemas.openxmlformats.org/drawingml/2006/main">
              <a:ext uri="{FF2B5EF4-FFF2-40B4-BE49-F238E27FC236}">
                <a16:creationId xmlns:a16="http://schemas.microsoft.com/office/drawing/2014/main" id="{CB2158D5-6104-4E3B-8E91-2E3E91DD3279}"/>
              </a:ext>
            </a:extLst>
          </p:cNvPr>
          <p:cNvSpPr>
            <a:spLocks xmlns:a="http://schemas.openxmlformats.org/drawingml/2006/main" noGrp="1"/>
          </p:cNvSpPr>
          <p:nvPr/>
        </p:nvSpPr>
        <p:spPr>
          <a:xfrm xmlns:a="http://schemas.openxmlformats.org/drawingml/2006/main">
            <a:off x="76200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5 snapshots + notes</a:t>
            </a:r>
          </a:p>
        </p:txBody>
      </p:sp>
      <p:sp>
        <p:nvSpPr>
          <p:cNvPr id="10" name="architecture-link-1">
            <a:extLst xmlns:a="http://schemas.openxmlformats.org/drawingml/2006/main">
              <a:ext uri="{FF2B5EF4-FFF2-40B4-BE49-F238E27FC236}">
                <a16:creationId xmlns:a16="http://schemas.microsoft.com/office/drawing/2014/main" id="{C1EFABEF-38D5-41AD-8140-10E22B7218D1}"/>
              </a:ext>
            </a:extLst>
          </p:cNvPr>
          <p:cNvSpPr>
            <a:spLocks xmlns:a="http://schemas.openxmlformats.org/drawingml/2006/main" noGrp="1"/>
          </p:cNvSpPr>
          <p:nvPr/>
        </p:nvSpPr>
        <p:spPr>
          <a:xfrm xmlns:a="http://schemas.openxmlformats.org/drawingml/2006/main">
            <a:off x="233362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1" name="node-2">
            <a:extLst xmlns:a="http://schemas.openxmlformats.org/drawingml/2006/main">
              <a:ext uri="{FF2B5EF4-FFF2-40B4-BE49-F238E27FC236}">
                <a16:creationId xmlns:a16="http://schemas.microsoft.com/office/drawing/2014/main" id="{E6187A99-F00E-45B2-A5C1-5DE7AC5CEF4B}"/>
              </a:ext>
            </a:extLst>
          </p:cNvPr>
          <p:cNvSpPr>
            <a:spLocks xmlns:a="http://schemas.openxmlformats.org/drawingml/2006/main" noGrp="1"/>
          </p:cNvSpPr>
          <p:nvPr/>
        </p:nvSpPr>
        <p:spPr>
          <a:xfrm xmlns:a="http://schemas.openxmlformats.org/drawingml/2006/main">
            <a:off x="245745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2" name="">
            <a:extLst xmlns:a="http://schemas.openxmlformats.org/drawingml/2006/main">
              <a:ext uri="{FF2B5EF4-FFF2-40B4-BE49-F238E27FC236}">
                <a16:creationId xmlns:a16="http://schemas.microsoft.com/office/drawing/2014/main" id="{C244EB76-7C6A-4328-BFFB-E21884553D28}"/>
              </a:ext>
            </a:extLst>
          </p:cNvPr>
          <p:cNvSpPr>
            <a:spLocks xmlns:a="http://schemas.openxmlformats.org/drawingml/2006/main" noGrp="1"/>
          </p:cNvSpPr>
          <p:nvPr/>
        </p:nvSpPr>
        <p:spPr>
          <a:xfrm xmlns:a="http://schemas.openxmlformats.org/drawingml/2006/main">
            <a:off x="260985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02</a:t>
            </a:r>
          </a:p>
        </p:txBody>
      </p:sp>
      <p:sp>
        <p:nvSpPr>
          <p:cNvPr id="13" name="">
            <a:extLst xmlns:a="http://schemas.openxmlformats.org/drawingml/2006/main">
              <a:ext uri="{FF2B5EF4-FFF2-40B4-BE49-F238E27FC236}">
                <a16:creationId xmlns:a16="http://schemas.microsoft.com/office/drawing/2014/main" id="{715CB610-BFF9-44EF-8ED5-F29AE68C5735}"/>
              </a:ext>
            </a:extLst>
          </p:cNvPr>
          <p:cNvSpPr>
            <a:spLocks xmlns:a="http://schemas.openxmlformats.org/drawingml/2006/main" noGrp="1"/>
          </p:cNvSpPr>
          <p:nvPr/>
        </p:nvSpPr>
        <p:spPr>
          <a:xfrm xmlns:a="http://schemas.openxmlformats.org/drawingml/2006/main">
            <a:off x="260985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Temporal joins</a:t>
            </a:r>
          </a:p>
        </p:txBody>
      </p:sp>
      <p:sp>
        <p:nvSpPr>
          <p:cNvPr id="14" name="">
            <a:extLst xmlns:a="http://schemas.openxmlformats.org/drawingml/2006/main">
              <a:ext uri="{FF2B5EF4-FFF2-40B4-BE49-F238E27FC236}">
                <a16:creationId xmlns:a16="http://schemas.microsoft.com/office/drawing/2014/main" id="{6B0A59E8-8829-4F92-BFFB-137FBEE79065}"/>
              </a:ext>
            </a:extLst>
          </p:cNvPr>
          <p:cNvSpPr>
            <a:spLocks xmlns:a="http://schemas.openxmlformats.org/drawingml/2006/main" noGrp="1"/>
          </p:cNvSpPr>
          <p:nvPr/>
        </p:nvSpPr>
        <p:spPr>
          <a:xfrm xmlns:a="http://schemas.openxmlformats.org/drawingml/2006/main">
            <a:off x="260985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as-of safe + lag flags</a:t>
            </a:r>
          </a:p>
        </p:txBody>
      </p:sp>
      <p:sp>
        <p:nvSpPr>
          <p:cNvPr id="15" name="architecture-link-2">
            <a:extLst xmlns:a="http://schemas.openxmlformats.org/drawingml/2006/main">
              <a:ext uri="{FF2B5EF4-FFF2-40B4-BE49-F238E27FC236}">
                <a16:creationId xmlns:a16="http://schemas.microsoft.com/office/drawing/2014/main" id="{7CAA28F1-A9E6-42CD-8DBE-02DA92A52C8D}"/>
              </a:ext>
            </a:extLst>
          </p:cNvPr>
          <p:cNvSpPr>
            <a:spLocks xmlns:a="http://schemas.openxmlformats.org/drawingml/2006/main" noGrp="1"/>
          </p:cNvSpPr>
          <p:nvPr/>
        </p:nvSpPr>
        <p:spPr>
          <a:xfrm xmlns:a="http://schemas.openxmlformats.org/drawingml/2006/main">
            <a:off x="418147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16" name="node-3">
            <a:extLst xmlns:a="http://schemas.openxmlformats.org/drawingml/2006/main">
              <a:ext uri="{FF2B5EF4-FFF2-40B4-BE49-F238E27FC236}">
                <a16:creationId xmlns:a16="http://schemas.microsoft.com/office/drawing/2014/main" id="{1F175B6F-D3E0-425B-AD81-A39F35323A75}"/>
              </a:ext>
            </a:extLst>
          </p:cNvPr>
          <p:cNvSpPr>
            <a:spLocks xmlns:a="http://schemas.openxmlformats.org/drawingml/2006/main" noGrp="1"/>
          </p:cNvSpPr>
          <p:nvPr/>
        </p:nvSpPr>
        <p:spPr>
          <a:xfrm xmlns:a="http://schemas.openxmlformats.org/drawingml/2006/main">
            <a:off x="430530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17" name="">
            <a:extLst xmlns:a="http://schemas.openxmlformats.org/drawingml/2006/main">
              <a:ext uri="{FF2B5EF4-FFF2-40B4-BE49-F238E27FC236}">
                <a16:creationId xmlns:a16="http://schemas.microsoft.com/office/drawing/2014/main" id="{A77C6338-1C56-4098-BA56-AB0D959ABE8F}"/>
              </a:ext>
            </a:extLst>
          </p:cNvPr>
          <p:cNvSpPr>
            <a:spLocks xmlns:a="http://schemas.openxmlformats.org/drawingml/2006/main" noGrp="1"/>
          </p:cNvSpPr>
          <p:nvPr/>
        </p:nvSpPr>
        <p:spPr>
          <a:xfrm xmlns:a="http://schemas.openxmlformats.org/drawingml/2006/main">
            <a:off x="445770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03</a:t>
            </a:r>
          </a:p>
        </p:txBody>
      </p:sp>
      <p:sp>
        <p:nvSpPr>
          <p:cNvPr id="18" name="">
            <a:extLst xmlns:a="http://schemas.openxmlformats.org/drawingml/2006/main">
              <a:ext uri="{FF2B5EF4-FFF2-40B4-BE49-F238E27FC236}">
                <a16:creationId xmlns:a16="http://schemas.microsoft.com/office/drawing/2014/main" id="{AB3B6E19-2D0A-4687-9884-1B04FFFAD28E}"/>
              </a:ext>
            </a:extLst>
          </p:cNvPr>
          <p:cNvSpPr>
            <a:spLocks xmlns:a="http://schemas.openxmlformats.org/drawingml/2006/main" noGrp="1"/>
          </p:cNvSpPr>
          <p:nvPr/>
        </p:nvSpPr>
        <p:spPr>
          <a:xfrm xmlns:a="http://schemas.openxmlformats.org/drawingml/2006/main">
            <a:off x="445770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Policy compiler</a:t>
            </a:r>
          </a:p>
        </p:txBody>
      </p:sp>
      <p:sp>
        <p:nvSpPr>
          <p:cNvPr id="19" name="">
            <a:extLst xmlns:a="http://schemas.openxmlformats.org/drawingml/2006/main">
              <a:ext uri="{FF2B5EF4-FFF2-40B4-BE49-F238E27FC236}">
                <a16:creationId xmlns:a16="http://schemas.microsoft.com/office/drawing/2014/main" id="{3191221A-BEA4-48C6-8566-BDFAF6EE5070}"/>
              </a:ext>
            </a:extLst>
          </p:cNvPr>
          <p:cNvSpPr>
            <a:spLocks xmlns:a="http://schemas.openxmlformats.org/drawingml/2006/main" noGrp="1"/>
          </p:cNvSpPr>
          <p:nvPr/>
        </p:nvSpPr>
        <p:spPr>
          <a:xfrm xmlns:a="http://schemas.openxmlformats.org/drawingml/2006/main">
            <a:off x="445770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mandate + event authority</a:t>
            </a:r>
          </a:p>
        </p:txBody>
      </p:sp>
      <p:sp>
        <p:nvSpPr>
          <p:cNvPr id="20" name="architecture-link-3">
            <a:extLst xmlns:a="http://schemas.openxmlformats.org/drawingml/2006/main">
              <a:ext uri="{FF2B5EF4-FFF2-40B4-BE49-F238E27FC236}">
                <a16:creationId xmlns:a16="http://schemas.microsoft.com/office/drawing/2014/main" id="{22B1000B-5AC9-4C66-B9EC-31317D6B1323}"/>
              </a:ext>
            </a:extLst>
          </p:cNvPr>
          <p:cNvSpPr>
            <a:spLocks xmlns:a="http://schemas.openxmlformats.org/drawingml/2006/main" noGrp="1"/>
          </p:cNvSpPr>
          <p:nvPr/>
        </p:nvSpPr>
        <p:spPr>
          <a:xfrm xmlns:a="http://schemas.openxmlformats.org/drawingml/2006/main">
            <a:off x="602932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1" name="node-4">
            <a:extLst xmlns:a="http://schemas.openxmlformats.org/drawingml/2006/main">
              <a:ext uri="{FF2B5EF4-FFF2-40B4-BE49-F238E27FC236}">
                <a16:creationId xmlns:a16="http://schemas.microsoft.com/office/drawing/2014/main" id="{2D6E163B-5494-4A4B-8FAE-D1B47EAA6080}"/>
              </a:ext>
            </a:extLst>
          </p:cNvPr>
          <p:cNvSpPr>
            <a:spLocks xmlns:a="http://schemas.openxmlformats.org/drawingml/2006/main" noGrp="1"/>
          </p:cNvSpPr>
          <p:nvPr/>
        </p:nvSpPr>
        <p:spPr>
          <a:xfrm xmlns:a="http://schemas.openxmlformats.org/drawingml/2006/main">
            <a:off x="615315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2" name="">
            <a:extLst xmlns:a="http://schemas.openxmlformats.org/drawingml/2006/main">
              <a:ext uri="{FF2B5EF4-FFF2-40B4-BE49-F238E27FC236}">
                <a16:creationId xmlns:a16="http://schemas.microsoft.com/office/drawing/2014/main" id="{C0DA6D4C-BFB7-4FCC-8307-76E55F7BA6E7}"/>
              </a:ext>
            </a:extLst>
          </p:cNvPr>
          <p:cNvSpPr>
            <a:spLocks xmlns:a="http://schemas.openxmlformats.org/drawingml/2006/main" noGrp="1"/>
          </p:cNvSpPr>
          <p:nvPr/>
        </p:nvSpPr>
        <p:spPr>
          <a:xfrm xmlns:a="http://schemas.openxmlformats.org/drawingml/2006/main">
            <a:off x="630555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04</a:t>
            </a:r>
          </a:p>
        </p:txBody>
      </p:sp>
      <p:sp>
        <p:nvSpPr>
          <p:cNvPr id="23" name="">
            <a:extLst xmlns:a="http://schemas.openxmlformats.org/drawingml/2006/main">
              <a:ext uri="{FF2B5EF4-FFF2-40B4-BE49-F238E27FC236}">
                <a16:creationId xmlns:a16="http://schemas.microsoft.com/office/drawing/2014/main" id="{3388FC5A-7952-4C15-8973-E26D97A3D715}"/>
              </a:ext>
            </a:extLst>
          </p:cNvPr>
          <p:cNvSpPr>
            <a:spLocks xmlns:a="http://schemas.openxmlformats.org/drawingml/2006/main" noGrp="1"/>
          </p:cNvSpPr>
          <p:nvPr/>
        </p:nvSpPr>
        <p:spPr>
          <a:xfrm xmlns:a="http://schemas.openxmlformats.org/drawingml/2006/main">
            <a:off x="630555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Scoped retrieval</a:t>
            </a:r>
          </a:p>
        </p:txBody>
      </p:sp>
      <p:sp>
        <p:nvSpPr>
          <p:cNvPr id="24" name="">
            <a:extLst xmlns:a="http://schemas.openxmlformats.org/drawingml/2006/main">
              <a:ext uri="{FF2B5EF4-FFF2-40B4-BE49-F238E27FC236}">
                <a16:creationId xmlns:a16="http://schemas.microsoft.com/office/drawing/2014/main" id="{FA95E361-9744-4257-A8F1-FD8B17419E92}"/>
              </a:ext>
            </a:extLst>
          </p:cNvPr>
          <p:cNvSpPr>
            <a:spLocks xmlns:a="http://schemas.openxmlformats.org/drawingml/2006/main" noGrp="1"/>
          </p:cNvSpPr>
          <p:nvPr/>
        </p:nvSpPr>
        <p:spPr>
          <a:xfrm xmlns:a="http://schemas.openxmlformats.org/drawingml/2006/main">
            <a:off x="630555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client + GLOBAL · as-of safe</a:t>
            </a:r>
          </a:p>
        </p:txBody>
      </p:sp>
      <p:sp>
        <p:nvSpPr>
          <p:cNvPr id="25" name="architecture-link-4">
            <a:extLst xmlns:a="http://schemas.openxmlformats.org/drawingml/2006/main">
              <a:ext uri="{FF2B5EF4-FFF2-40B4-BE49-F238E27FC236}">
                <a16:creationId xmlns:a16="http://schemas.microsoft.com/office/drawing/2014/main" id="{58B93C04-2F10-4ED6-9E10-3ECC0F56D90D}"/>
              </a:ext>
            </a:extLst>
          </p:cNvPr>
          <p:cNvSpPr>
            <a:spLocks xmlns:a="http://schemas.openxmlformats.org/drawingml/2006/main" noGrp="1"/>
          </p:cNvSpPr>
          <p:nvPr/>
        </p:nvSpPr>
        <p:spPr>
          <a:xfrm xmlns:a="http://schemas.openxmlformats.org/drawingml/2006/main">
            <a:off x="787717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26" name="node-5">
            <a:extLst xmlns:a="http://schemas.openxmlformats.org/drawingml/2006/main">
              <a:ext uri="{FF2B5EF4-FFF2-40B4-BE49-F238E27FC236}">
                <a16:creationId xmlns:a16="http://schemas.microsoft.com/office/drawing/2014/main" id="{BC8693C4-1ACC-4405-8E83-93C4CA0BCA02}"/>
              </a:ext>
            </a:extLst>
          </p:cNvPr>
          <p:cNvSpPr>
            <a:spLocks xmlns:a="http://schemas.openxmlformats.org/drawingml/2006/main" noGrp="1"/>
          </p:cNvSpPr>
          <p:nvPr/>
        </p:nvSpPr>
        <p:spPr>
          <a:xfrm xmlns:a="http://schemas.openxmlformats.org/drawingml/2006/main">
            <a:off x="800100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27" name="">
            <a:extLst xmlns:a="http://schemas.openxmlformats.org/drawingml/2006/main">
              <a:ext uri="{FF2B5EF4-FFF2-40B4-BE49-F238E27FC236}">
                <a16:creationId xmlns:a16="http://schemas.microsoft.com/office/drawing/2014/main" id="{3A2AD508-4119-4C29-89FB-18A740EE8803}"/>
              </a:ext>
            </a:extLst>
          </p:cNvPr>
          <p:cNvSpPr>
            <a:spLocks xmlns:a="http://schemas.openxmlformats.org/drawingml/2006/main" noGrp="1"/>
          </p:cNvSpPr>
          <p:nvPr/>
        </p:nvSpPr>
        <p:spPr>
          <a:xfrm xmlns:a="http://schemas.openxmlformats.org/drawingml/2006/main">
            <a:off x="815340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05</a:t>
            </a:r>
          </a:p>
        </p:txBody>
      </p:sp>
      <p:sp>
        <p:nvSpPr>
          <p:cNvPr id="28" name="">
            <a:extLst xmlns:a="http://schemas.openxmlformats.org/drawingml/2006/main">
              <a:ext uri="{FF2B5EF4-FFF2-40B4-BE49-F238E27FC236}">
                <a16:creationId xmlns:a16="http://schemas.microsoft.com/office/drawing/2014/main" id="{172F09E6-CAA3-41E1-A0E7-1E435723B2F0}"/>
              </a:ext>
            </a:extLst>
          </p:cNvPr>
          <p:cNvSpPr>
            <a:spLocks xmlns:a="http://schemas.openxmlformats.org/drawingml/2006/main" noGrp="1"/>
          </p:cNvSpPr>
          <p:nvPr/>
        </p:nvSpPr>
        <p:spPr>
          <a:xfrm xmlns:a="http://schemas.openxmlformats.org/drawingml/2006/main">
            <a:off x="815340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Model panel</a:t>
            </a:r>
          </a:p>
        </p:txBody>
      </p:sp>
      <p:sp>
        <p:nvSpPr>
          <p:cNvPr id="29" name="">
            <a:extLst xmlns:a="http://schemas.openxmlformats.org/drawingml/2006/main">
              <a:ext uri="{FF2B5EF4-FFF2-40B4-BE49-F238E27FC236}">
                <a16:creationId xmlns:a16="http://schemas.microsoft.com/office/drawing/2014/main" id="{074B70B7-3C2A-4F2D-926A-802EE8B29277}"/>
              </a:ext>
            </a:extLst>
          </p:cNvPr>
          <p:cNvSpPr>
            <a:spLocks xmlns:a="http://schemas.openxmlformats.org/drawingml/2006/main" noGrp="1"/>
          </p:cNvSpPr>
          <p:nvPr/>
        </p:nvSpPr>
        <p:spPr>
          <a:xfrm xmlns:a="http://schemas.openxmlformats.org/drawingml/2006/main">
            <a:off x="815340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source-labelled context</a:t>
            </a:r>
          </a:p>
        </p:txBody>
      </p:sp>
      <p:sp>
        <p:nvSpPr>
          <p:cNvPr id="30" name="architecture-link-5">
            <a:extLst xmlns:a="http://schemas.openxmlformats.org/drawingml/2006/main">
              <a:ext uri="{FF2B5EF4-FFF2-40B4-BE49-F238E27FC236}">
                <a16:creationId xmlns:a16="http://schemas.microsoft.com/office/drawing/2014/main" id="{9DDAECEF-3403-4CB4-8A2F-C633CF221E52}"/>
              </a:ext>
            </a:extLst>
          </p:cNvPr>
          <p:cNvSpPr>
            <a:spLocks xmlns:a="http://schemas.openxmlformats.org/drawingml/2006/main" noGrp="1"/>
          </p:cNvSpPr>
          <p:nvPr/>
        </p:nvSpPr>
        <p:spPr>
          <a:xfrm xmlns:a="http://schemas.openxmlformats.org/drawingml/2006/main">
            <a:off x="9725025" y="2905125"/>
            <a:ext cx="123825" cy="19050"/>
          </a:xfrm>
          <a:prstGeom xmlns:a="http://schemas.openxmlformats.org/drawingml/2006/main" prst="rect">
            <a:avLst/>
          </a:prstGeom>
          <a:solidFill xmlns:a="http://schemas.openxmlformats.org/drawingml/2006/main">
            <a:srgbClr val="B78F50"/>
          </a:solidFill>
          <a:ln xmlns:a="http://schemas.openxmlformats.org/drawingml/2006/main" w="0">
            <a:solidFill>
              <a:srgbClr val="000000">
                <a:alpha val="0"/>
              </a:srgbClr>
            </a:solidFill>
            <a:prstDash val="solid"/>
          </a:ln>
        </p:spPr>
      </p:sp>
      <p:sp>
        <p:nvSpPr>
          <p:cNvPr id="31" name="node-6">
            <a:extLst xmlns:a="http://schemas.openxmlformats.org/drawingml/2006/main">
              <a:ext uri="{FF2B5EF4-FFF2-40B4-BE49-F238E27FC236}">
                <a16:creationId xmlns:a16="http://schemas.microsoft.com/office/drawing/2014/main" id="{F6DBDBFD-7793-4FB9-896D-29528FE9DED6}"/>
              </a:ext>
            </a:extLst>
          </p:cNvPr>
          <p:cNvSpPr>
            <a:spLocks xmlns:a="http://schemas.openxmlformats.org/drawingml/2006/main" noGrp="1"/>
          </p:cNvSpPr>
          <p:nvPr/>
        </p:nvSpPr>
        <p:spPr>
          <a:xfrm xmlns:a="http://schemas.openxmlformats.org/drawingml/2006/main">
            <a:off x="9848850" y="2238375"/>
            <a:ext cx="1724025" cy="1352550"/>
          </a:xfrm>
          <a:prstGeom xmlns:a="http://schemas.openxmlformats.org/drawingml/2006/main" prst="rect">
            <a:avLst/>
          </a:prstGeom>
          <a:solidFill xmlns:a="http://schemas.openxmlformats.org/drawingml/2006/main">
            <a:srgbClr val="263330"/>
          </a:solidFill>
          <a:ln xmlns:a="http://schemas.openxmlformats.org/drawingml/2006/main" w="9525">
            <a:solidFill>
              <a:srgbClr val="42534F"/>
            </a:solidFill>
            <a:prstDash val="solid"/>
          </a:ln>
        </p:spPr>
      </p:sp>
      <p:sp>
        <p:nvSpPr>
          <p:cNvPr id="32" name="">
            <a:extLst xmlns:a="http://schemas.openxmlformats.org/drawingml/2006/main">
              <a:ext uri="{FF2B5EF4-FFF2-40B4-BE49-F238E27FC236}">
                <a16:creationId xmlns:a16="http://schemas.microsoft.com/office/drawing/2014/main" id="{3CD56CE5-0E0E-4D0A-A993-83FD9EABCEBD}"/>
              </a:ext>
            </a:extLst>
          </p:cNvPr>
          <p:cNvSpPr>
            <a:spLocks xmlns:a="http://schemas.openxmlformats.org/drawingml/2006/main" noGrp="1"/>
          </p:cNvSpPr>
          <p:nvPr/>
        </p:nvSpPr>
        <p:spPr>
          <a:xfrm xmlns:a="http://schemas.openxmlformats.org/drawingml/2006/main">
            <a:off x="10001250" y="236220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06</a:t>
            </a:r>
          </a:p>
        </p:txBody>
      </p:sp>
      <p:sp>
        <p:nvSpPr>
          <p:cNvPr id="33" name="">
            <a:extLst xmlns:a="http://schemas.openxmlformats.org/drawingml/2006/main">
              <a:ext uri="{FF2B5EF4-FFF2-40B4-BE49-F238E27FC236}">
                <a16:creationId xmlns:a16="http://schemas.microsoft.com/office/drawing/2014/main" id="{31216417-AC22-44D9-BA72-00E5D3ECC954}"/>
              </a:ext>
            </a:extLst>
          </p:cNvPr>
          <p:cNvSpPr>
            <a:spLocks xmlns:a="http://schemas.openxmlformats.org/drawingml/2006/main" noGrp="1"/>
          </p:cNvSpPr>
          <p:nvPr/>
        </p:nvSpPr>
        <p:spPr>
          <a:xfrm xmlns:a="http://schemas.openxmlformats.org/drawingml/2006/main">
            <a:off x="10001250" y="2619375"/>
            <a:ext cx="1419225"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Georgia"/>
                <a:ea typeface="Georgia"/>
                <a:cs typeface="Georgia"/>
              </a:defRPr>
            </a:pPr>
            <a:r>
              <a:rPr sz="1350" b="0">
                <a:solidFill>
                  <a:srgbClr val="FFFFFF"/>
                </a:solidFill>
                <a:latin typeface="Georgia"/>
                <a:ea typeface="Georgia"/>
                <a:cs typeface="Georgia"/>
              </a:rPr>
              <a:t>RM decision</a:t>
            </a:r>
          </a:p>
        </p:txBody>
      </p:sp>
      <p:sp>
        <p:nvSpPr>
          <p:cNvPr id="34" name="">
            <a:extLst xmlns:a="http://schemas.openxmlformats.org/drawingml/2006/main">
              <a:ext uri="{FF2B5EF4-FFF2-40B4-BE49-F238E27FC236}">
                <a16:creationId xmlns:a16="http://schemas.microsoft.com/office/drawing/2014/main" id="{60AEBA32-58A0-4D90-8A5B-34C720361DB6}"/>
              </a:ext>
            </a:extLst>
          </p:cNvPr>
          <p:cNvSpPr>
            <a:spLocks xmlns:a="http://schemas.openxmlformats.org/drawingml/2006/main" noGrp="1"/>
          </p:cNvSpPr>
          <p:nvPr/>
        </p:nvSpPr>
        <p:spPr>
          <a:xfrm xmlns:a="http://schemas.openxmlformats.org/drawingml/2006/main">
            <a:off x="10001250" y="3171825"/>
            <a:ext cx="1419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AFBBB7"/>
                </a:solidFill>
                <a:latin typeface="Aptos"/>
                <a:ea typeface="Aptos"/>
                <a:cs typeface="Aptos"/>
              </a:defRPr>
            </a:pPr>
            <a:r>
              <a:rPr sz="825" b="0">
                <a:solidFill>
                  <a:srgbClr val="AFBBB7"/>
                </a:solidFill>
                <a:latin typeface="Aptos"/>
                <a:ea typeface="Aptos"/>
                <a:cs typeface="Aptos"/>
              </a:rPr>
              <a:t>approve / edit / reject</a:t>
            </a:r>
          </a:p>
        </p:txBody>
      </p:sp>
      <p:sp>
        <p:nvSpPr>
          <p:cNvPr id="35" name="controls-panel">
            <a:extLst xmlns:a="http://schemas.openxmlformats.org/drawingml/2006/main">
              <a:ext uri="{FF2B5EF4-FFF2-40B4-BE49-F238E27FC236}">
                <a16:creationId xmlns:a16="http://schemas.microsoft.com/office/drawing/2014/main" id="{74865EC8-6477-4A1F-808E-D18F50C19840}"/>
              </a:ext>
            </a:extLst>
          </p:cNvPr>
          <p:cNvSpPr>
            <a:spLocks xmlns:a="http://schemas.openxmlformats.org/drawingml/2006/main" noGrp="1"/>
          </p:cNvSpPr>
          <p:nvPr/>
        </p:nvSpPr>
        <p:spPr>
          <a:xfrm xmlns:a="http://schemas.openxmlformats.org/drawingml/2006/main">
            <a:off x="609600" y="4010025"/>
            <a:ext cx="10972800" cy="1933575"/>
          </a:xfrm>
          <a:prstGeom xmlns:a="http://schemas.openxmlformats.org/drawingml/2006/main" prst="rect">
            <a:avLst/>
          </a:prstGeom>
          <a:solidFill xmlns:a="http://schemas.openxmlformats.org/drawingml/2006/main">
            <a:srgbClr val="FBF9F4"/>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0D16A517-B4F9-4D37-B38C-6BD96A4B1800}"/>
              </a:ext>
            </a:extLst>
          </p:cNvPr>
          <p:cNvSpPr>
            <a:spLocks xmlns:a="http://schemas.openxmlformats.org/drawingml/2006/main" noGrp="1"/>
          </p:cNvSpPr>
          <p:nvPr/>
        </p:nvSpPr>
        <p:spPr>
          <a:xfrm xmlns:a="http://schemas.openxmlformats.org/drawingml/2006/main">
            <a:off x="838200" y="422910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2D5C56"/>
                </a:solidFill>
                <a:latin typeface="Aptos"/>
                <a:ea typeface="Aptos"/>
                <a:cs typeface="Aptos"/>
              </a:defRPr>
            </a:pPr>
            <a:r>
              <a:rPr sz="750" b="1">
                <a:solidFill>
                  <a:srgbClr val="2D5C56"/>
                </a:solidFill>
                <a:latin typeface="Aptos"/>
                <a:ea typeface="Aptos"/>
                <a:cs typeface="Aptos"/>
              </a:rPr>
              <a:t>FIVE NON-NEGOTIABLES</a:t>
            </a:r>
          </a:p>
        </p:txBody>
      </p:sp>
      <p:sp>
        <p:nvSpPr>
          <p:cNvPr id="37" name="">
            <a:extLst xmlns:a="http://schemas.openxmlformats.org/drawingml/2006/main">
              <a:ext uri="{FF2B5EF4-FFF2-40B4-BE49-F238E27FC236}">
                <a16:creationId xmlns:a16="http://schemas.microsoft.com/office/drawing/2014/main" id="{93DC911C-EDA3-4271-B80C-EDFC080D2E2E}"/>
              </a:ext>
            </a:extLst>
          </p:cNvPr>
          <p:cNvSpPr>
            <a:spLocks xmlns:a="http://schemas.openxmlformats.org/drawingml/2006/main" noGrp="1"/>
          </p:cNvSpPr>
          <p:nvPr/>
        </p:nvSpPr>
        <p:spPr>
          <a:xfrm xmlns:a="http://schemas.openxmlformats.org/drawingml/2006/main">
            <a:off x="838200"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01</a:t>
            </a:r>
          </a:p>
        </p:txBody>
      </p:sp>
      <p:sp>
        <p:nvSpPr>
          <p:cNvPr id="38" name="">
            <a:extLst xmlns:a="http://schemas.openxmlformats.org/drawingml/2006/main">
              <a:ext uri="{FF2B5EF4-FFF2-40B4-BE49-F238E27FC236}">
                <a16:creationId xmlns:a16="http://schemas.microsoft.com/office/drawing/2014/main" id="{672FA831-E198-4CA7-BFB0-D721449E2D54}"/>
              </a:ext>
            </a:extLst>
          </p:cNvPr>
          <p:cNvSpPr>
            <a:spLocks xmlns:a="http://schemas.openxmlformats.org/drawingml/2006/main" noGrp="1"/>
          </p:cNvSpPr>
          <p:nvPr/>
        </p:nvSpPr>
        <p:spPr>
          <a:xfrm xmlns:a="http://schemas.openxmlformats.org/drawingml/2006/main">
            <a:off x="838200"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Authoritative events</a:t>
            </a:r>
          </a:p>
        </p:txBody>
      </p:sp>
      <p:sp>
        <p:nvSpPr>
          <p:cNvPr id="39" name="">
            <a:extLst xmlns:a="http://schemas.openxmlformats.org/drawingml/2006/main">
              <a:ext uri="{FF2B5EF4-FFF2-40B4-BE49-F238E27FC236}">
                <a16:creationId xmlns:a16="http://schemas.microsoft.com/office/drawing/2014/main" id="{79A2C245-B290-4F26-AB72-571DB530B294}"/>
              </a:ext>
            </a:extLst>
          </p:cNvPr>
          <p:cNvSpPr>
            <a:spLocks xmlns:a="http://schemas.openxmlformats.org/drawingml/2006/main" noGrp="1"/>
          </p:cNvSpPr>
          <p:nvPr/>
        </p:nvSpPr>
        <p:spPr>
          <a:xfrm xmlns:a="http://schemas.openxmlformats.org/drawingml/2006/main">
            <a:off x="838200"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2026 market claims only from event_log.csv</a:t>
            </a:r>
          </a:p>
        </p:txBody>
      </p:sp>
      <p:sp>
        <p:nvSpPr>
          <p:cNvPr id="40" name="control-separator-1">
            <a:extLst xmlns:a="http://schemas.openxmlformats.org/drawingml/2006/main">
              <a:ext uri="{FF2B5EF4-FFF2-40B4-BE49-F238E27FC236}">
                <a16:creationId xmlns:a16="http://schemas.microsoft.com/office/drawing/2014/main" id="{1C4CA4EA-D6E0-4341-BA10-6CA2FC0AA1A9}"/>
              </a:ext>
            </a:extLst>
          </p:cNvPr>
          <p:cNvSpPr>
            <a:spLocks xmlns:a="http://schemas.openxmlformats.org/drawingml/2006/main" noGrp="1"/>
          </p:cNvSpPr>
          <p:nvPr/>
        </p:nvSpPr>
        <p:spPr>
          <a:xfrm xmlns:a="http://schemas.openxmlformats.org/drawingml/2006/main">
            <a:off x="2771775"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86FBD00-7C47-456A-A0DE-3C0194C9F788}"/>
              </a:ext>
            </a:extLst>
          </p:cNvPr>
          <p:cNvSpPr>
            <a:spLocks xmlns:a="http://schemas.openxmlformats.org/drawingml/2006/main" noGrp="1"/>
          </p:cNvSpPr>
          <p:nvPr/>
        </p:nvSpPr>
        <p:spPr>
          <a:xfrm xmlns:a="http://schemas.openxmlformats.org/drawingml/2006/main">
            <a:off x="2943225"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02</a:t>
            </a:r>
          </a:p>
        </p:txBody>
      </p:sp>
      <p:sp>
        <p:nvSpPr>
          <p:cNvPr id="42" name="">
            <a:extLst xmlns:a="http://schemas.openxmlformats.org/drawingml/2006/main">
              <a:ext uri="{FF2B5EF4-FFF2-40B4-BE49-F238E27FC236}">
                <a16:creationId xmlns:a16="http://schemas.microsoft.com/office/drawing/2014/main" id="{489C7F97-4200-43E7-9AAD-C1997492FF29}"/>
              </a:ext>
            </a:extLst>
          </p:cNvPr>
          <p:cNvSpPr>
            <a:spLocks xmlns:a="http://schemas.openxmlformats.org/drawingml/2006/main" noGrp="1"/>
          </p:cNvSpPr>
          <p:nvPr/>
        </p:nvSpPr>
        <p:spPr>
          <a:xfrm xmlns:a="http://schemas.openxmlformats.org/drawingml/2006/main">
            <a:off x="2943225"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Suitability first</a:t>
            </a:r>
          </a:p>
        </p:txBody>
      </p:sp>
      <p:sp>
        <p:nvSpPr>
          <p:cNvPr id="43" name="">
            <a:extLst xmlns:a="http://schemas.openxmlformats.org/drawingml/2006/main">
              <a:ext uri="{FF2B5EF4-FFF2-40B4-BE49-F238E27FC236}">
                <a16:creationId xmlns:a16="http://schemas.microsoft.com/office/drawing/2014/main" id="{CDFF3315-0115-43AF-BFFD-E472DFD0441F}"/>
              </a:ext>
            </a:extLst>
          </p:cNvPr>
          <p:cNvSpPr>
            <a:spLocks xmlns:a="http://schemas.openxmlformats.org/drawingml/2006/main" noGrp="1"/>
          </p:cNvSpPr>
          <p:nvPr/>
        </p:nvSpPr>
        <p:spPr>
          <a:xfrm xmlns:a="http://schemas.openxmlformats.org/drawingml/2006/main">
            <a:off x="2943225"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mandate, exclusions, credit and liquidity before prose</a:t>
            </a:r>
          </a:p>
        </p:txBody>
      </p:sp>
      <p:sp>
        <p:nvSpPr>
          <p:cNvPr id="44" name="control-separator-2">
            <a:extLst xmlns:a="http://schemas.openxmlformats.org/drawingml/2006/main">
              <a:ext uri="{FF2B5EF4-FFF2-40B4-BE49-F238E27FC236}">
                <a16:creationId xmlns:a16="http://schemas.microsoft.com/office/drawing/2014/main" id="{7566DFE9-ED3A-4097-9BE6-11377C00157D}"/>
              </a:ext>
            </a:extLst>
          </p:cNvPr>
          <p:cNvSpPr>
            <a:spLocks xmlns:a="http://schemas.openxmlformats.org/drawingml/2006/main" noGrp="1"/>
          </p:cNvSpPr>
          <p:nvPr/>
        </p:nvSpPr>
        <p:spPr>
          <a:xfrm xmlns:a="http://schemas.openxmlformats.org/drawingml/2006/main">
            <a:off x="4876800"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955C77CF-74F9-4D84-BBB7-1B6FBE4169A4}"/>
              </a:ext>
            </a:extLst>
          </p:cNvPr>
          <p:cNvSpPr>
            <a:spLocks xmlns:a="http://schemas.openxmlformats.org/drawingml/2006/main" noGrp="1"/>
          </p:cNvSpPr>
          <p:nvPr/>
        </p:nvSpPr>
        <p:spPr>
          <a:xfrm xmlns:a="http://schemas.openxmlformats.org/drawingml/2006/main">
            <a:off x="5048250"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03</a:t>
            </a:r>
          </a:p>
        </p:txBody>
      </p:sp>
      <p:sp>
        <p:nvSpPr>
          <p:cNvPr id="46" name="">
            <a:extLst xmlns:a="http://schemas.openxmlformats.org/drawingml/2006/main">
              <a:ext uri="{FF2B5EF4-FFF2-40B4-BE49-F238E27FC236}">
                <a16:creationId xmlns:a16="http://schemas.microsoft.com/office/drawing/2014/main" id="{B98AF38C-AFC6-48F9-8F4D-1C752BCD62A5}"/>
              </a:ext>
            </a:extLst>
          </p:cNvPr>
          <p:cNvSpPr>
            <a:spLocks xmlns:a="http://schemas.openxmlformats.org/drawingml/2006/main" noGrp="1"/>
          </p:cNvSpPr>
          <p:nvPr/>
        </p:nvSpPr>
        <p:spPr>
          <a:xfrm xmlns:a="http://schemas.openxmlformats.org/drawingml/2006/main">
            <a:off x="5048250"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Conflicts stay visible</a:t>
            </a:r>
          </a:p>
        </p:txBody>
      </p:sp>
      <p:sp>
        <p:nvSpPr>
          <p:cNvPr id="47" name="">
            <a:extLst xmlns:a="http://schemas.openxmlformats.org/drawingml/2006/main">
              <a:ext uri="{FF2B5EF4-FFF2-40B4-BE49-F238E27FC236}">
                <a16:creationId xmlns:a16="http://schemas.microsoft.com/office/drawing/2014/main" id="{E79954ED-5FAD-4425-813F-FECA44D05D26}"/>
              </a:ext>
            </a:extLst>
          </p:cNvPr>
          <p:cNvSpPr>
            <a:spLocks xmlns:a="http://schemas.openxmlformats.org/drawingml/2006/main" noGrp="1"/>
          </p:cNvSpPr>
          <p:nvPr/>
        </p:nvSpPr>
        <p:spPr>
          <a:xfrm xmlns:a="http://schemas.openxmlformats.org/drawingml/2006/main">
            <a:off x="5048250"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uncertainty becomes a question, never an average</a:t>
            </a:r>
          </a:p>
        </p:txBody>
      </p:sp>
      <p:sp>
        <p:nvSpPr>
          <p:cNvPr id="48" name="control-separator-3">
            <a:extLst xmlns:a="http://schemas.openxmlformats.org/drawingml/2006/main">
              <a:ext uri="{FF2B5EF4-FFF2-40B4-BE49-F238E27FC236}">
                <a16:creationId xmlns:a16="http://schemas.microsoft.com/office/drawing/2014/main" id="{359C55C5-5F47-483F-91DD-DE38E9C612A2}"/>
              </a:ext>
            </a:extLst>
          </p:cNvPr>
          <p:cNvSpPr>
            <a:spLocks xmlns:a="http://schemas.openxmlformats.org/drawingml/2006/main" noGrp="1"/>
          </p:cNvSpPr>
          <p:nvPr/>
        </p:nvSpPr>
        <p:spPr>
          <a:xfrm xmlns:a="http://schemas.openxmlformats.org/drawingml/2006/main">
            <a:off x="6981825"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9171CE5A-4BC7-4CBB-BBA8-01541A4FA71E}"/>
              </a:ext>
            </a:extLst>
          </p:cNvPr>
          <p:cNvSpPr>
            <a:spLocks xmlns:a="http://schemas.openxmlformats.org/drawingml/2006/main" noGrp="1"/>
          </p:cNvSpPr>
          <p:nvPr/>
        </p:nvSpPr>
        <p:spPr>
          <a:xfrm xmlns:a="http://schemas.openxmlformats.org/drawingml/2006/main">
            <a:off x="7153275"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04</a:t>
            </a:r>
          </a:p>
        </p:txBody>
      </p:sp>
      <p:sp>
        <p:nvSpPr>
          <p:cNvPr id="50" name="">
            <a:extLst xmlns:a="http://schemas.openxmlformats.org/drawingml/2006/main">
              <a:ext uri="{FF2B5EF4-FFF2-40B4-BE49-F238E27FC236}">
                <a16:creationId xmlns:a16="http://schemas.microsoft.com/office/drawing/2014/main" id="{45CE3527-B5CA-43EB-AFC9-54F9ED8699B8}"/>
              </a:ext>
            </a:extLst>
          </p:cNvPr>
          <p:cNvSpPr>
            <a:spLocks xmlns:a="http://schemas.openxmlformats.org/drawingml/2006/main" noGrp="1"/>
          </p:cNvSpPr>
          <p:nvPr/>
        </p:nvSpPr>
        <p:spPr>
          <a:xfrm xmlns:a="http://schemas.openxmlformats.org/drawingml/2006/main">
            <a:off x="7153275"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Least-privilege context</a:t>
            </a:r>
          </a:p>
        </p:txBody>
      </p:sp>
      <p:sp>
        <p:nvSpPr>
          <p:cNvPr id="51" name="">
            <a:extLst xmlns:a="http://schemas.openxmlformats.org/drawingml/2006/main">
              <a:ext uri="{FF2B5EF4-FFF2-40B4-BE49-F238E27FC236}">
                <a16:creationId xmlns:a16="http://schemas.microsoft.com/office/drawing/2014/main" id="{C210D90C-F4E5-42C1-9AAE-21AFD6041C46}"/>
              </a:ext>
            </a:extLst>
          </p:cNvPr>
          <p:cNvSpPr>
            <a:spLocks xmlns:a="http://schemas.openxmlformats.org/drawingml/2006/main" noGrp="1"/>
          </p:cNvSpPr>
          <p:nvPr/>
        </p:nvSpPr>
        <p:spPr>
          <a:xfrm xmlns:a="http://schemas.openxmlformats.org/drawingml/2006/main">
            <a:off x="7153275"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client scope + date guard + purpose-limited packet</a:t>
            </a:r>
          </a:p>
        </p:txBody>
      </p:sp>
      <p:sp>
        <p:nvSpPr>
          <p:cNvPr id="52" name="control-separator-4">
            <a:extLst xmlns:a="http://schemas.openxmlformats.org/drawingml/2006/main">
              <a:ext uri="{FF2B5EF4-FFF2-40B4-BE49-F238E27FC236}">
                <a16:creationId xmlns:a16="http://schemas.microsoft.com/office/drawing/2014/main" id="{9D7624B7-E835-4726-9CEE-436344E29D36}"/>
              </a:ext>
            </a:extLst>
          </p:cNvPr>
          <p:cNvSpPr>
            <a:spLocks xmlns:a="http://schemas.openxmlformats.org/drawingml/2006/main" noGrp="1"/>
          </p:cNvSpPr>
          <p:nvPr/>
        </p:nvSpPr>
        <p:spPr>
          <a:xfrm xmlns:a="http://schemas.openxmlformats.org/drawingml/2006/main">
            <a:off x="9086850" y="4600575"/>
            <a:ext cx="9525" cy="1085850"/>
          </a:xfrm>
          <a:prstGeom xmlns:a="http://schemas.openxmlformats.org/drawingml/2006/main" prst="rect">
            <a:avLst/>
          </a:prstGeom>
          <a:solidFill xmlns:a="http://schemas.openxmlformats.org/drawingml/2006/main">
            <a:srgbClr val="D9D2C5"/>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A0F42730-86C9-4E99-8DA0-28A34E11C110}"/>
              </a:ext>
            </a:extLst>
          </p:cNvPr>
          <p:cNvSpPr>
            <a:spLocks xmlns:a="http://schemas.openxmlformats.org/drawingml/2006/main" noGrp="1"/>
          </p:cNvSpPr>
          <p:nvPr/>
        </p:nvSpPr>
        <p:spPr>
          <a:xfrm xmlns:a="http://schemas.openxmlformats.org/drawingml/2006/main">
            <a:off x="9258300" y="46291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1">
                <a:solidFill>
                  <a:srgbClr val="B78F50"/>
                </a:solidFill>
                <a:latin typeface="Aptos Mono"/>
                <a:ea typeface="Aptos Mono"/>
                <a:cs typeface="Aptos Mono"/>
              </a:defRPr>
            </a:pPr>
            <a:r>
              <a:rPr sz="750" b="1">
                <a:solidFill>
                  <a:srgbClr val="B78F50"/>
                </a:solidFill>
                <a:latin typeface="Aptos Mono"/>
                <a:ea typeface="Aptos Mono"/>
                <a:cs typeface="Aptos Mono"/>
              </a:rPr>
              <a:t>05</a:t>
            </a:r>
          </a:p>
        </p:txBody>
      </p:sp>
      <p:sp>
        <p:nvSpPr>
          <p:cNvPr id="54" name="">
            <a:extLst xmlns:a="http://schemas.openxmlformats.org/drawingml/2006/main">
              <a:ext uri="{FF2B5EF4-FFF2-40B4-BE49-F238E27FC236}">
                <a16:creationId xmlns:a16="http://schemas.microsoft.com/office/drawing/2014/main" id="{8C4C3989-FF1C-40B8-AAE2-2ED7C717876D}"/>
              </a:ext>
            </a:extLst>
          </p:cNvPr>
          <p:cNvSpPr>
            <a:spLocks xmlns:a="http://schemas.openxmlformats.org/drawingml/2006/main" noGrp="1"/>
          </p:cNvSpPr>
          <p:nvPr/>
        </p:nvSpPr>
        <p:spPr>
          <a:xfrm xmlns:a="http://schemas.openxmlformats.org/drawingml/2006/main">
            <a:off x="9258300" y="4905375"/>
            <a:ext cx="17907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01E"/>
                </a:solidFill>
                <a:latin typeface="Georgia"/>
                <a:ea typeface="Georgia"/>
                <a:cs typeface="Georgia"/>
              </a:defRPr>
            </a:pPr>
            <a:r>
              <a:rPr sz="1125" b="0">
                <a:solidFill>
                  <a:srgbClr val="17201E"/>
                </a:solidFill>
                <a:latin typeface="Georgia"/>
                <a:ea typeface="Georgia"/>
                <a:cs typeface="Georgia"/>
              </a:rPr>
              <a:t>Human accountability</a:t>
            </a:r>
          </a:p>
        </p:txBody>
      </p:sp>
      <p:sp>
        <p:nvSpPr>
          <p:cNvPr id="55" name="">
            <a:extLst xmlns:a="http://schemas.openxmlformats.org/drawingml/2006/main">
              <a:ext uri="{FF2B5EF4-FFF2-40B4-BE49-F238E27FC236}">
                <a16:creationId xmlns:a16="http://schemas.microsoft.com/office/drawing/2014/main" id="{E708CCF7-8F03-49E6-9E41-D1D99C3207DA}"/>
              </a:ext>
            </a:extLst>
          </p:cNvPr>
          <p:cNvSpPr>
            <a:spLocks xmlns:a="http://schemas.openxmlformats.org/drawingml/2006/main" noGrp="1"/>
          </p:cNvSpPr>
          <p:nvPr/>
        </p:nvSpPr>
        <p:spPr>
          <a:xfrm xmlns:a="http://schemas.openxmlformats.org/drawingml/2006/main">
            <a:off x="9258300" y="5238750"/>
            <a:ext cx="1809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50" b="0">
                <a:solidFill>
                  <a:srgbClr val="6F766F"/>
                </a:solidFill>
                <a:latin typeface="Aptos"/>
                <a:ea typeface="Aptos"/>
                <a:cs typeface="Aptos"/>
              </a:defRPr>
            </a:pPr>
            <a:r>
              <a:rPr sz="750" b="0">
                <a:solidFill>
                  <a:srgbClr val="6F766F"/>
                </a:solidFill>
                <a:latin typeface="Aptos"/>
                <a:ea typeface="Aptos"/>
                <a:cs typeface="Aptos"/>
              </a:rPr>
              <a:t>decision, edit and rationale remain attached</a:t>
            </a:r>
          </a:p>
        </p:txBody>
      </p:sp>
      <p:sp>
        <p:nvSpPr>
          <p:cNvPr id="56" name="footer-rule-9">
            <a:extLst xmlns:a="http://schemas.openxmlformats.org/drawingml/2006/main">
              <a:ext uri="{FF2B5EF4-FFF2-40B4-BE49-F238E27FC236}">
                <a16:creationId xmlns:a16="http://schemas.microsoft.com/office/drawing/2014/main" id="{7706294E-9B1D-4957-86E2-18B2D8054D9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40514D"/>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98BA762D-AA2D-49FC-A753-79E13E683CB3}"/>
              </a:ext>
            </a:extLst>
          </p:cNvPr>
          <p:cNvSpPr>
            <a:spLocks xmlns:a="http://schemas.openxmlformats.org/drawingml/2006/main" noGrp="1"/>
          </p:cNvSpPr>
          <p:nvPr/>
        </p:nvSpPr>
        <p:spPr>
          <a:xfrm xmlns:a="http://schemas.openxmlformats.org/drawingml/2006/main">
            <a:off x="609600" y="6543675"/>
            <a:ext cx="942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75" b="0">
                <a:solidFill>
                  <a:srgbClr val="9EAAA6"/>
                </a:solidFill>
                <a:latin typeface="Aptos"/>
                <a:ea typeface="Aptos"/>
                <a:cs typeface="Aptos"/>
              </a:defRPr>
            </a:pPr>
            <a:r>
              <a:rPr sz="675" b="0">
                <a:solidFill>
                  <a:srgbClr val="9EAAA6"/>
                </a:solidFill>
                <a:latin typeface="Aptos"/>
                <a:ea typeface="Aptos"/>
                <a:cs typeface="Aptos"/>
              </a:rPr>
              <a:t>Prototype governance: 0 duplicate-grain rows · 0 orphan references · 1 lagged mark · 1 surfaced conflict · retrieval feature-gated</a:t>
            </a:r>
          </a:p>
        </p:txBody>
      </p:sp>
      <p:sp>
        <p:nvSpPr>
          <p:cNvPr id="58" name="">
            <a:extLst xmlns:a="http://schemas.openxmlformats.org/drawingml/2006/main">
              <a:ext uri="{FF2B5EF4-FFF2-40B4-BE49-F238E27FC236}">
                <a16:creationId xmlns:a16="http://schemas.microsoft.com/office/drawing/2014/main" id="{987CB454-9C7B-484B-8705-819AE0F17E8C}"/>
              </a:ext>
            </a:extLst>
          </p:cNvPr>
          <p:cNvSpPr>
            <a:spLocks xmlns:a="http://schemas.openxmlformats.org/drawingml/2006/main" noGrp="1"/>
          </p:cNvSpPr>
          <p:nvPr/>
        </p:nvSpPr>
        <p:spPr>
          <a:xfrm xmlns:a="http://schemas.openxmlformats.org/drawingml/2006/main">
            <a:off x="10991850" y="65341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50" b="1">
                <a:solidFill>
                  <a:srgbClr val="E7D6B5"/>
                </a:solidFill>
                <a:latin typeface="Aptos Mono"/>
                <a:ea typeface="Aptos Mono"/>
                <a:cs typeface="Aptos Mono"/>
              </a:defRPr>
            </a:pPr>
            <a:r>
              <a:rPr sz="750" b="1">
                <a:solidFill>
                  <a:srgbClr val="E7D6B5"/>
                </a:solidFill>
                <a:latin typeface="Aptos Mono"/>
                <a:ea typeface="Aptos Mono"/>
                <a:cs typeface="Aptos Mono"/>
              </a:rPr>
              <a:t>A3</a:t>
            </a:r>
          </a:p>
        </p:txBody>
      </p:sp>
    </p:spTree>
    <p:extLst>
      <p:ext uri="{BB962C8B-B14F-4D97-AF65-F5344CB8AC3E}">
        <p14:creationId xmlns:p14="http://schemas.microsoft.com/office/powerpoint/2010/main" val="416577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2026-09-05T08:32:11.3340000Z</dcterms:created>
  <dcterms:modified xsi:type="dcterms:W3CDTF">2026-09-05T08:32:11.3340000Z</dcterms:modified>
</coreProperties>
</file>