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76ce5d7fe444ce" /><Relationship Type="http://schemas.openxmlformats.org/officeDocument/2006/relationships/extended-properties" Target="/docProps/app.xml" Id="R92a34f25213544b5" /><Relationship Type="http://schemas.openxmlformats.org/officeDocument/2006/relationships/officeDocument" Target="/ppt/presentation.xml" Id="Rdabdb180768644d8" /></Relationships>
</file>

<file path=ppt/presentation.xml><?xml version="1.0" encoding="utf-8"?>
<p:presentation xmlns:p="http://schemas.openxmlformats.org/presentationml/2006/main">
  <p:sldMasterIdLst>
    <p:sldMasterId xmlns:r="http://schemas.openxmlformats.org/officeDocument/2006/relationships" id="2147483648" r:id="R3c92973e57b14b22"/>
  </p:sldMasterIdLst>
  <p:notesMasterIdLst>
    <p:notesMasterId xmlns:r="http://schemas.openxmlformats.org/officeDocument/2006/relationships" r:id="R0d1a7eabe95247bf"/>
  </p:notesMasterIdLst>
  <p:sldIdLst>
    <p:sldId xmlns:r="http://schemas.openxmlformats.org/officeDocument/2006/relationships" id="256" r:id="Rbd374532a37248ba"/>
    <p:sldId xmlns:r="http://schemas.openxmlformats.org/officeDocument/2006/relationships" id="257" r:id="R35bc1ff1a7494e3f"/>
    <p:sldId xmlns:r="http://schemas.openxmlformats.org/officeDocument/2006/relationships" id="258" r:id="R754ec3dad27e452d"/>
    <p:sldId xmlns:r="http://schemas.openxmlformats.org/officeDocument/2006/relationships" id="259" r:id="R2192c67a5f7540a8"/>
    <p:sldId xmlns:r="http://schemas.openxmlformats.org/officeDocument/2006/relationships" id="260" r:id="R67c504c349894e55"/>
    <p:sldId xmlns:r="http://schemas.openxmlformats.org/officeDocument/2006/relationships" id="261" r:id="R199e88c451094430"/>
    <p:sldId xmlns:r="http://schemas.openxmlformats.org/officeDocument/2006/relationships" id="262" r:id="Rc97e59100fe24bc1"/>
    <p:sldId xmlns:r="http://schemas.openxmlformats.org/officeDocument/2006/relationships" id="263" r:id="R00c7f70384c34a0f"/>
    <p:sldId xmlns:r="http://schemas.openxmlformats.org/officeDocument/2006/relationships" id="264" r:id="R6bbc890b38c14b7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b11c6d3bfd9416c" /><Relationship Type="http://schemas.openxmlformats.org/officeDocument/2006/relationships/slideMaster" Target="/ppt/slideMasters/slideMaster1.xml" Id="R3c92973e57b14b22" /><Relationship Type="http://schemas.openxmlformats.org/officeDocument/2006/relationships/notesMaster" Target="/ppt/notesMasters/notesMaster1.xml" Id="R0d1a7eabe95247bf" /><Relationship Type="http://schemas.openxmlformats.org/officeDocument/2006/relationships/presProps" Target="/ppt/presProps.xml" Id="R8714fa2d133c4426" /><Relationship Type="http://schemas.openxmlformats.org/officeDocument/2006/relationships/viewProps" Target="/ppt/viewProps.xml" Id="R7e0850e9671d486f" /><Relationship Type="http://schemas.openxmlformats.org/officeDocument/2006/relationships/tableStyles" Target="/ppt/tableStyles.xml" Id="R10ae6347f4b94c9a" /><Relationship Type="http://schemas.openxmlformats.org/officeDocument/2006/relationships/slide" Target="/ppt/slides/slide1.xml" Id="Rbd374532a37248ba" /><Relationship Type="http://schemas.openxmlformats.org/officeDocument/2006/relationships/slide" Target="/ppt/slides/slide2.xml" Id="R35bc1ff1a7494e3f" /><Relationship Type="http://schemas.openxmlformats.org/officeDocument/2006/relationships/slide" Target="/ppt/slides/slide3.xml" Id="R754ec3dad27e452d" /><Relationship Type="http://schemas.openxmlformats.org/officeDocument/2006/relationships/slide" Target="/ppt/slides/slide4.xml" Id="R2192c67a5f7540a8" /><Relationship Type="http://schemas.openxmlformats.org/officeDocument/2006/relationships/slide" Target="/ppt/slides/slide5.xml" Id="R67c504c349894e55" /><Relationship Type="http://schemas.openxmlformats.org/officeDocument/2006/relationships/slide" Target="/ppt/slides/slide6.xml" Id="R199e88c451094430" /><Relationship Type="http://schemas.openxmlformats.org/officeDocument/2006/relationships/slide" Target="/ppt/slides/slide7.xml" Id="Rc97e59100fe24bc1" /><Relationship Type="http://schemas.openxmlformats.org/officeDocument/2006/relationships/slide" Target="/ppt/slides/slide8.xml" Id="R00c7f70384c34a0f" /><Relationship Type="http://schemas.openxmlformats.org/officeDocument/2006/relationships/slide" Target="/ppt/slides/slide9.xml" Id="R6bbc890b38c14b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14f25977c84a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6e644d85f54536" /><Relationship Type="http://schemas.openxmlformats.org/officeDocument/2006/relationships/notesMaster" Target="/ppt/notesMasters/notesMaster1.xml" Id="Re5eef2ae1e0142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872ae8928c4a29" /><Relationship Type="http://schemas.openxmlformats.org/officeDocument/2006/relationships/notesMaster" Target="/ppt/notesMasters/notesMaster1.xml" Id="R18302bf0f41a4a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eb784b731d48a7" /><Relationship Type="http://schemas.openxmlformats.org/officeDocument/2006/relationships/notesMaster" Target="/ppt/notesMasters/notesMaster1.xml" Id="R1388234918c241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9038785c1249a3" /><Relationship Type="http://schemas.openxmlformats.org/officeDocument/2006/relationships/notesMaster" Target="/ppt/notesMasters/notesMaster1.xml" Id="Re6a6045c84cf41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977d79095d4a7c" /><Relationship Type="http://schemas.openxmlformats.org/officeDocument/2006/relationships/notesMaster" Target="/ppt/notesMasters/notesMaster1.xml" Id="Rc32f12fbe8f744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cdbdaa81c64ba9" /><Relationship Type="http://schemas.openxmlformats.org/officeDocument/2006/relationships/notesMaster" Target="/ppt/notesMasters/notesMaster1.xml" Id="R9b787373aac94f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b6686fb46c4c6b" /><Relationship Type="http://schemas.openxmlformats.org/officeDocument/2006/relationships/notesMaster" Target="/ppt/notesMasters/notesMaster1.xml" Id="Raa12db8892a345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088c2175e8492c" /><Relationship Type="http://schemas.openxmlformats.org/officeDocument/2006/relationships/notesMaster" Target="/ppt/notesMasters/notesMaster1.xml" Id="Rca25c1f4621f4d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f03d509efe483e" /><Relationship Type="http://schemas.openxmlformats.org/officeDocument/2006/relationships/notesMaster" Target="/ppt/notesMasters/notesMaster1.xml" Id="R1702838d8f8e44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 Twenty clients, one RM, and far more data than one person can review before markets open. A portfolio report can be accurate and still miss the conversation that matters. TESSERA finds that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0:15–0:40 — Our USP is simple: we do not rank yesterday’s volatility; we rank contradictions between what the client wants and what the evidence says. These are three curated decision rooms, not the numerical top three: Lau proves concentration plus collateral risk, Abdullah proves look-through and outside-business correlation, and Cheung proves honest handling of conflicting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0:40–1:00 — TESSERA turns fragmented records into four RM questions: what happened, what could happen, what should we consider, and what will the RM say? Suitability and data controls run before wording, every answer carries its evidence passport, and Priscilla remains responsible for the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1:00–1:25 — Abdullah asked to diversify away from Gulf shipping. Yet 42.1% of his bank-held portfolio is linked to shipping and energy after looking through the FCN—and his operating business depends on the same conditions. He also needs USD 5m for a Singapore family office, versus USD 2.4m in cash. His recent gains make this contradiction harder to see. LIVE DEMO 1:25–2:30: open Abdullah’s decision room; show client says / portfolio does / future demands; toggle Strait reopens and blockade worsens; open the evidence passport; finish on ring-fencing the seed capital. Say explicitly that scenarios are sensitivities, not forecasts.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2:30–2:45 — This is not a slide mock-up. The prototype joins eleven datasets, ranks the full client book, opens a review room for every client, recalculates scenarios, and logs RM decisions. Eighteen tests pass. In production, the adapters change; the evidence, control, and decision workflow remains.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2:45–3:00 — TESSERA makes the portfolio defensible, the future discussable, and the RM indispensable. Our ask is a shadow-mode pilot with real RM decisions: prove decision quality first, then earn the right to generate. Stop here for Q&amp;A; slides A1–A3 are backups only. Before submission, replace the visible team-photo, team-name, and public-repository placeholders.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BACKUP — Why Lau? Four wrappers create a 49.0% property exposure, HKD 60m is due, and facility LTV sits 0.59 points below the trigger. The real cushion is HKD 0.71m, not the much larger reported headroom field.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BACKUP — Why Cheung? The planned need and latest RM note conflict. TESSERA does not invent a convenient answer; it lowers confidence and turns verification into the first client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BACKUP — How does this fit a bank? Read-only bank records feed temporal joins and a versioned policy compiler. Any language model is purpose-limited and privately hosted. The RM’s approve, edit, or reject decision remains attached to the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6f248882474b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cb7e9486ee478a" /><Relationship Type="http://schemas.openxmlformats.org/officeDocument/2006/relationships/slideLayout" Target="/ppt/slideLayouts/slideLayout1.xml" Id="R176c93c4089547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6c93c4089547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831c60dbc674c52" /><Relationship Type="http://schemas.openxmlformats.org/officeDocument/2006/relationships/image" Target="/ppt/media/image.png" Id="R003bfa8a022f4abf" /><Relationship Type="http://schemas.openxmlformats.org/officeDocument/2006/relationships/notesSlide" Target="/ppt/notesSlides/notesSlide1.xml" Id="Rdaf047c3bcd04c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9b1c0322b340d7" /><Relationship Type="http://schemas.openxmlformats.org/officeDocument/2006/relationships/notesSlide" Target="/ppt/notesSlides/notesSlide2.xml" Id="Rd812b1d47ab64d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d758a0321e41f7" /><Relationship Type="http://schemas.openxmlformats.org/officeDocument/2006/relationships/notesSlide" Target="/ppt/notesSlides/notesSlide3.xml" Id="R2a08a5fcfc5148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e89df84a94e467c" /><Relationship Type="http://schemas.openxmlformats.org/officeDocument/2006/relationships/notesSlide" Target="/ppt/notesSlides/notesSlide4.xml" Id="R0796b0849aa141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6ea5f03fc94ae6" /><Relationship Type="http://schemas.openxmlformats.org/officeDocument/2006/relationships/notesSlide" Target="/ppt/notesSlides/notesSlide5.xml" Id="R5d5a9fae67cd4e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23346a3e4c54cbc" /><Relationship Type="http://schemas.openxmlformats.org/officeDocument/2006/relationships/notesSlide" Target="/ppt/notesSlides/notesSlide6.xml" Id="Rcb856bac2d4d4e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7bdd9449d664c6f" /><Relationship Type="http://schemas.openxmlformats.org/officeDocument/2006/relationships/notesSlide" Target="/ppt/notesSlides/notesSlide7.xml" Id="Rfcc698adcb2f43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e7a632816b04c0f" /><Relationship Type="http://schemas.openxmlformats.org/officeDocument/2006/relationships/notesSlide" Target="/ppt/notesSlides/notesSlide8.xml" Id="Rc2d4347938ca4b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a1b5e8ad3d04e97" /><Relationship Type="http://schemas.openxmlformats.org/officeDocument/2006/relationships/notesSlide" Target="/ppt/notesSlides/notesSlide9.xml" Id="R154dc7afff3647a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2AFDDECE-560E-4E7A-A871-B49A537A0E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01E"/>
          </a:solidFill>
          <a:ln xmlns:a="http://schemas.openxmlformats.org/drawingml/2006/main" w="0">
            <a:solidFill>
              <a:srgbClr val="000000">
                <a:alpha val="0"/>
              </a:srgbClr>
            </a:solidFill>
            <a:prstDash val="solid"/>
          </a:ln>
        </p:spPr>
      </p:sp>
      <p:sp>
        <p:nvSpPr>
          <p:cNvPr id="2" name="tessera-tile-1">
            <a:extLst xmlns:a="http://schemas.openxmlformats.org/drawingml/2006/main">
              <a:ext uri="{FF2B5EF4-FFF2-40B4-BE49-F238E27FC236}">
                <a16:creationId xmlns:a16="http://schemas.microsoft.com/office/drawing/2014/main" id="{EE7EB912-E81A-40DD-9FD3-66E1E27EAA7F}"/>
              </a:ext>
            </a:extLst>
          </p:cNvPr>
          <p:cNvSpPr>
            <a:spLocks xmlns:a="http://schemas.openxmlformats.org/drawingml/2006/main" noGrp="1"/>
          </p:cNvSpPr>
          <p:nvPr/>
        </p:nvSpPr>
        <p:spPr>
          <a:xfrm xmlns:a="http://schemas.openxmlformats.org/drawingml/2006/main" rot="2700000">
            <a:off x="704850" y="457200"/>
            <a:ext cx="142875" cy="142875"/>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tessera-tile-2">
            <a:extLst xmlns:a="http://schemas.openxmlformats.org/drawingml/2006/main">
              <a:ext uri="{FF2B5EF4-FFF2-40B4-BE49-F238E27FC236}">
                <a16:creationId xmlns:a16="http://schemas.microsoft.com/office/drawing/2014/main" id="{671B330C-F572-462E-BC61-0B688150063D}"/>
              </a:ext>
            </a:extLst>
          </p:cNvPr>
          <p:cNvSpPr>
            <a:spLocks xmlns:a="http://schemas.openxmlformats.org/drawingml/2006/main" noGrp="1"/>
          </p:cNvSpPr>
          <p:nvPr/>
        </p:nvSpPr>
        <p:spPr>
          <a:xfrm xmlns:a="http://schemas.openxmlformats.org/drawingml/2006/main" rot="2700000">
            <a:off x="885825" y="457200"/>
            <a:ext cx="142875" cy="142875"/>
          </a:xfrm>
          <a:prstGeom xmlns:a="http://schemas.openxmlformats.org/drawingml/2006/main" prst="rect">
            <a:avLst/>
          </a:prstGeom>
          <a:solidFill xmlns:a="http://schemas.openxmlformats.org/drawingml/2006/main">
            <a:srgbClr val="E7D6B5"/>
          </a:solidFill>
          <a:ln xmlns:a="http://schemas.openxmlformats.org/drawingml/2006/main" w="0">
            <a:solidFill>
              <a:srgbClr val="000000">
                <a:alpha val="0"/>
              </a:srgbClr>
            </a:solidFill>
            <a:prstDash val="solid"/>
          </a:ln>
        </p:spPr>
      </p:sp>
      <p:sp>
        <p:nvSpPr>
          <p:cNvPr id="4" name="tessera-tile-3">
            <a:extLst xmlns:a="http://schemas.openxmlformats.org/drawingml/2006/main">
              <a:ext uri="{FF2B5EF4-FFF2-40B4-BE49-F238E27FC236}">
                <a16:creationId xmlns:a16="http://schemas.microsoft.com/office/drawing/2014/main" id="{6897AF41-15B1-40B6-896B-86AE739A0AB2}"/>
              </a:ext>
            </a:extLst>
          </p:cNvPr>
          <p:cNvSpPr>
            <a:spLocks xmlns:a="http://schemas.openxmlformats.org/drawingml/2006/main" noGrp="1"/>
          </p:cNvSpPr>
          <p:nvPr/>
        </p:nvSpPr>
        <p:spPr>
          <a:xfrm xmlns:a="http://schemas.openxmlformats.org/drawingml/2006/main" rot="2700000">
            <a:off x="704850" y="638175"/>
            <a:ext cx="142875" cy="142875"/>
          </a:xfrm>
          <a:prstGeom xmlns:a="http://schemas.openxmlformats.org/drawingml/2006/main" prst="rect">
            <a:avLst/>
          </a:prstGeom>
          <a:solidFill xmlns:a="http://schemas.openxmlformats.org/drawingml/2006/main">
            <a:srgbClr val="E7D6B5"/>
          </a:solidFill>
          <a:ln xmlns:a="http://schemas.openxmlformats.org/drawingml/2006/main" w="0">
            <a:solidFill>
              <a:srgbClr val="000000">
                <a:alpha val="0"/>
              </a:srgbClr>
            </a:solidFill>
            <a:prstDash val="solid"/>
          </a:ln>
        </p:spPr>
      </p:sp>
      <p:sp>
        <p:nvSpPr>
          <p:cNvPr id="5" name="tessera-tile-4">
            <a:extLst xmlns:a="http://schemas.openxmlformats.org/drawingml/2006/main">
              <a:ext uri="{FF2B5EF4-FFF2-40B4-BE49-F238E27FC236}">
                <a16:creationId xmlns:a16="http://schemas.microsoft.com/office/drawing/2014/main" id="{9C8A995B-0391-4215-86B7-704FBDB00687}"/>
              </a:ext>
            </a:extLst>
          </p:cNvPr>
          <p:cNvSpPr>
            <a:spLocks xmlns:a="http://schemas.openxmlformats.org/drawingml/2006/main" noGrp="1"/>
          </p:cNvSpPr>
          <p:nvPr/>
        </p:nvSpPr>
        <p:spPr>
          <a:xfrm xmlns:a="http://schemas.openxmlformats.org/drawingml/2006/main" rot="2700000">
            <a:off x="885825" y="638175"/>
            <a:ext cx="142875" cy="142875"/>
          </a:xfrm>
          <a:prstGeom xmlns:a="http://schemas.openxmlformats.org/drawingml/2006/main" prst="rect">
            <a:avLst/>
          </a:prstGeom>
          <a:solidFill xmlns:a="http://schemas.openxmlformats.org/drawingml/2006/main">
            <a:srgbClr val="2D5C56"/>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C5A940C2-3265-4629-B571-306C3166158F}"/>
              </a:ext>
            </a:extLst>
          </p:cNvPr>
          <p:cNvSpPr>
            <a:spLocks xmlns:a="http://schemas.openxmlformats.org/drawingml/2006/main" noGrp="1"/>
          </p:cNvSpPr>
          <p:nvPr/>
        </p:nvSpPr>
        <p:spPr>
          <a:xfrm xmlns:a="http://schemas.openxmlformats.org/drawingml/2006/main">
            <a:off x="1257300" y="428625"/>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1">
                <a:solidFill>
                  <a:srgbClr val="FFFFFF"/>
                </a:solidFill>
                <a:latin typeface="Georgia"/>
                <a:ea typeface="Georgia"/>
                <a:cs typeface="Georgia"/>
              </a:defRPr>
            </a:pPr>
            <a:r>
              <a:rPr sz="1650" b="1">
                <a:solidFill>
                  <a:srgbClr val="FFFFFF"/>
                </a:solidFill>
                <a:latin typeface="Georgia"/>
                <a:ea typeface="Georgia"/>
                <a:cs typeface="Georgia"/>
              </a:rPr>
              <a:t>TESSERA</a:t>
            </a:r>
          </a:p>
        </p:txBody>
      </p:sp>
      <p:sp>
        <p:nvSpPr>
          <p:cNvPr id="7" name="">
            <a:extLst xmlns:a="http://schemas.openxmlformats.org/drawingml/2006/main">
              <a:ext uri="{FF2B5EF4-FFF2-40B4-BE49-F238E27FC236}">
                <a16:creationId xmlns:a16="http://schemas.microsoft.com/office/drawing/2014/main" id="{714C127C-5770-462F-9C87-5A41E3870010}"/>
              </a:ext>
            </a:extLst>
          </p:cNvPr>
          <p:cNvSpPr>
            <a:spLocks xmlns:a="http://schemas.openxmlformats.org/drawingml/2006/main" noGrp="1"/>
          </p:cNvSpPr>
          <p:nvPr/>
        </p:nvSpPr>
        <p:spPr>
          <a:xfrm xmlns:a="http://schemas.openxmlformats.org/drawingml/2006/main">
            <a:off x="1266825" y="7810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1">
                <a:solidFill>
                  <a:srgbClr val="E7D6B5"/>
                </a:solidFill>
                <a:latin typeface="Aptos"/>
                <a:ea typeface="Aptos"/>
                <a:cs typeface="Aptos"/>
              </a:defRPr>
            </a:pPr>
            <a:r>
              <a:rPr sz="675" b="1">
                <a:solidFill>
                  <a:srgbClr val="E7D6B5"/>
                </a:solidFill>
                <a:latin typeface="Aptos"/>
                <a:ea typeface="Aptos"/>
                <a:cs typeface="Aptos"/>
              </a:rPr>
              <a:t>WEALTH DECISION INTELLIGENCE</a:t>
            </a:r>
          </a:p>
        </p:txBody>
      </p:sp>
      <p:sp>
        <p:nvSpPr>
          <p:cNvPr id="8" name="kicker-01-marker">
            <a:extLst xmlns:a="http://schemas.openxmlformats.org/drawingml/2006/main">
              <a:ext uri="{FF2B5EF4-FFF2-40B4-BE49-F238E27FC236}">
                <a16:creationId xmlns:a16="http://schemas.microsoft.com/office/drawing/2014/main" id="{08418860-F83B-4553-8943-E83AB343CDC6}"/>
              </a:ext>
            </a:extLst>
          </p:cNvPr>
          <p:cNvSpPr>
            <a:spLocks xmlns:a="http://schemas.openxmlformats.org/drawingml/2006/main" noGrp="1"/>
          </p:cNvSpPr>
          <p:nvPr/>
        </p:nvSpPr>
        <p:spPr>
          <a:xfrm xmlns:a="http://schemas.openxmlformats.org/drawingml/2006/main">
            <a:off x="685800" y="1419225"/>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9" name="kicker-01-label">
            <a:extLst xmlns:a="http://schemas.openxmlformats.org/drawingml/2006/main">
              <a:ext uri="{FF2B5EF4-FFF2-40B4-BE49-F238E27FC236}">
                <a16:creationId xmlns:a16="http://schemas.microsoft.com/office/drawing/2014/main" id="{956F5024-8E08-4678-87C2-10CEE82DA397}"/>
              </a:ext>
            </a:extLst>
          </p:cNvPr>
          <p:cNvSpPr>
            <a:spLocks xmlns:a="http://schemas.openxmlformats.org/drawingml/2006/main" noGrp="1"/>
          </p:cNvSpPr>
          <p:nvPr/>
        </p:nvSpPr>
        <p:spPr>
          <a:xfrm xmlns:a="http://schemas.openxmlformats.org/drawingml/2006/main">
            <a:off x="857250" y="135255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E7D6B5"/>
                </a:solidFill>
                <a:latin typeface="Aptos"/>
                <a:ea typeface="Aptos"/>
                <a:cs typeface="Aptos"/>
              </a:defRPr>
            </a:pPr>
            <a:r>
              <a:rPr sz="825" b="1">
                <a:solidFill>
                  <a:srgbClr val="E7D6B5"/>
                </a:solidFill>
                <a:latin typeface="Aptos"/>
                <a:ea typeface="Aptos"/>
                <a:cs typeface="Aptos"/>
              </a:rPr>
              <a:t>SINGHACKS 2026 · UNOFFICIAL CONCEPT</a:t>
            </a:r>
          </a:p>
        </p:txBody>
      </p:sp>
      <p:sp>
        <p:nvSpPr>
          <p:cNvPr id="10" name="">
            <a:extLst xmlns:a="http://schemas.openxmlformats.org/drawingml/2006/main">
              <a:ext uri="{FF2B5EF4-FFF2-40B4-BE49-F238E27FC236}">
                <a16:creationId xmlns:a16="http://schemas.microsoft.com/office/drawing/2014/main" id="{0C51D272-6E98-4FA7-93F2-69390ADA7DB8}"/>
              </a:ext>
            </a:extLst>
          </p:cNvPr>
          <p:cNvSpPr>
            <a:spLocks xmlns:a="http://schemas.openxmlformats.org/drawingml/2006/main" noGrp="1"/>
          </p:cNvSpPr>
          <p:nvPr/>
        </p:nvSpPr>
        <p:spPr>
          <a:xfrm xmlns:a="http://schemas.openxmlformats.org/drawingml/2006/main">
            <a:off x="685800" y="1714500"/>
            <a:ext cx="609600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4500" b="0">
                <a:solidFill>
                  <a:srgbClr val="FFFFFF"/>
                </a:solidFill>
                <a:latin typeface="Georgia"/>
                <a:ea typeface="Georgia"/>
                <a:cs typeface="Georgia"/>
              </a:defRPr>
            </a:pPr>
            <a:r>
              <a:rPr sz="4500" b="0">
                <a:solidFill>
                  <a:srgbClr val="FFFFFF"/>
                </a:solidFill>
                <a:latin typeface="Georgia"/>
                <a:ea typeface="Georgia"/>
                <a:cs typeface="Georgia"/>
              </a:rPr>
              <a:t>The portfolio report</a:t>
            </a:r>
          </a:p>
          <a:p xmlns:a="http://schemas.openxmlformats.org/drawingml/2006/main">
            <a:pPr algn="l">
              <a:buNone/>
              <a:defRPr sz="4500" b="0">
                <a:solidFill>
                  <a:srgbClr val="FFFFFF"/>
                </a:solidFill>
                <a:latin typeface="Georgia"/>
                <a:ea typeface="Georgia"/>
                <a:cs typeface="Georgia"/>
              </a:defRPr>
            </a:pPr>
            <a:r>
              <a:rPr sz="4500" b="0">
                <a:solidFill>
                  <a:srgbClr val="FFFFFF"/>
                </a:solidFill>
                <a:latin typeface="Georgia"/>
                <a:ea typeface="Georgia"/>
                <a:cs typeface="Georgia"/>
              </a:rPr>
              <a:t>is not the story.</a:t>
            </a:r>
          </a:p>
        </p:txBody>
      </p:sp>
      <p:sp>
        <p:nvSpPr>
          <p:cNvPr id="11" name="">
            <a:extLst xmlns:a="http://schemas.openxmlformats.org/drawingml/2006/main">
              <a:ext uri="{FF2B5EF4-FFF2-40B4-BE49-F238E27FC236}">
                <a16:creationId xmlns:a16="http://schemas.microsoft.com/office/drawing/2014/main" id="{1F60562A-1DEB-4B9A-8490-D75BA0002D33}"/>
              </a:ext>
            </a:extLst>
          </p:cNvPr>
          <p:cNvSpPr>
            <a:spLocks xmlns:a="http://schemas.openxmlformats.org/drawingml/2006/main" noGrp="1"/>
          </p:cNvSpPr>
          <p:nvPr/>
        </p:nvSpPr>
        <p:spPr>
          <a:xfrm xmlns:a="http://schemas.openxmlformats.org/drawingml/2006/main">
            <a:off x="714375" y="3305175"/>
            <a:ext cx="5429250" cy="695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C5CFCB"/>
                </a:solidFill>
                <a:latin typeface="Aptos"/>
                <a:ea typeface="Aptos"/>
                <a:cs typeface="Aptos"/>
              </a:defRPr>
            </a:pPr>
            <a:r>
              <a:rPr sz="1425" b="0">
                <a:solidFill>
                  <a:srgbClr val="C5CFCB"/>
                </a:solidFill>
                <a:latin typeface="Aptos"/>
                <a:ea typeface="Aptos"/>
                <a:cs typeface="Aptos"/>
              </a:rPr>
              <a:t>TESSERA finds the contradiction that deserves a conversation—then makes the evidence, scenario and next move inspectable.</a:t>
            </a:r>
          </a:p>
        </p:txBody>
      </p:sp>
      <p:sp>
        <p:nvSpPr>
          <p:cNvPr id="12" name="cover-screenshot-frame">
            <a:extLst xmlns:a="http://schemas.openxmlformats.org/drawingml/2006/main">
              <a:ext uri="{FF2B5EF4-FFF2-40B4-BE49-F238E27FC236}">
                <a16:creationId xmlns:a16="http://schemas.microsoft.com/office/drawing/2014/main" id="{8C4200B0-8790-458F-8A9E-6500D579EB77}"/>
              </a:ext>
            </a:extLst>
          </p:cNvPr>
          <p:cNvSpPr>
            <a:spLocks xmlns:a="http://schemas.openxmlformats.org/drawingml/2006/main" noGrp="1"/>
          </p:cNvSpPr>
          <p:nvPr/>
        </p:nvSpPr>
        <p:spPr>
          <a:xfrm xmlns:a="http://schemas.openxmlformats.org/drawingml/2006/main">
            <a:off x="6724650" y="1381125"/>
            <a:ext cx="4857750" cy="2733675"/>
          </a:xfrm>
          <a:prstGeom xmlns:a="http://schemas.openxmlformats.org/drawingml/2006/main" prst="rect">
            <a:avLst/>
          </a:prstGeom>
          <a:solidFill xmlns:a="http://schemas.openxmlformats.org/drawingml/2006/main">
            <a:srgbClr val="FBF9F4"/>
          </a:solidFill>
          <a:ln xmlns:a="http://schemas.openxmlformats.org/drawingml/2006/main" w="19050">
            <a:solidFill>
              <a:srgbClr val="B78F50"/>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03bfa8a022f4abf"/>
          <a:srcRect xmlns:a="http://schemas.openxmlformats.org/drawingml/2006/main" l="22" t="0" r="22" b="0"/>
          <a:stretch xmlns:a="http://schemas.openxmlformats.org/drawingml/2006/main">
            <a:fillRect l="0" t="0" r="0" b="0"/>
          </a:stretch>
        </p:blipFill>
        <p:spPr>
          <a:xfrm xmlns:a="http://schemas.openxmlformats.org/drawingml/2006/main">
            <a:off x="6800850" y="1457325"/>
            <a:ext cx="4705350" cy="2647950"/>
          </a:xfrm>
          <a:prstGeom xmlns:a="http://schemas.openxmlformats.org/drawingml/2006/main" prst="rect">
            <a:avLst/>
          </a:prstGeom>
        </p:spPr>
      </p:pic>
      <p:sp>
        <p:nvSpPr>
          <p:cNvPr id="14" name="screenshot-caption">
            <a:extLst xmlns:a="http://schemas.openxmlformats.org/drawingml/2006/main">
              <a:ext uri="{FF2B5EF4-FFF2-40B4-BE49-F238E27FC236}">
                <a16:creationId xmlns:a16="http://schemas.microsoft.com/office/drawing/2014/main" id="{6AA42C32-1CEE-469B-8EF9-7C81B4CFFFDB}"/>
              </a:ext>
            </a:extLst>
          </p:cNvPr>
          <p:cNvSpPr>
            <a:spLocks xmlns:a="http://schemas.openxmlformats.org/drawingml/2006/main" noGrp="1"/>
          </p:cNvSpPr>
          <p:nvPr/>
        </p:nvSpPr>
        <p:spPr>
          <a:xfrm xmlns:a="http://schemas.openxmlformats.org/drawingml/2006/main">
            <a:off x="6724650" y="4114800"/>
            <a:ext cx="4857750" cy="4000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2FD2AA66-C8AF-4B01-AD23-F2D2E5F92ADE}"/>
              </a:ext>
            </a:extLst>
          </p:cNvPr>
          <p:cNvSpPr>
            <a:spLocks xmlns:a="http://schemas.openxmlformats.org/drawingml/2006/main" noGrp="1"/>
          </p:cNvSpPr>
          <p:nvPr/>
        </p:nvSpPr>
        <p:spPr>
          <a:xfrm xmlns:a="http://schemas.openxmlformats.org/drawingml/2006/main">
            <a:off x="6896100" y="4124325"/>
            <a:ext cx="4476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17201E"/>
                </a:solidFill>
                <a:latin typeface="Aptos"/>
                <a:ea typeface="Aptos"/>
                <a:cs typeface="Aptos"/>
              </a:defRPr>
            </a:pPr>
            <a:r>
              <a:rPr sz="825" b="1">
                <a:solidFill>
                  <a:srgbClr val="17201E"/>
                </a:solidFill>
                <a:latin typeface="Aptos"/>
                <a:ea typeface="Aptos"/>
                <a:cs typeface="Aptos"/>
              </a:rPr>
              <a:t>RUNNING PROTOTYPE · 26 AUG 2026</a:t>
            </a:r>
          </a:p>
        </p:txBody>
      </p:sp>
      <p:sp>
        <p:nvSpPr>
          <p:cNvPr id="16" name="cover-metric-rule">
            <a:extLst xmlns:a="http://schemas.openxmlformats.org/drawingml/2006/main">
              <a:ext uri="{FF2B5EF4-FFF2-40B4-BE49-F238E27FC236}">
                <a16:creationId xmlns:a16="http://schemas.microsoft.com/office/drawing/2014/main" id="{243A2DC0-2937-4A13-95C2-FE3E18D7C931}"/>
              </a:ext>
            </a:extLst>
          </p:cNvPr>
          <p:cNvSpPr>
            <a:spLocks xmlns:a="http://schemas.openxmlformats.org/drawingml/2006/main" noGrp="1"/>
          </p:cNvSpPr>
          <p:nvPr/>
        </p:nvSpPr>
        <p:spPr>
          <a:xfrm xmlns:a="http://schemas.openxmlformats.org/drawingml/2006/main">
            <a:off x="685800" y="4724400"/>
            <a:ext cx="5467350" cy="9525"/>
          </a:xfrm>
          <a:prstGeom xmlns:a="http://schemas.openxmlformats.org/drawingml/2006/main" prst="rect">
            <a:avLst/>
          </a:prstGeom>
          <a:solidFill xmlns:a="http://schemas.openxmlformats.org/drawingml/2006/main">
            <a:srgbClr val="43534F"/>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095D46CE-AE90-4EF4-9F28-A494F385822E}"/>
              </a:ext>
            </a:extLst>
          </p:cNvPr>
          <p:cNvSpPr>
            <a:spLocks xmlns:a="http://schemas.openxmlformats.org/drawingml/2006/main" noGrp="1"/>
          </p:cNvSpPr>
          <p:nvPr/>
        </p:nvSpPr>
        <p:spPr>
          <a:xfrm xmlns:a="http://schemas.openxmlformats.org/drawingml/2006/main">
            <a:off x="685800" y="4953000"/>
            <a:ext cx="109537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0">
                <a:solidFill>
                  <a:srgbClr val="E7D6B5"/>
                </a:solidFill>
                <a:latin typeface="Georgia"/>
                <a:ea typeface="Georgia"/>
                <a:cs typeface="Georgia"/>
              </a:defRPr>
            </a:pPr>
            <a:r>
              <a:rPr sz="2250" b="0">
                <a:solidFill>
                  <a:srgbClr val="E7D6B5"/>
                </a:solidFill>
                <a:latin typeface="Georgia"/>
                <a:ea typeface="Georgia"/>
                <a:cs typeface="Georgia"/>
              </a:rPr>
              <a:t>20</a:t>
            </a:r>
          </a:p>
        </p:txBody>
      </p:sp>
      <p:sp>
        <p:nvSpPr>
          <p:cNvPr id="18" name="">
            <a:extLst xmlns:a="http://schemas.openxmlformats.org/drawingml/2006/main">
              <a:ext uri="{FF2B5EF4-FFF2-40B4-BE49-F238E27FC236}">
                <a16:creationId xmlns:a16="http://schemas.microsoft.com/office/drawing/2014/main" id="{114883C6-F789-456C-B2F0-FB8126FAD69E}"/>
              </a:ext>
            </a:extLst>
          </p:cNvPr>
          <p:cNvSpPr>
            <a:spLocks xmlns:a="http://schemas.openxmlformats.org/drawingml/2006/main" noGrp="1"/>
          </p:cNvSpPr>
          <p:nvPr/>
        </p:nvSpPr>
        <p:spPr>
          <a:xfrm xmlns:a="http://schemas.openxmlformats.org/drawingml/2006/main">
            <a:off x="685800" y="5410200"/>
            <a:ext cx="109537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9EAAA6"/>
                </a:solidFill>
                <a:latin typeface="Aptos"/>
                <a:ea typeface="Aptos"/>
                <a:cs typeface="Aptos"/>
              </a:defRPr>
            </a:pPr>
            <a:r>
              <a:rPr sz="750" b="1">
                <a:solidFill>
                  <a:srgbClr val="9EAAA6"/>
                </a:solidFill>
                <a:latin typeface="Aptos"/>
                <a:ea typeface="Aptos"/>
                <a:cs typeface="Aptos"/>
              </a:rPr>
              <a:t>CLIENTS</a:t>
            </a:r>
          </a:p>
        </p:txBody>
      </p:sp>
      <p:sp>
        <p:nvSpPr>
          <p:cNvPr id="19" name="">
            <a:extLst xmlns:a="http://schemas.openxmlformats.org/drawingml/2006/main">
              <a:ext uri="{FF2B5EF4-FFF2-40B4-BE49-F238E27FC236}">
                <a16:creationId xmlns:a16="http://schemas.microsoft.com/office/drawing/2014/main" id="{499A08DD-D2F7-4DAF-9B60-13D99A22330A}"/>
              </a:ext>
            </a:extLst>
          </p:cNvPr>
          <p:cNvSpPr>
            <a:spLocks xmlns:a="http://schemas.openxmlformats.org/drawingml/2006/main" noGrp="1"/>
          </p:cNvSpPr>
          <p:nvPr/>
        </p:nvSpPr>
        <p:spPr>
          <a:xfrm xmlns:a="http://schemas.openxmlformats.org/drawingml/2006/main">
            <a:off x="1924050" y="4953000"/>
            <a:ext cx="1143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0">
                <a:solidFill>
                  <a:srgbClr val="E7D6B5"/>
                </a:solidFill>
                <a:latin typeface="Georgia"/>
                <a:ea typeface="Georgia"/>
                <a:cs typeface="Georgia"/>
              </a:defRPr>
            </a:pPr>
            <a:r>
              <a:rPr sz="2250" b="0">
                <a:solidFill>
                  <a:srgbClr val="E7D6B5"/>
                </a:solidFill>
                <a:latin typeface="Georgia"/>
                <a:ea typeface="Georgia"/>
                <a:cs typeface="Georgia"/>
              </a:rPr>
              <a:t>24</a:t>
            </a:r>
          </a:p>
        </p:txBody>
      </p:sp>
      <p:sp>
        <p:nvSpPr>
          <p:cNvPr id="20" name="">
            <a:extLst xmlns:a="http://schemas.openxmlformats.org/drawingml/2006/main">
              <a:ext uri="{FF2B5EF4-FFF2-40B4-BE49-F238E27FC236}">
                <a16:creationId xmlns:a16="http://schemas.microsoft.com/office/drawing/2014/main" id="{40BD61FC-AB44-4B56-A7A9-7D784DBDB46F}"/>
              </a:ext>
            </a:extLst>
          </p:cNvPr>
          <p:cNvSpPr>
            <a:spLocks xmlns:a="http://schemas.openxmlformats.org/drawingml/2006/main" noGrp="1"/>
          </p:cNvSpPr>
          <p:nvPr/>
        </p:nvSpPr>
        <p:spPr>
          <a:xfrm xmlns:a="http://schemas.openxmlformats.org/drawingml/2006/main">
            <a:off x="1924050" y="5410200"/>
            <a:ext cx="114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9EAAA6"/>
                </a:solidFill>
                <a:latin typeface="Aptos"/>
                <a:ea typeface="Aptos"/>
                <a:cs typeface="Aptos"/>
              </a:defRPr>
            </a:pPr>
            <a:r>
              <a:rPr sz="750" b="1">
                <a:solidFill>
                  <a:srgbClr val="9EAAA6"/>
                </a:solidFill>
                <a:latin typeface="Aptos"/>
                <a:ea typeface="Aptos"/>
                <a:cs typeface="Aptos"/>
              </a:rPr>
              <a:t>PORTFOLIOS</a:t>
            </a:r>
          </a:p>
        </p:txBody>
      </p:sp>
      <p:sp>
        <p:nvSpPr>
          <p:cNvPr id="21" name="">
            <a:extLst xmlns:a="http://schemas.openxmlformats.org/drawingml/2006/main">
              <a:ext uri="{FF2B5EF4-FFF2-40B4-BE49-F238E27FC236}">
                <a16:creationId xmlns:a16="http://schemas.microsoft.com/office/drawing/2014/main" id="{C91105B0-3DE8-4ABB-9571-BB55CE499C77}"/>
              </a:ext>
            </a:extLst>
          </p:cNvPr>
          <p:cNvSpPr>
            <a:spLocks xmlns:a="http://schemas.openxmlformats.org/drawingml/2006/main" noGrp="1"/>
          </p:cNvSpPr>
          <p:nvPr/>
        </p:nvSpPr>
        <p:spPr>
          <a:xfrm xmlns:a="http://schemas.openxmlformats.org/drawingml/2006/main">
            <a:off x="3257550" y="4953000"/>
            <a:ext cx="109537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0">
                <a:solidFill>
                  <a:srgbClr val="E7D6B5"/>
                </a:solidFill>
                <a:latin typeface="Georgia"/>
                <a:ea typeface="Georgia"/>
                <a:cs typeface="Georgia"/>
              </a:defRPr>
            </a:pPr>
            <a:r>
              <a:rPr sz="2250" b="0">
                <a:solidFill>
                  <a:srgbClr val="E7D6B5"/>
                </a:solidFill>
                <a:latin typeface="Georgia"/>
                <a:ea typeface="Georgia"/>
                <a:cs typeface="Georgia"/>
              </a:rPr>
              <a:t>5</a:t>
            </a:r>
          </a:p>
        </p:txBody>
      </p:sp>
      <p:sp>
        <p:nvSpPr>
          <p:cNvPr id="22" name="">
            <a:extLst xmlns:a="http://schemas.openxmlformats.org/drawingml/2006/main">
              <a:ext uri="{FF2B5EF4-FFF2-40B4-BE49-F238E27FC236}">
                <a16:creationId xmlns:a16="http://schemas.microsoft.com/office/drawing/2014/main" id="{7DAF6D43-8E96-440E-8C78-716110FB8C58}"/>
              </a:ext>
            </a:extLst>
          </p:cNvPr>
          <p:cNvSpPr>
            <a:spLocks xmlns:a="http://schemas.openxmlformats.org/drawingml/2006/main" noGrp="1"/>
          </p:cNvSpPr>
          <p:nvPr/>
        </p:nvSpPr>
        <p:spPr>
          <a:xfrm xmlns:a="http://schemas.openxmlformats.org/drawingml/2006/main">
            <a:off x="3257550" y="5410200"/>
            <a:ext cx="109537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9EAAA6"/>
                </a:solidFill>
                <a:latin typeface="Aptos"/>
                <a:ea typeface="Aptos"/>
                <a:cs typeface="Aptos"/>
              </a:defRPr>
            </a:pPr>
            <a:r>
              <a:rPr sz="750" b="1">
                <a:solidFill>
                  <a:srgbClr val="9EAAA6"/>
                </a:solidFill>
                <a:latin typeface="Aptos"/>
                <a:ea typeface="Aptos"/>
                <a:cs typeface="Aptos"/>
              </a:rPr>
              <a:t>SNAPSHOTS</a:t>
            </a:r>
          </a:p>
        </p:txBody>
      </p:sp>
      <p:sp>
        <p:nvSpPr>
          <p:cNvPr id="23" name="">
            <a:extLst xmlns:a="http://schemas.openxmlformats.org/drawingml/2006/main">
              <a:ext uri="{FF2B5EF4-FFF2-40B4-BE49-F238E27FC236}">
                <a16:creationId xmlns:a16="http://schemas.microsoft.com/office/drawing/2014/main" id="{3BBA5856-B9E6-49F5-971B-9D9E3ECEEF3A}"/>
              </a:ext>
            </a:extLst>
          </p:cNvPr>
          <p:cNvSpPr>
            <a:spLocks xmlns:a="http://schemas.openxmlformats.org/drawingml/2006/main" noGrp="1"/>
          </p:cNvSpPr>
          <p:nvPr/>
        </p:nvSpPr>
        <p:spPr>
          <a:xfrm xmlns:a="http://schemas.openxmlformats.org/drawingml/2006/main">
            <a:off x="4524375" y="4953000"/>
            <a:ext cx="1619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0">
                <a:solidFill>
                  <a:srgbClr val="E7D6B5"/>
                </a:solidFill>
                <a:latin typeface="Georgia"/>
                <a:ea typeface="Georgia"/>
                <a:cs typeface="Georgia"/>
              </a:defRPr>
            </a:pPr>
            <a:r>
              <a:rPr sz="2250" b="0">
                <a:solidFill>
                  <a:srgbClr val="E7D6B5"/>
                </a:solidFill>
                <a:latin typeface="Georgia"/>
                <a:ea typeface="Georgia"/>
                <a:cs typeface="Georgia"/>
              </a:rPr>
              <a:t>1</a:t>
            </a:r>
          </a:p>
        </p:txBody>
      </p:sp>
      <p:sp>
        <p:nvSpPr>
          <p:cNvPr id="24" name="">
            <a:extLst xmlns:a="http://schemas.openxmlformats.org/drawingml/2006/main">
              <a:ext uri="{FF2B5EF4-FFF2-40B4-BE49-F238E27FC236}">
                <a16:creationId xmlns:a16="http://schemas.microsoft.com/office/drawing/2014/main" id="{7B46AB7F-0605-4F42-A3BB-9A7FBD18F243}"/>
              </a:ext>
            </a:extLst>
          </p:cNvPr>
          <p:cNvSpPr>
            <a:spLocks xmlns:a="http://schemas.openxmlformats.org/drawingml/2006/main" noGrp="1"/>
          </p:cNvSpPr>
          <p:nvPr/>
        </p:nvSpPr>
        <p:spPr>
          <a:xfrm xmlns:a="http://schemas.openxmlformats.org/drawingml/2006/main">
            <a:off x="4524375" y="541020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9EAAA6"/>
                </a:solidFill>
                <a:latin typeface="Aptos"/>
                <a:ea typeface="Aptos"/>
                <a:cs typeface="Aptos"/>
              </a:defRPr>
            </a:pPr>
            <a:r>
              <a:rPr sz="750" b="1">
                <a:solidFill>
                  <a:srgbClr val="9EAAA6"/>
                </a:solidFill>
                <a:latin typeface="Aptos"/>
                <a:ea typeface="Aptos"/>
                <a:cs typeface="Aptos"/>
              </a:rPr>
              <a:t>RELATIONSHIP MANAGER</a:t>
            </a:r>
          </a:p>
        </p:txBody>
      </p:sp>
      <p:sp>
        <p:nvSpPr>
          <p:cNvPr id="25" name="">
            <a:extLst xmlns:a="http://schemas.openxmlformats.org/drawingml/2006/main">
              <a:ext uri="{FF2B5EF4-FFF2-40B4-BE49-F238E27FC236}">
                <a16:creationId xmlns:a16="http://schemas.microsoft.com/office/drawing/2014/main" id="{703B4379-7E27-4D07-B1A7-9649F1C169D8}"/>
              </a:ext>
            </a:extLst>
          </p:cNvPr>
          <p:cNvSpPr>
            <a:spLocks xmlns:a="http://schemas.openxmlformats.org/drawingml/2006/main" noGrp="1"/>
          </p:cNvSpPr>
          <p:nvPr/>
        </p:nvSpPr>
        <p:spPr>
          <a:xfrm xmlns:a="http://schemas.openxmlformats.org/drawingml/2006/main">
            <a:off x="685800" y="6324600"/>
            <a:ext cx="933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9EAAA6"/>
                </a:solidFill>
                <a:latin typeface="Aptos"/>
                <a:ea typeface="Aptos"/>
                <a:cs typeface="Aptos"/>
              </a:defRPr>
            </a:pPr>
            <a:r>
              <a:rPr sz="750" b="0">
                <a:solidFill>
                  <a:srgbClr val="9EAAA6"/>
                </a:solidFill>
                <a:latin typeface="Aptos"/>
                <a:ea typeface="Aptos"/>
                <a:cs typeface="Aptos"/>
              </a:rPr>
              <a:t>Synthetic challenge data · Scenarios are illustrative, not forecasts · RM approval required</a:t>
            </a:r>
          </a:p>
        </p:txBody>
      </p:sp>
      <p:sp>
        <p:nvSpPr>
          <p:cNvPr id="26" name="">
            <a:extLst xmlns:a="http://schemas.openxmlformats.org/drawingml/2006/main">
              <a:ext uri="{FF2B5EF4-FFF2-40B4-BE49-F238E27FC236}">
                <a16:creationId xmlns:a16="http://schemas.microsoft.com/office/drawing/2014/main" id="{FE056EFC-DBB0-4505-BBC1-B3615F1A124D}"/>
              </a:ext>
            </a:extLst>
          </p:cNvPr>
          <p:cNvSpPr>
            <a:spLocks xmlns:a="http://schemas.openxmlformats.org/drawingml/2006/main" noGrp="1"/>
          </p:cNvSpPr>
          <p:nvPr/>
        </p:nvSpPr>
        <p:spPr>
          <a:xfrm xmlns:a="http://schemas.openxmlformats.org/drawingml/2006/main">
            <a:off x="10953750" y="6305550"/>
            <a:ext cx="6191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825" b="1">
                <a:solidFill>
                  <a:srgbClr val="E7D6B5"/>
                </a:solidFill>
                <a:latin typeface="Aptos Mono"/>
                <a:ea typeface="Aptos Mono"/>
                <a:cs typeface="Aptos Mono"/>
              </a:defRPr>
            </a:pPr>
            <a:r>
              <a:rPr sz="825" b="1">
                <a:solidFill>
                  <a:srgbClr val="E7D6B5"/>
                </a:solidFill>
                <a:latin typeface="Aptos Mono"/>
                <a:ea typeface="Aptos Mono"/>
                <a:cs typeface="Aptos Mono"/>
              </a:rPr>
              <a:t>01</a:t>
            </a:r>
          </a:p>
        </p:txBody>
      </p:sp>
    </p:spTree>
    <p:extLst>
      <p:ext uri="{BB962C8B-B14F-4D97-AF65-F5344CB8AC3E}">
        <p14:creationId xmlns:p14="http://schemas.microsoft.com/office/powerpoint/2010/main" val="4246780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000DACB1-0793-4967-9ECA-3DB755D9F93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kicker-03-marker">
            <a:extLst xmlns:a="http://schemas.openxmlformats.org/drawingml/2006/main">
              <a:ext uri="{FF2B5EF4-FFF2-40B4-BE49-F238E27FC236}">
                <a16:creationId xmlns:a16="http://schemas.microsoft.com/office/drawing/2014/main" id="{8D09AD6D-2A82-4EE4-B706-CB0AD608D310}"/>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kicker-03-label">
            <a:extLst xmlns:a="http://schemas.openxmlformats.org/drawingml/2006/main">
              <a:ext uri="{FF2B5EF4-FFF2-40B4-BE49-F238E27FC236}">
                <a16:creationId xmlns:a16="http://schemas.microsoft.com/office/drawing/2014/main" id="{2141CD43-9BD5-41E1-B599-4D53C0756B10}"/>
              </a:ext>
            </a:extLst>
          </p:cNvPr>
          <p:cNvSpPr>
            <a:spLocks xmlns:a="http://schemas.openxmlformats.org/drawingml/2006/main" noGrp="1"/>
          </p:cNvSpPr>
          <p:nvPr/>
        </p:nvSpPr>
        <p:spPr>
          <a:xfrm xmlns:a="http://schemas.openxmlformats.org/drawingml/2006/main">
            <a:off x="781050" y="371475"/>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2D5C56"/>
                </a:solidFill>
                <a:latin typeface="Aptos"/>
                <a:ea typeface="Aptos"/>
                <a:cs typeface="Aptos"/>
              </a:defRPr>
            </a:pPr>
            <a:r>
              <a:rPr sz="825" b="1">
                <a:solidFill>
                  <a:srgbClr val="2D5C56"/>
                </a:solidFill>
                <a:latin typeface="Aptos"/>
                <a:ea typeface="Aptos"/>
                <a:cs typeface="Aptos"/>
              </a:rPr>
              <a:t>OUR USP</a:t>
            </a:r>
          </a:p>
        </p:txBody>
      </p:sp>
      <p:sp>
        <p:nvSpPr>
          <p:cNvPr id="4" name="">
            <a:extLst xmlns:a="http://schemas.openxmlformats.org/drawingml/2006/main">
              <a:ext uri="{FF2B5EF4-FFF2-40B4-BE49-F238E27FC236}">
                <a16:creationId xmlns:a16="http://schemas.microsoft.com/office/drawing/2014/main" id="{47DFDF7E-DD22-4002-90C8-D81EE3D5A200}"/>
              </a:ext>
            </a:extLst>
          </p:cNvPr>
          <p:cNvSpPr>
            <a:spLocks xmlns:a="http://schemas.openxmlformats.org/drawingml/2006/main" noGrp="1"/>
          </p:cNvSpPr>
          <p:nvPr/>
        </p:nvSpPr>
        <p:spPr>
          <a:xfrm xmlns:a="http://schemas.openxmlformats.org/drawingml/2006/main">
            <a:off x="609600" y="685800"/>
            <a:ext cx="9906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000" b="0">
                <a:solidFill>
                  <a:srgbClr val="17201E"/>
                </a:solidFill>
                <a:latin typeface="Georgia"/>
                <a:ea typeface="Georgia"/>
                <a:cs typeface="Georgia"/>
              </a:defRPr>
            </a:pPr>
            <a:r>
              <a:rPr sz="3000" b="0">
                <a:solidFill>
                  <a:srgbClr val="17201E"/>
                </a:solidFill>
                <a:latin typeface="Georgia"/>
                <a:ea typeface="Georgia"/>
                <a:cs typeface="Georgia"/>
              </a:rPr>
              <a:t>We rank client contradictions—not market noise.</a:t>
            </a:r>
          </a:p>
        </p:txBody>
      </p:sp>
      <p:sp>
        <p:nvSpPr>
          <p:cNvPr id="5" name="">
            <a:extLst xmlns:a="http://schemas.openxmlformats.org/drawingml/2006/main">
              <a:ext uri="{FF2B5EF4-FFF2-40B4-BE49-F238E27FC236}">
                <a16:creationId xmlns:a16="http://schemas.microsoft.com/office/drawing/2014/main" id="{B80CA053-5FFC-4262-977D-4A9C753AC688}"/>
              </a:ext>
            </a:extLst>
          </p:cNvPr>
          <p:cNvSpPr>
            <a:spLocks xmlns:a="http://schemas.openxmlformats.org/drawingml/2006/main" noGrp="1"/>
          </p:cNvSpPr>
          <p:nvPr/>
        </p:nvSpPr>
        <p:spPr>
          <a:xfrm xmlns:a="http://schemas.openxmlformats.org/drawingml/2006/main">
            <a:off x="609600" y="1381125"/>
            <a:ext cx="9525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75" b="0">
                <a:solidFill>
                  <a:srgbClr val="6F766F"/>
                </a:solidFill>
                <a:latin typeface="Aptos"/>
                <a:ea typeface="Aptos"/>
                <a:cs typeface="Aptos"/>
              </a:defRPr>
            </a:pPr>
            <a:r>
              <a:rPr sz="1275" b="0">
                <a:solidFill>
                  <a:srgbClr val="6F766F"/>
                </a:solidFill>
                <a:latin typeface="Aptos"/>
                <a:ea typeface="Aptos"/>
                <a:cs typeface="Aptos"/>
              </a:rPr>
              <a:t>Then we go deep on three distinct, defensible decision rooms—with every claim traceable to evidence.</a:t>
            </a:r>
          </a:p>
        </p:txBody>
      </p:sp>
      <p:sp>
        <p:nvSpPr>
          <p:cNvPr id="6" name="insight-row-1">
            <a:extLst xmlns:a="http://schemas.openxmlformats.org/drawingml/2006/main">
              <a:ext uri="{FF2B5EF4-FFF2-40B4-BE49-F238E27FC236}">
                <a16:creationId xmlns:a16="http://schemas.microsoft.com/office/drawing/2014/main" id="{7CF2A09C-A736-4428-8115-AAF9218B189B}"/>
              </a:ext>
            </a:extLst>
          </p:cNvPr>
          <p:cNvSpPr>
            <a:spLocks xmlns:a="http://schemas.openxmlformats.org/drawingml/2006/main" noGrp="1"/>
          </p:cNvSpPr>
          <p:nvPr/>
        </p:nvSpPr>
        <p:spPr>
          <a:xfrm xmlns:a="http://schemas.openxmlformats.org/drawingml/2006/main">
            <a:off x="609600" y="2171700"/>
            <a:ext cx="10972800" cy="19050"/>
          </a:xfrm>
          <a:prstGeom xmlns:a="http://schemas.openxmlformats.org/drawingml/2006/main" prst="rect">
            <a:avLst/>
          </a:prstGeom>
          <a:solidFill xmlns:a="http://schemas.openxmlformats.org/drawingml/2006/main">
            <a:srgbClr val="17201E"/>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4EBECC7-213B-4EAD-9D91-B152035315A7}"/>
              </a:ext>
            </a:extLst>
          </p:cNvPr>
          <p:cNvSpPr>
            <a:spLocks xmlns:a="http://schemas.openxmlformats.org/drawingml/2006/main" noGrp="1"/>
          </p:cNvSpPr>
          <p:nvPr/>
        </p:nvSpPr>
        <p:spPr>
          <a:xfrm xmlns:a="http://schemas.openxmlformats.org/drawingml/2006/main">
            <a:off x="609600" y="24193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1">
                <a:solidFill>
                  <a:srgbClr val="B78F50"/>
                </a:solidFill>
                <a:latin typeface="Aptos Mono"/>
                <a:ea typeface="Aptos Mono"/>
                <a:cs typeface="Aptos Mono"/>
              </a:defRPr>
            </a:pPr>
            <a:r>
              <a:rPr sz="825" b="1">
                <a:solidFill>
                  <a:srgbClr val="B78F50"/>
                </a:solidFill>
                <a:latin typeface="Aptos Mono"/>
                <a:ea typeface="Aptos Mono"/>
                <a:cs typeface="Aptos Mono"/>
              </a:rPr>
              <a:t>A</a:t>
            </a:r>
          </a:p>
        </p:txBody>
      </p:sp>
      <p:sp>
        <p:nvSpPr>
          <p:cNvPr id="8" name="">
            <a:extLst xmlns:a="http://schemas.openxmlformats.org/drawingml/2006/main">
              <a:ext uri="{FF2B5EF4-FFF2-40B4-BE49-F238E27FC236}">
                <a16:creationId xmlns:a16="http://schemas.microsoft.com/office/drawing/2014/main" id="{B7AED4CE-7786-4E58-9B55-842F6D4A0E2E}"/>
              </a:ext>
            </a:extLst>
          </p:cNvPr>
          <p:cNvSpPr>
            <a:spLocks xmlns:a="http://schemas.openxmlformats.org/drawingml/2006/main" noGrp="1"/>
          </p:cNvSpPr>
          <p:nvPr/>
        </p:nvSpPr>
        <p:spPr>
          <a:xfrm xmlns:a="http://schemas.openxmlformats.org/drawingml/2006/main">
            <a:off x="1200150" y="2419350"/>
            <a:ext cx="23336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2D5C56"/>
                </a:solidFill>
                <a:latin typeface="Aptos"/>
                <a:ea typeface="Aptos"/>
                <a:cs typeface="Aptos"/>
              </a:defRPr>
            </a:pPr>
            <a:r>
              <a:rPr sz="900" b="1">
                <a:solidFill>
                  <a:srgbClr val="2D5C56"/>
                </a:solidFill>
                <a:latin typeface="Aptos"/>
                <a:ea typeface="Aptos"/>
                <a:cs typeface="Aptos"/>
              </a:rPr>
              <a:t>LAU CHI MING</a:t>
            </a:r>
          </a:p>
        </p:txBody>
      </p:sp>
      <p:sp>
        <p:nvSpPr>
          <p:cNvPr id="9" name="">
            <a:extLst xmlns:a="http://schemas.openxmlformats.org/drawingml/2006/main">
              <a:ext uri="{FF2B5EF4-FFF2-40B4-BE49-F238E27FC236}">
                <a16:creationId xmlns:a16="http://schemas.microsoft.com/office/drawing/2014/main" id="{5B859ED0-D43B-4381-A717-66A6A4E4C876}"/>
              </a:ext>
            </a:extLst>
          </p:cNvPr>
          <p:cNvSpPr>
            <a:spLocks xmlns:a="http://schemas.openxmlformats.org/drawingml/2006/main" noGrp="1"/>
          </p:cNvSpPr>
          <p:nvPr/>
        </p:nvSpPr>
        <p:spPr>
          <a:xfrm xmlns:a="http://schemas.openxmlformats.org/drawingml/2006/main">
            <a:off x="3771900" y="2324100"/>
            <a:ext cx="1571625"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0">
                <a:solidFill>
                  <a:srgbClr val="B85D43"/>
                </a:solidFill>
                <a:latin typeface="Georgia"/>
                <a:ea typeface="Georgia"/>
                <a:cs typeface="Georgia"/>
              </a:defRPr>
            </a:pPr>
            <a:r>
              <a:rPr sz="2625" b="0">
                <a:solidFill>
                  <a:srgbClr val="B85D43"/>
                </a:solidFill>
                <a:latin typeface="Georgia"/>
                <a:ea typeface="Georgia"/>
                <a:cs typeface="Georgia"/>
              </a:rPr>
              <a:t>49.0%+</a:t>
            </a:r>
          </a:p>
        </p:txBody>
      </p:sp>
      <p:sp>
        <p:nvSpPr>
          <p:cNvPr id="10" name="">
            <a:extLst xmlns:a="http://schemas.openxmlformats.org/drawingml/2006/main">
              <a:ext uri="{FF2B5EF4-FFF2-40B4-BE49-F238E27FC236}">
                <a16:creationId xmlns:a16="http://schemas.microsoft.com/office/drawing/2014/main" id="{E2BE607F-8BBC-46C4-9C07-20632377CBF9}"/>
              </a:ext>
            </a:extLst>
          </p:cNvPr>
          <p:cNvSpPr>
            <a:spLocks xmlns:a="http://schemas.openxmlformats.org/drawingml/2006/main" noGrp="1"/>
          </p:cNvSpPr>
          <p:nvPr/>
        </p:nvSpPr>
        <p:spPr>
          <a:xfrm xmlns:a="http://schemas.openxmlformats.org/drawingml/2006/main">
            <a:off x="5476875" y="2362200"/>
            <a:ext cx="300037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1E"/>
                </a:solidFill>
                <a:latin typeface="Georgia"/>
                <a:ea typeface="Georgia"/>
                <a:cs typeface="Georgia"/>
              </a:defRPr>
            </a:pPr>
            <a:r>
              <a:rPr sz="1425" b="0">
                <a:solidFill>
                  <a:srgbClr val="17201E"/>
                </a:solidFill>
                <a:latin typeface="Georgia"/>
                <a:ea typeface="Georgia"/>
                <a:cs typeface="Georgia"/>
              </a:rPr>
              <a:t>Four wrappers of Hong Kong property</a:t>
            </a:r>
          </a:p>
        </p:txBody>
      </p:sp>
      <p:sp>
        <p:nvSpPr>
          <p:cNvPr id="11" name="">
            <a:extLst xmlns:a="http://schemas.openxmlformats.org/drawingml/2006/main">
              <a:ext uri="{FF2B5EF4-FFF2-40B4-BE49-F238E27FC236}">
                <a16:creationId xmlns:a16="http://schemas.microsoft.com/office/drawing/2014/main" id="{EF9F617F-6D10-4AF4-8A51-3621FCAC66DB}"/>
              </a:ext>
            </a:extLst>
          </p:cNvPr>
          <p:cNvSpPr>
            <a:spLocks xmlns:a="http://schemas.openxmlformats.org/drawingml/2006/main" noGrp="1"/>
          </p:cNvSpPr>
          <p:nvPr/>
        </p:nvSpPr>
        <p:spPr>
          <a:xfrm xmlns:a="http://schemas.openxmlformats.org/drawingml/2006/main">
            <a:off x="8715375" y="2390775"/>
            <a:ext cx="2590800"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6F766F"/>
                </a:solidFill>
                <a:latin typeface="Aptos"/>
                <a:ea typeface="Aptos"/>
                <a:cs typeface="Aptos"/>
              </a:defRPr>
            </a:pPr>
            <a:r>
              <a:rPr sz="975" b="0">
                <a:solidFill>
                  <a:srgbClr val="6F766F"/>
                </a:solidFill>
                <a:latin typeface="Aptos"/>
                <a:ea typeface="Aptos"/>
                <a:cs typeface="Aptos"/>
              </a:rPr>
              <a:t>HKD 60m due; LTV 69.41% vs 70%</a:t>
            </a:r>
          </a:p>
        </p:txBody>
      </p:sp>
      <p:sp>
        <p:nvSpPr>
          <p:cNvPr id="12" name="insight-row-2">
            <a:extLst xmlns:a="http://schemas.openxmlformats.org/drawingml/2006/main">
              <a:ext uri="{FF2B5EF4-FFF2-40B4-BE49-F238E27FC236}">
                <a16:creationId xmlns:a16="http://schemas.microsoft.com/office/drawing/2014/main" id="{F5623C1D-E3B7-4C2A-9AC2-84B1BA9C80E5}"/>
              </a:ext>
            </a:extLst>
          </p:cNvPr>
          <p:cNvSpPr>
            <a:spLocks xmlns:a="http://schemas.openxmlformats.org/drawingml/2006/main" noGrp="1"/>
          </p:cNvSpPr>
          <p:nvPr/>
        </p:nvSpPr>
        <p:spPr>
          <a:xfrm xmlns:a="http://schemas.openxmlformats.org/drawingml/2006/main">
            <a:off x="609600" y="3352800"/>
            <a:ext cx="109728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65644B5D-6ADB-48D3-81AB-2AE9F520BD2D}"/>
              </a:ext>
            </a:extLst>
          </p:cNvPr>
          <p:cNvSpPr>
            <a:spLocks xmlns:a="http://schemas.openxmlformats.org/drawingml/2006/main" noGrp="1"/>
          </p:cNvSpPr>
          <p:nvPr/>
        </p:nvSpPr>
        <p:spPr>
          <a:xfrm xmlns:a="http://schemas.openxmlformats.org/drawingml/2006/main">
            <a:off x="609600" y="36004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1">
                <a:solidFill>
                  <a:srgbClr val="B78F50"/>
                </a:solidFill>
                <a:latin typeface="Aptos Mono"/>
                <a:ea typeface="Aptos Mono"/>
                <a:cs typeface="Aptos Mono"/>
              </a:defRPr>
            </a:pPr>
            <a:r>
              <a:rPr sz="825" b="1">
                <a:solidFill>
                  <a:srgbClr val="B78F50"/>
                </a:solidFill>
                <a:latin typeface="Aptos Mono"/>
                <a:ea typeface="Aptos Mono"/>
                <a:cs typeface="Aptos Mono"/>
              </a:rPr>
              <a:t>B</a:t>
            </a:r>
          </a:p>
        </p:txBody>
      </p:sp>
      <p:sp>
        <p:nvSpPr>
          <p:cNvPr id="14" name="">
            <a:extLst xmlns:a="http://schemas.openxmlformats.org/drawingml/2006/main">
              <a:ext uri="{FF2B5EF4-FFF2-40B4-BE49-F238E27FC236}">
                <a16:creationId xmlns:a16="http://schemas.microsoft.com/office/drawing/2014/main" id="{D07284AE-5645-4B29-AD52-FB5337E62FED}"/>
              </a:ext>
            </a:extLst>
          </p:cNvPr>
          <p:cNvSpPr>
            <a:spLocks xmlns:a="http://schemas.openxmlformats.org/drawingml/2006/main" noGrp="1"/>
          </p:cNvSpPr>
          <p:nvPr/>
        </p:nvSpPr>
        <p:spPr>
          <a:xfrm xmlns:a="http://schemas.openxmlformats.org/drawingml/2006/main">
            <a:off x="1200150" y="3600450"/>
            <a:ext cx="23336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2D5C56"/>
                </a:solidFill>
                <a:latin typeface="Aptos"/>
                <a:ea typeface="Aptos"/>
                <a:cs typeface="Aptos"/>
              </a:defRPr>
            </a:pPr>
            <a:r>
              <a:rPr sz="900" b="1">
                <a:solidFill>
                  <a:srgbClr val="2D5C56"/>
                </a:solidFill>
                <a:latin typeface="Aptos"/>
                <a:ea typeface="Aptos"/>
                <a:cs typeface="Aptos"/>
              </a:rPr>
              <a:t>ABDULLAH AL-MANSOORI</a:t>
            </a:r>
          </a:p>
        </p:txBody>
      </p:sp>
      <p:sp>
        <p:nvSpPr>
          <p:cNvPr id="15" name="">
            <a:extLst xmlns:a="http://schemas.openxmlformats.org/drawingml/2006/main">
              <a:ext uri="{FF2B5EF4-FFF2-40B4-BE49-F238E27FC236}">
                <a16:creationId xmlns:a16="http://schemas.microsoft.com/office/drawing/2014/main" id="{5FF3ED70-D731-474A-B481-C36DBBBEE36E}"/>
              </a:ext>
            </a:extLst>
          </p:cNvPr>
          <p:cNvSpPr>
            <a:spLocks xmlns:a="http://schemas.openxmlformats.org/drawingml/2006/main" noGrp="1"/>
          </p:cNvSpPr>
          <p:nvPr/>
        </p:nvSpPr>
        <p:spPr>
          <a:xfrm xmlns:a="http://schemas.openxmlformats.org/drawingml/2006/main">
            <a:off x="3771900" y="3505200"/>
            <a:ext cx="1571625"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0">
                <a:solidFill>
                  <a:srgbClr val="B85D43"/>
                </a:solidFill>
                <a:latin typeface="Georgia"/>
                <a:ea typeface="Georgia"/>
                <a:cs typeface="Georgia"/>
              </a:defRPr>
            </a:pPr>
            <a:r>
              <a:rPr sz="2625" b="0">
                <a:solidFill>
                  <a:srgbClr val="B85D43"/>
                </a:solidFill>
                <a:latin typeface="Georgia"/>
                <a:ea typeface="Georgia"/>
                <a:cs typeface="Georgia"/>
              </a:rPr>
              <a:t>42.1%+</a:t>
            </a:r>
          </a:p>
        </p:txBody>
      </p:sp>
      <p:sp>
        <p:nvSpPr>
          <p:cNvPr id="16" name="">
            <a:extLst xmlns:a="http://schemas.openxmlformats.org/drawingml/2006/main">
              <a:ext uri="{FF2B5EF4-FFF2-40B4-BE49-F238E27FC236}">
                <a16:creationId xmlns:a16="http://schemas.microsoft.com/office/drawing/2014/main" id="{7DC59D25-84B4-4612-AEE5-67B34FD32737}"/>
              </a:ext>
            </a:extLst>
          </p:cNvPr>
          <p:cNvSpPr>
            <a:spLocks xmlns:a="http://schemas.openxmlformats.org/drawingml/2006/main" noGrp="1"/>
          </p:cNvSpPr>
          <p:nvPr/>
        </p:nvSpPr>
        <p:spPr>
          <a:xfrm xmlns:a="http://schemas.openxmlformats.org/drawingml/2006/main">
            <a:off x="5476875" y="3543300"/>
            <a:ext cx="300037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1E"/>
                </a:solidFill>
                <a:latin typeface="Georgia"/>
                <a:ea typeface="Georgia"/>
                <a:cs typeface="Georgia"/>
              </a:defRPr>
            </a:pPr>
            <a:r>
              <a:rPr sz="1425" b="0">
                <a:solidFill>
                  <a:srgbClr val="17201E"/>
                </a:solidFill>
                <a:latin typeface="Georgia"/>
                <a:ea typeface="Georgia"/>
                <a:cs typeface="Georgia"/>
              </a:rPr>
              <a:t>Shipping &amp; energy after FCN look-through</a:t>
            </a:r>
          </a:p>
        </p:txBody>
      </p:sp>
      <p:sp>
        <p:nvSpPr>
          <p:cNvPr id="17" name="">
            <a:extLst xmlns:a="http://schemas.openxmlformats.org/drawingml/2006/main">
              <a:ext uri="{FF2B5EF4-FFF2-40B4-BE49-F238E27FC236}">
                <a16:creationId xmlns:a16="http://schemas.microsoft.com/office/drawing/2014/main" id="{2B5D4DE4-7AC3-4A98-A093-ED065C86E477}"/>
              </a:ext>
            </a:extLst>
          </p:cNvPr>
          <p:cNvSpPr>
            <a:spLocks xmlns:a="http://schemas.openxmlformats.org/drawingml/2006/main" noGrp="1"/>
          </p:cNvSpPr>
          <p:nvPr/>
        </p:nvSpPr>
        <p:spPr>
          <a:xfrm xmlns:a="http://schemas.openxmlformats.org/drawingml/2006/main">
            <a:off x="8715375" y="3571875"/>
            <a:ext cx="2590800"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6F766F"/>
                </a:solidFill>
                <a:latin typeface="Aptos"/>
                <a:ea typeface="Aptos"/>
                <a:cs typeface="Aptos"/>
              </a:defRPr>
            </a:pPr>
            <a:r>
              <a:rPr sz="975" b="0">
                <a:solidFill>
                  <a:srgbClr val="6F766F"/>
                </a:solidFill>
                <a:latin typeface="Aptos"/>
                <a:ea typeface="Aptos"/>
                <a:cs typeface="Aptos"/>
              </a:rPr>
              <a:t>Portfolio meant to diversify Gulf business</a:t>
            </a:r>
          </a:p>
        </p:txBody>
      </p:sp>
      <p:sp>
        <p:nvSpPr>
          <p:cNvPr id="18" name="insight-row-3">
            <a:extLst xmlns:a="http://schemas.openxmlformats.org/drawingml/2006/main">
              <a:ext uri="{FF2B5EF4-FFF2-40B4-BE49-F238E27FC236}">
                <a16:creationId xmlns:a16="http://schemas.microsoft.com/office/drawing/2014/main" id="{E4F0A56B-F629-4340-B32D-AC148D08F77E}"/>
              </a:ext>
            </a:extLst>
          </p:cNvPr>
          <p:cNvSpPr>
            <a:spLocks xmlns:a="http://schemas.openxmlformats.org/drawingml/2006/main" noGrp="1"/>
          </p:cNvSpPr>
          <p:nvPr/>
        </p:nvSpPr>
        <p:spPr>
          <a:xfrm xmlns:a="http://schemas.openxmlformats.org/drawingml/2006/main">
            <a:off x="609600" y="4533900"/>
            <a:ext cx="109728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E910184C-B525-4843-9D31-18C05CB54A85}"/>
              </a:ext>
            </a:extLst>
          </p:cNvPr>
          <p:cNvSpPr>
            <a:spLocks xmlns:a="http://schemas.openxmlformats.org/drawingml/2006/main" noGrp="1"/>
          </p:cNvSpPr>
          <p:nvPr/>
        </p:nvSpPr>
        <p:spPr>
          <a:xfrm xmlns:a="http://schemas.openxmlformats.org/drawingml/2006/main">
            <a:off x="609600" y="47815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1">
                <a:solidFill>
                  <a:srgbClr val="B78F50"/>
                </a:solidFill>
                <a:latin typeface="Aptos Mono"/>
                <a:ea typeface="Aptos Mono"/>
                <a:cs typeface="Aptos Mono"/>
              </a:defRPr>
            </a:pPr>
            <a:r>
              <a:rPr sz="825" b="1">
                <a:solidFill>
                  <a:srgbClr val="B78F50"/>
                </a:solidFill>
                <a:latin typeface="Aptos Mono"/>
                <a:ea typeface="Aptos Mono"/>
                <a:cs typeface="Aptos Mono"/>
              </a:rPr>
              <a:t>C</a:t>
            </a:r>
          </a:p>
        </p:txBody>
      </p:sp>
      <p:sp>
        <p:nvSpPr>
          <p:cNvPr id="20" name="">
            <a:extLst xmlns:a="http://schemas.openxmlformats.org/drawingml/2006/main">
              <a:ext uri="{FF2B5EF4-FFF2-40B4-BE49-F238E27FC236}">
                <a16:creationId xmlns:a16="http://schemas.microsoft.com/office/drawing/2014/main" id="{F01295F4-D38D-4A6A-8EE6-015149D4E308}"/>
              </a:ext>
            </a:extLst>
          </p:cNvPr>
          <p:cNvSpPr>
            <a:spLocks xmlns:a="http://schemas.openxmlformats.org/drawingml/2006/main" noGrp="1"/>
          </p:cNvSpPr>
          <p:nvPr/>
        </p:nvSpPr>
        <p:spPr>
          <a:xfrm xmlns:a="http://schemas.openxmlformats.org/drawingml/2006/main">
            <a:off x="1200150" y="4781550"/>
            <a:ext cx="23336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2D5C56"/>
                </a:solidFill>
                <a:latin typeface="Aptos"/>
                <a:ea typeface="Aptos"/>
                <a:cs typeface="Aptos"/>
              </a:defRPr>
            </a:pPr>
            <a:r>
              <a:rPr sz="900" b="1">
                <a:solidFill>
                  <a:srgbClr val="2D5C56"/>
                </a:solidFill>
                <a:latin typeface="Aptos"/>
                <a:ea typeface="Aptos"/>
                <a:cs typeface="Aptos"/>
              </a:rPr>
              <a:t>CHEUNG KWOK WING</a:t>
            </a:r>
          </a:p>
        </p:txBody>
      </p:sp>
      <p:sp>
        <p:nvSpPr>
          <p:cNvPr id="21" name="">
            <a:extLst xmlns:a="http://schemas.openxmlformats.org/drawingml/2006/main">
              <a:ext uri="{FF2B5EF4-FFF2-40B4-BE49-F238E27FC236}">
                <a16:creationId xmlns:a16="http://schemas.microsoft.com/office/drawing/2014/main" id="{224CF130-C965-4294-875F-0343A34E1FF8}"/>
              </a:ext>
            </a:extLst>
          </p:cNvPr>
          <p:cNvSpPr>
            <a:spLocks xmlns:a="http://schemas.openxmlformats.org/drawingml/2006/main" noGrp="1"/>
          </p:cNvSpPr>
          <p:nvPr/>
        </p:nvSpPr>
        <p:spPr>
          <a:xfrm xmlns:a="http://schemas.openxmlformats.org/drawingml/2006/main">
            <a:off x="3771900" y="4686300"/>
            <a:ext cx="1571625"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0">
                <a:solidFill>
                  <a:srgbClr val="17201E"/>
                </a:solidFill>
                <a:latin typeface="Georgia"/>
                <a:ea typeface="Georgia"/>
                <a:cs typeface="Georgia"/>
              </a:defRPr>
            </a:pPr>
            <a:r>
              <a:rPr sz="2625" b="0">
                <a:solidFill>
                  <a:srgbClr val="17201E"/>
                </a:solidFill>
                <a:latin typeface="Georgia"/>
                <a:ea typeface="Georgia"/>
                <a:cs typeface="Georgia"/>
              </a:rPr>
              <a:t>2045</a:t>
            </a:r>
          </a:p>
        </p:txBody>
      </p:sp>
      <p:sp>
        <p:nvSpPr>
          <p:cNvPr id="22" name="">
            <a:extLst xmlns:a="http://schemas.openxmlformats.org/drawingml/2006/main">
              <a:ext uri="{FF2B5EF4-FFF2-40B4-BE49-F238E27FC236}">
                <a16:creationId xmlns:a16="http://schemas.microsoft.com/office/drawing/2014/main" id="{F5568AE0-8973-4F3D-A5FF-EF5A5C7D11BF}"/>
              </a:ext>
            </a:extLst>
          </p:cNvPr>
          <p:cNvSpPr>
            <a:spLocks xmlns:a="http://schemas.openxmlformats.org/drawingml/2006/main" noGrp="1"/>
          </p:cNvSpPr>
          <p:nvPr/>
        </p:nvSpPr>
        <p:spPr>
          <a:xfrm xmlns:a="http://schemas.openxmlformats.org/drawingml/2006/main">
            <a:off x="5476875" y="4724400"/>
            <a:ext cx="300037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1E"/>
                </a:solidFill>
                <a:latin typeface="Georgia"/>
                <a:ea typeface="Georgia"/>
                <a:cs typeface="Georgia"/>
              </a:defRPr>
            </a:pPr>
            <a:r>
              <a:rPr sz="1425" b="0">
                <a:solidFill>
                  <a:srgbClr val="17201E"/>
                </a:solidFill>
                <a:latin typeface="Georgia"/>
                <a:ea typeface="Georgia"/>
                <a:cs typeface="Georgia"/>
              </a:rPr>
              <a:t>Longest bond maturity</a:t>
            </a:r>
          </a:p>
        </p:txBody>
      </p:sp>
      <p:sp>
        <p:nvSpPr>
          <p:cNvPr id="23" name="">
            <a:extLst xmlns:a="http://schemas.openxmlformats.org/drawingml/2006/main">
              <a:ext uri="{FF2B5EF4-FFF2-40B4-BE49-F238E27FC236}">
                <a16:creationId xmlns:a16="http://schemas.microsoft.com/office/drawing/2014/main" id="{C6413768-BF30-476B-A1CD-4FB3BE6D93A1}"/>
              </a:ext>
            </a:extLst>
          </p:cNvPr>
          <p:cNvSpPr>
            <a:spLocks xmlns:a="http://schemas.openxmlformats.org/drawingml/2006/main" noGrp="1"/>
          </p:cNvSpPr>
          <p:nvPr/>
        </p:nvSpPr>
        <p:spPr>
          <a:xfrm xmlns:a="http://schemas.openxmlformats.org/drawingml/2006/main">
            <a:off x="8715375" y="4752975"/>
            <a:ext cx="2590800"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6F766F"/>
                </a:solidFill>
                <a:latin typeface="Aptos"/>
                <a:ea typeface="Aptos"/>
                <a:cs typeface="Aptos"/>
              </a:defRPr>
            </a:pPr>
            <a:r>
              <a:rPr sz="975" b="0">
                <a:solidFill>
                  <a:srgbClr val="6F766F"/>
                </a:solidFill>
                <a:latin typeface="Aptos"/>
                <a:ea typeface="Aptos"/>
                <a:cs typeface="Aptos"/>
              </a:rPr>
              <a:t>Age 71; annual draw amount conflicts</a:t>
            </a:r>
          </a:p>
        </p:txBody>
      </p:sp>
      <p:sp>
        <p:nvSpPr>
          <p:cNvPr id="24" name="insight-row-end">
            <a:extLst xmlns:a="http://schemas.openxmlformats.org/drawingml/2006/main">
              <a:ext uri="{FF2B5EF4-FFF2-40B4-BE49-F238E27FC236}">
                <a16:creationId xmlns:a16="http://schemas.microsoft.com/office/drawing/2014/main" id="{C8ACE117-959E-41AB-A2C3-6AE5E901A4FB}"/>
              </a:ext>
            </a:extLst>
          </p:cNvPr>
          <p:cNvSpPr>
            <a:spLocks xmlns:a="http://schemas.openxmlformats.org/drawingml/2006/main" noGrp="1"/>
          </p:cNvSpPr>
          <p:nvPr/>
        </p:nvSpPr>
        <p:spPr>
          <a:xfrm xmlns:a="http://schemas.openxmlformats.org/drawingml/2006/main">
            <a:off x="609600" y="5715000"/>
            <a:ext cx="109728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25" name="insight-thesis">
            <a:extLst xmlns:a="http://schemas.openxmlformats.org/drawingml/2006/main">
              <a:ext uri="{FF2B5EF4-FFF2-40B4-BE49-F238E27FC236}">
                <a16:creationId xmlns:a16="http://schemas.microsoft.com/office/drawing/2014/main" id="{6AD3CD47-527A-4F1F-92D7-6A0C79BA91E7}"/>
              </a:ext>
            </a:extLst>
          </p:cNvPr>
          <p:cNvSpPr>
            <a:spLocks xmlns:a="http://schemas.openxmlformats.org/drawingml/2006/main" noGrp="1"/>
          </p:cNvSpPr>
          <p:nvPr/>
        </p:nvSpPr>
        <p:spPr>
          <a:xfrm xmlns:a="http://schemas.openxmlformats.org/drawingml/2006/main">
            <a:off x="609600" y="5915025"/>
            <a:ext cx="10972800" cy="400050"/>
          </a:xfrm>
          <a:prstGeom xmlns:a="http://schemas.openxmlformats.org/drawingml/2006/main" prst="rect">
            <a:avLst/>
          </a:prstGeom>
          <a:solidFill xmlns:a="http://schemas.openxmlformats.org/drawingml/2006/main">
            <a:srgbClr val="D9E6E1"/>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5D9E4941-4611-4AA0-8CA4-A5B6626B29CF}"/>
              </a:ext>
            </a:extLst>
          </p:cNvPr>
          <p:cNvSpPr>
            <a:spLocks xmlns:a="http://schemas.openxmlformats.org/drawingml/2006/main" noGrp="1"/>
          </p:cNvSpPr>
          <p:nvPr/>
        </p:nvSpPr>
        <p:spPr>
          <a:xfrm xmlns:a="http://schemas.openxmlformats.org/drawingml/2006/main">
            <a:off x="828675" y="5924550"/>
            <a:ext cx="105346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050" b="1">
                <a:solidFill>
                  <a:srgbClr val="2D5C56"/>
                </a:solidFill>
                <a:latin typeface="Aptos"/>
                <a:ea typeface="Aptos"/>
                <a:cs typeface="Aptos"/>
              </a:defRPr>
            </a:pPr>
            <a:r>
              <a:rPr sz="1050" b="1">
                <a:solidFill>
                  <a:srgbClr val="2D5C56"/>
                </a:solidFill>
                <a:latin typeface="Aptos"/>
                <a:ea typeface="Aptos"/>
                <a:cs typeface="Aptos"/>
              </a:rPr>
              <a:t>DECISION GAP = INTENT × LOOK-THROUGH RISK × FUTURE NEEDS × POLICY</a:t>
            </a:r>
          </a:p>
        </p:txBody>
      </p:sp>
      <p:sp>
        <p:nvSpPr>
          <p:cNvPr id="27" name="footer-rule-3">
            <a:extLst xmlns:a="http://schemas.openxmlformats.org/drawingml/2006/main">
              <a:ext uri="{FF2B5EF4-FFF2-40B4-BE49-F238E27FC236}">
                <a16:creationId xmlns:a16="http://schemas.microsoft.com/office/drawing/2014/main" id="{DD24355A-B026-4E62-B9F1-93597E51387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11302282-185F-45D4-A620-38B6083A6950}"/>
              </a:ext>
            </a:extLst>
          </p:cNvPr>
          <p:cNvSpPr>
            <a:spLocks xmlns:a="http://schemas.openxmlformats.org/drawingml/2006/main" noGrp="1"/>
          </p:cNvSpPr>
          <p:nvPr/>
        </p:nvSpPr>
        <p:spPr>
          <a:xfrm xmlns:a="http://schemas.openxmlformats.org/drawingml/2006/main">
            <a:off x="609600" y="6543675"/>
            <a:ext cx="942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0">
                <a:solidFill>
                  <a:srgbClr val="6F766F"/>
                </a:solidFill>
                <a:latin typeface="Aptos"/>
                <a:ea typeface="Aptos"/>
                <a:cs typeface="Aptos"/>
              </a:defRPr>
            </a:pPr>
            <a:r>
              <a:rPr sz="675" b="0">
                <a:solidFill>
                  <a:srgbClr val="6F766F"/>
                </a:solidFill>
                <a:latin typeface="Aptos"/>
                <a:ea typeface="Aptos"/>
                <a:cs typeface="Aptos"/>
              </a:rPr>
              <a:t>Source: TESSERA calculations from current holdings, instruments, facilities, cash needs and RM notes · 26 Aug 2026</a:t>
            </a:r>
          </a:p>
        </p:txBody>
      </p:sp>
      <p:sp>
        <p:nvSpPr>
          <p:cNvPr id="29" name="">
            <a:extLst xmlns:a="http://schemas.openxmlformats.org/drawingml/2006/main">
              <a:ext uri="{FF2B5EF4-FFF2-40B4-BE49-F238E27FC236}">
                <a16:creationId xmlns:a16="http://schemas.microsoft.com/office/drawing/2014/main" id="{167E86D8-1ED3-458C-960B-B5431C47C377}"/>
              </a:ext>
            </a:extLst>
          </p:cNvPr>
          <p:cNvSpPr>
            <a:spLocks xmlns:a="http://schemas.openxmlformats.org/drawingml/2006/main" noGrp="1"/>
          </p:cNvSpPr>
          <p:nvPr/>
        </p:nvSpPr>
        <p:spPr>
          <a:xfrm xmlns:a="http://schemas.openxmlformats.org/drawingml/2006/main">
            <a:off x="10991850" y="65341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2D5C56"/>
                </a:solidFill>
                <a:latin typeface="Aptos Mono"/>
                <a:ea typeface="Aptos Mono"/>
                <a:cs typeface="Aptos Mono"/>
              </a:defRPr>
            </a:pPr>
            <a:r>
              <a:rPr sz="750" b="1">
                <a:solidFill>
                  <a:srgbClr val="2D5C56"/>
                </a:solidFill>
                <a:latin typeface="Aptos Mono"/>
                <a:ea typeface="Aptos Mono"/>
                <a:cs typeface="Aptos Mono"/>
              </a:rPr>
              <a:t>02</a:t>
            </a:r>
          </a:p>
        </p:txBody>
      </p:sp>
    </p:spTree>
    <p:extLst>
      <p:ext uri="{BB962C8B-B14F-4D97-AF65-F5344CB8AC3E}">
        <p14:creationId xmlns:p14="http://schemas.microsoft.com/office/powerpoint/2010/main" val="75730030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071CA4EA-9B88-4567-B1AA-E52DC962761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01E"/>
          </a:solidFill>
          <a:ln xmlns:a="http://schemas.openxmlformats.org/drawingml/2006/main" w="0">
            <a:solidFill>
              <a:srgbClr val="000000">
                <a:alpha val="0"/>
              </a:srgbClr>
            </a:solidFill>
            <a:prstDash val="solid"/>
          </a:ln>
        </p:spPr>
      </p:sp>
      <p:sp>
        <p:nvSpPr>
          <p:cNvPr id="2" name="kicker-04-marker">
            <a:extLst xmlns:a="http://schemas.openxmlformats.org/drawingml/2006/main">
              <a:ext uri="{FF2B5EF4-FFF2-40B4-BE49-F238E27FC236}">
                <a16:creationId xmlns:a16="http://schemas.microsoft.com/office/drawing/2014/main" id="{98746219-F6F0-4EE9-996A-6B642993602A}"/>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kicker-04-label">
            <a:extLst xmlns:a="http://schemas.openxmlformats.org/drawingml/2006/main">
              <a:ext uri="{FF2B5EF4-FFF2-40B4-BE49-F238E27FC236}">
                <a16:creationId xmlns:a16="http://schemas.microsoft.com/office/drawing/2014/main" id="{DC94D835-2461-4F0D-B971-AB44D647315C}"/>
              </a:ext>
            </a:extLst>
          </p:cNvPr>
          <p:cNvSpPr>
            <a:spLocks xmlns:a="http://schemas.openxmlformats.org/drawingml/2006/main" noGrp="1"/>
          </p:cNvSpPr>
          <p:nvPr/>
        </p:nvSpPr>
        <p:spPr>
          <a:xfrm xmlns:a="http://schemas.openxmlformats.org/drawingml/2006/main">
            <a:off x="781050" y="371475"/>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E7D6B5"/>
                </a:solidFill>
                <a:latin typeface="Aptos"/>
                <a:ea typeface="Aptos"/>
                <a:cs typeface="Aptos"/>
              </a:defRPr>
            </a:pPr>
            <a:r>
              <a:rPr sz="825" b="1">
                <a:solidFill>
                  <a:srgbClr val="E7D6B5"/>
                </a:solidFill>
                <a:latin typeface="Aptos"/>
                <a:ea typeface="Aptos"/>
                <a:cs typeface="Aptos"/>
              </a:rPr>
              <a:t>THE TESSERA SYSTEM</a:t>
            </a:r>
          </a:p>
        </p:txBody>
      </p:sp>
      <p:sp>
        <p:nvSpPr>
          <p:cNvPr id="4" name="">
            <a:extLst xmlns:a="http://schemas.openxmlformats.org/drawingml/2006/main">
              <a:ext uri="{FF2B5EF4-FFF2-40B4-BE49-F238E27FC236}">
                <a16:creationId xmlns:a16="http://schemas.microsoft.com/office/drawing/2014/main" id="{A5FF8A1D-E881-4571-860A-BDB464DA558C}"/>
              </a:ext>
            </a:extLst>
          </p:cNvPr>
          <p:cNvSpPr>
            <a:spLocks xmlns:a="http://schemas.openxmlformats.org/drawingml/2006/main" noGrp="1"/>
          </p:cNvSpPr>
          <p:nvPr/>
        </p:nvSpPr>
        <p:spPr>
          <a:xfrm xmlns:a="http://schemas.openxmlformats.org/drawingml/2006/main">
            <a:off x="609600" y="685800"/>
            <a:ext cx="101917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000" b="0">
                <a:solidFill>
                  <a:srgbClr val="FFFFFF"/>
                </a:solidFill>
                <a:latin typeface="Georgia"/>
                <a:ea typeface="Georgia"/>
                <a:cs typeface="Georgia"/>
              </a:defRPr>
            </a:pPr>
            <a:r>
              <a:rPr sz="3000" b="0">
                <a:solidFill>
                  <a:srgbClr val="FFFFFF"/>
                </a:solidFill>
                <a:latin typeface="Georgia"/>
                <a:ea typeface="Georgia"/>
                <a:cs typeface="Georgia"/>
              </a:rPr>
              <a:t>Time, context and policy become one RM-controlled decision loop.</a:t>
            </a:r>
          </a:p>
        </p:txBody>
      </p:sp>
      <p:sp>
        <p:nvSpPr>
          <p:cNvPr id="5" name="">
            <a:extLst xmlns:a="http://schemas.openxmlformats.org/drawingml/2006/main">
              <a:ext uri="{FF2B5EF4-FFF2-40B4-BE49-F238E27FC236}">
                <a16:creationId xmlns:a16="http://schemas.microsoft.com/office/drawing/2014/main" id="{A3D04813-B9BB-4EF3-964C-DE17C2D1DAB0}"/>
              </a:ext>
            </a:extLst>
          </p:cNvPr>
          <p:cNvSpPr>
            <a:spLocks xmlns:a="http://schemas.openxmlformats.org/drawingml/2006/main" noGrp="1"/>
          </p:cNvSpPr>
          <p:nvPr/>
        </p:nvSpPr>
        <p:spPr>
          <a:xfrm xmlns:a="http://schemas.openxmlformats.org/drawingml/2006/main">
            <a:off x="609600" y="1657350"/>
            <a:ext cx="8572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B8C3BF"/>
                </a:solidFill>
                <a:latin typeface="Aptos"/>
                <a:ea typeface="Aptos"/>
                <a:cs typeface="Aptos"/>
              </a:defRPr>
            </a:pPr>
            <a:r>
              <a:rPr sz="1200" b="0">
                <a:solidFill>
                  <a:srgbClr val="B8C3BF"/>
                </a:solidFill>
                <a:latin typeface="Aptos"/>
                <a:ea typeface="Aptos"/>
                <a:cs typeface="Aptos"/>
              </a:rPr>
              <a:t>Four questions organize the product; one evidence passport travels with every answer.</a:t>
            </a:r>
          </a:p>
        </p:txBody>
      </p:sp>
      <p:sp>
        <p:nvSpPr>
          <p:cNvPr id="6" name="platform-spine">
            <a:extLst xmlns:a="http://schemas.openxmlformats.org/drawingml/2006/main">
              <a:ext uri="{FF2B5EF4-FFF2-40B4-BE49-F238E27FC236}">
                <a16:creationId xmlns:a16="http://schemas.microsoft.com/office/drawing/2014/main" id="{68B440DA-5F6F-4A6A-BB7A-D5CC7B46AD3E}"/>
              </a:ext>
            </a:extLst>
          </p:cNvPr>
          <p:cNvSpPr>
            <a:spLocks xmlns:a="http://schemas.openxmlformats.org/drawingml/2006/main" noGrp="1"/>
          </p:cNvSpPr>
          <p:nvPr/>
        </p:nvSpPr>
        <p:spPr>
          <a:xfrm xmlns:a="http://schemas.openxmlformats.org/drawingml/2006/main">
            <a:off x="1047750" y="4371975"/>
            <a:ext cx="9715500" cy="190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7" name="node-1">
            <a:extLst xmlns:a="http://schemas.openxmlformats.org/drawingml/2006/main">
              <a:ext uri="{FF2B5EF4-FFF2-40B4-BE49-F238E27FC236}">
                <a16:creationId xmlns:a16="http://schemas.microsoft.com/office/drawing/2014/main" id="{22D0137D-DB39-4980-A2D7-854D36109C4A}"/>
              </a:ext>
            </a:extLst>
          </p:cNvPr>
          <p:cNvSpPr>
            <a:spLocks xmlns:a="http://schemas.openxmlformats.org/drawingml/2006/main" noGrp="1"/>
          </p:cNvSpPr>
          <p:nvPr/>
        </p:nvSpPr>
        <p:spPr>
          <a:xfrm xmlns:a="http://schemas.openxmlformats.org/drawingml/2006/main">
            <a:off x="609600" y="2095500"/>
            <a:ext cx="2228850" cy="209550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8" name="">
            <a:extLst xmlns:a="http://schemas.openxmlformats.org/drawingml/2006/main">
              <a:ext uri="{FF2B5EF4-FFF2-40B4-BE49-F238E27FC236}">
                <a16:creationId xmlns:a16="http://schemas.microsoft.com/office/drawing/2014/main" id="{71293C7B-CB40-4444-8565-2F2392AD9460}"/>
              </a:ext>
            </a:extLst>
          </p:cNvPr>
          <p:cNvSpPr>
            <a:spLocks xmlns:a="http://schemas.openxmlformats.org/drawingml/2006/main" noGrp="1"/>
          </p:cNvSpPr>
          <p:nvPr/>
        </p:nvSpPr>
        <p:spPr>
          <a:xfrm xmlns:a="http://schemas.openxmlformats.org/drawingml/2006/main">
            <a:off x="762000" y="2219325"/>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01</a:t>
            </a:r>
          </a:p>
        </p:txBody>
      </p:sp>
      <p:sp>
        <p:nvSpPr>
          <p:cNvPr id="9" name="">
            <a:extLst xmlns:a="http://schemas.openxmlformats.org/drawingml/2006/main">
              <a:ext uri="{FF2B5EF4-FFF2-40B4-BE49-F238E27FC236}">
                <a16:creationId xmlns:a16="http://schemas.microsoft.com/office/drawing/2014/main" id="{4ACE4299-3DD2-4959-A260-54737ACDABFC}"/>
              </a:ext>
            </a:extLst>
          </p:cNvPr>
          <p:cNvSpPr>
            <a:spLocks xmlns:a="http://schemas.openxmlformats.org/drawingml/2006/main" noGrp="1"/>
          </p:cNvSpPr>
          <p:nvPr/>
        </p:nvSpPr>
        <p:spPr>
          <a:xfrm xmlns:a="http://schemas.openxmlformats.org/drawingml/2006/main">
            <a:off x="762000" y="2476500"/>
            <a:ext cx="19240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WHAT HAPPENED</a:t>
            </a:r>
          </a:p>
        </p:txBody>
      </p:sp>
      <p:sp>
        <p:nvSpPr>
          <p:cNvPr id="10" name="">
            <a:extLst xmlns:a="http://schemas.openxmlformats.org/drawingml/2006/main">
              <a:ext uri="{FF2B5EF4-FFF2-40B4-BE49-F238E27FC236}">
                <a16:creationId xmlns:a16="http://schemas.microsoft.com/office/drawing/2014/main" id="{17EE153A-3440-47EA-87BE-B4C087A34CD8}"/>
              </a:ext>
            </a:extLst>
          </p:cNvPr>
          <p:cNvSpPr>
            <a:spLocks xmlns:a="http://schemas.openxmlformats.org/drawingml/2006/main" noGrp="1"/>
          </p:cNvSpPr>
          <p:nvPr/>
        </p:nvSpPr>
        <p:spPr>
          <a:xfrm xmlns:a="http://schemas.openxmlformats.org/drawingml/2006/main">
            <a:off x="762000" y="3028950"/>
            <a:ext cx="192405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Replay five snapshots; separate value path from performance; link only controlled events.</a:t>
            </a:r>
          </a:p>
        </p:txBody>
      </p:sp>
      <p:sp>
        <p:nvSpPr>
          <p:cNvPr id="11" name="platform-marker-1">
            <a:extLst xmlns:a="http://schemas.openxmlformats.org/drawingml/2006/main">
              <a:ext uri="{FF2B5EF4-FFF2-40B4-BE49-F238E27FC236}">
                <a16:creationId xmlns:a16="http://schemas.microsoft.com/office/drawing/2014/main" id="{611042D5-31C4-4555-A998-85D82750721E}"/>
              </a:ext>
            </a:extLst>
          </p:cNvPr>
          <p:cNvSpPr>
            <a:spLocks xmlns:a="http://schemas.openxmlformats.org/drawingml/2006/main" noGrp="1"/>
          </p:cNvSpPr>
          <p:nvPr/>
        </p:nvSpPr>
        <p:spPr>
          <a:xfrm xmlns:a="http://schemas.openxmlformats.org/drawingml/2006/main">
            <a:off x="1504950" y="4210050"/>
            <a:ext cx="323850" cy="323850"/>
          </a:xfrm>
          <a:prstGeom xmlns:a="http://schemas.openxmlformats.org/drawingml/2006/main" prst="ellipse">
            <a:avLst/>
          </a:prstGeom>
          <a:solidFill xmlns:a="http://schemas.openxmlformats.org/drawingml/2006/main">
            <a:srgbClr val="B78F50"/>
          </a:solidFill>
          <a:ln xmlns:a="http://schemas.openxmlformats.org/drawingml/2006/main" w="0">
            <a:solidFill>
              <a:srgbClr val="B78F50"/>
            </a:solidFill>
            <a:prstDash val="solid"/>
          </a:ln>
        </p:spPr>
      </p:sp>
      <p:sp>
        <p:nvSpPr>
          <p:cNvPr id="12" name="platform-marker-label-1">
            <a:extLst xmlns:a="http://schemas.openxmlformats.org/drawingml/2006/main">
              <a:ext uri="{FF2B5EF4-FFF2-40B4-BE49-F238E27FC236}">
                <a16:creationId xmlns:a16="http://schemas.microsoft.com/office/drawing/2014/main" id="{BEB12A08-B936-4864-BA1E-58EB3CF00ECD}"/>
              </a:ext>
            </a:extLst>
          </p:cNvPr>
          <p:cNvSpPr>
            <a:spLocks xmlns:a="http://schemas.openxmlformats.org/drawingml/2006/main" noGrp="1"/>
          </p:cNvSpPr>
          <p:nvPr/>
        </p:nvSpPr>
        <p:spPr>
          <a:xfrm xmlns:a="http://schemas.openxmlformats.org/drawingml/2006/main">
            <a:off x="1504950" y="4219575"/>
            <a:ext cx="3238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1</a:t>
            </a:r>
          </a:p>
        </p:txBody>
      </p:sp>
      <p:sp>
        <p:nvSpPr>
          <p:cNvPr id="13" name="node-2">
            <a:extLst xmlns:a="http://schemas.openxmlformats.org/drawingml/2006/main">
              <a:ext uri="{FF2B5EF4-FFF2-40B4-BE49-F238E27FC236}">
                <a16:creationId xmlns:a16="http://schemas.microsoft.com/office/drawing/2014/main" id="{B48F23F6-7765-4B7D-A5B9-697F2A69D04E}"/>
              </a:ext>
            </a:extLst>
          </p:cNvPr>
          <p:cNvSpPr>
            <a:spLocks xmlns:a="http://schemas.openxmlformats.org/drawingml/2006/main" noGrp="1"/>
          </p:cNvSpPr>
          <p:nvPr/>
        </p:nvSpPr>
        <p:spPr>
          <a:xfrm xmlns:a="http://schemas.openxmlformats.org/drawingml/2006/main">
            <a:off x="3524250" y="2095500"/>
            <a:ext cx="2228850" cy="209550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14" name="">
            <a:extLst xmlns:a="http://schemas.openxmlformats.org/drawingml/2006/main">
              <a:ext uri="{FF2B5EF4-FFF2-40B4-BE49-F238E27FC236}">
                <a16:creationId xmlns:a16="http://schemas.microsoft.com/office/drawing/2014/main" id="{402A6F48-7C03-4D2A-B91A-D2BFCCA0C690}"/>
              </a:ext>
            </a:extLst>
          </p:cNvPr>
          <p:cNvSpPr>
            <a:spLocks xmlns:a="http://schemas.openxmlformats.org/drawingml/2006/main" noGrp="1"/>
          </p:cNvSpPr>
          <p:nvPr/>
        </p:nvSpPr>
        <p:spPr>
          <a:xfrm xmlns:a="http://schemas.openxmlformats.org/drawingml/2006/main">
            <a:off x="3676650" y="2219325"/>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02</a:t>
            </a:r>
          </a:p>
        </p:txBody>
      </p:sp>
      <p:sp>
        <p:nvSpPr>
          <p:cNvPr id="15" name="">
            <a:extLst xmlns:a="http://schemas.openxmlformats.org/drawingml/2006/main">
              <a:ext uri="{FF2B5EF4-FFF2-40B4-BE49-F238E27FC236}">
                <a16:creationId xmlns:a16="http://schemas.microsoft.com/office/drawing/2014/main" id="{D95BB511-8739-426E-A220-948FB0602048}"/>
              </a:ext>
            </a:extLst>
          </p:cNvPr>
          <p:cNvSpPr>
            <a:spLocks xmlns:a="http://schemas.openxmlformats.org/drawingml/2006/main" noGrp="1"/>
          </p:cNvSpPr>
          <p:nvPr/>
        </p:nvSpPr>
        <p:spPr>
          <a:xfrm xmlns:a="http://schemas.openxmlformats.org/drawingml/2006/main">
            <a:off x="3676650" y="2476500"/>
            <a:ext cx="19240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WHAT COULD HAPPEN</a:t>
            </a:r>
          </a:p>
        </p:txBody>
      </p:sp>
      <p:sp>
        <p:nvSpPr>
          <p:cNvPr id="16" name="">
            <a:extLst xmlns:a="http://schemas.openxmlformats.org/drawingml/2006/main">
              <a:ext uri="{FF2B5EF4-FFF2-40B4-BE49-F238E27FC236}">
                <a16:creationId xmlns:a16="http://schemas.microsoft.com/office/drawing/2014/main" id="{D1A74DB3-F482-4B11-B394-98F2414AF391}"/>
              </a:ext>
            </a:extLst>
          </p:cNvPr>
          <p:cNvSpPr>
            <a:spLocks xmlns:a="http://schemas.openxmlformats.org/drawingml/2006/main" noGrp="1"/>
          </p:cNvSpPr>
          <p:nvPr/>
        </p:nvSpPr>
        <p:spPr>
          <a:xfrm xmlns:a="http://schemas.openxmlformats.org/drawingml/2006/main">
            <a:off x="3676650" y="3028950"/>
            <a:ext cx="192405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Look through instruments; expose assumptions; rehearse both sides of a scenario.</a:t>
            </a:r>
          </a:p>
        </p:txBody>
      </p:sp>
      <p:sp>
        <p:nvSpPr>
          <p:cNvPr id="17" name="platform-marker-2">
            <a:extLst xmlns:a="http://schemas.openxmlformats.org/drawingml/2006/main">
              <a:ext uri="{FF2B5EF4-FFF2-40B4-BE49-F238E27FC236}">
                <a16:creationId xmlns:a16="http://schemas.microsoft.com/office/drawing/2014/main" id="{6F2722CC-3BF4-4831-83A0-D57F73F2018A}"/>
              </a:ext>
            </a:extLst>
          </p:cNvPr>
          <p:cNvSpPr>
            <a:spLocks xmlns:a="http://schemas.openxmlformats.org/drawingml/2006/main" noGrp="1"/>
          </p:cNvSpPr>
          <p:nvPr/>
        </p:nvSpPr>
        <p:spPr>
          <a:xfrm xmlns:a="http://schemas.openxmlformats.org/drawingml/2006/main">
            <a:off x="4419600" y="4210050"/>
            <a:ext cx="323850" cy="323850"/>
          </a:xfrm>
          <a:prstGeom xmlns:a="http://schemas.openxmlformats.org/drawingml/2006/main" prst="ellipse">
            <a:avLst/>
          </a:prstGeom>
          <a:solidFill xmlns:a="http://schemas.openxmlformats.org/drawingml/2006/main">
            <a:srgbClr val="B78F50"/>
          </a:solidFill>
          <a:ln xmlns:a="http://schemas.openxmlformats.org/drawingml/2006/main" w="0">
            <a:solidFill>
              <a:srgbClr val="B78F50"/>
            </a:solidFill>
            <a:prstDash val="solid"/>
          </a:ln>
        </p:spPr>
      </p:sp>
      <p:sp>
        <p:nvSpPr>
          <p:cNvPr id="18" name="platform-marker-label-2">
            <a:extLst xmlns:a="http://schemas.openxmlformats.org/drawingml/2006/main">
              <a:ext uri="{FF2B5EF4-FFF2-40B4-BE49-F238E27FC236}">
                <a16:creationId xmlns:a16="http://schemas.microsoft.com/office/drawing/2014/main" id="{621C09AE-7FC9-4B5E-9C97-5FB0E5FC47AE}"/>
              </a:ext>
            </a:extLst>
          </p:cNvPr>
          <p:cNvSpPr>
            <a:spLocks xmlns:a="http://schemas.openxmlformats.org/drawingml/2006/main" noGrp="1"/>
          </p:cNvSpPr>
          <p:nvPr/>
        </p:nvSpPr>
        <p:spPr>
          <a:xfrm xmlns:a="http://schemas.openxmlformats.org/drawingml/2006/main">
            <a:off x="4419600" y="4219575"/>
            <a:ext cx="3238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2</a:t>
            </a:r>
          </a:p>
        </p:txBody>
      </p:sp>
      <p:sp>
        <p:nvSpPr>
          <p:cNvPr id="19" name="node-3">
            <a:extLst xmlns:a="http://schemas.openxmlformats.org/drawingml/2006/main">
              <a:ext uri="{FF2B5EF4-FFF2-40B4-BE49-F238E27FC236}">
                <a16:creationId xmlns:a16="http://schemas.microsoft.com/office/drawing/2014/main" id="{50FA4B8B-6BEC-4EA4-AFBA-BC86E9464302}"/>
              </a:ext>
            </a:extLst>
          </p:cNvPr>
          <p:cNvSpPr>
            <a:spLocks xmlns:a="http://schemas.openxmlformats.org/drawingml/2006/main" noGrp="1"/>
          </p:cNvSpPr>
          <p:nvPr/>
        </p:nvSpPr>
        <p:spPr>
          <a:xfrm xmlns:a="http://schemas.openxmlformats.org/drawingml/2006/main">
            <a:off x="6438900" y="2095500"/>
            <a:ext cx="2228850" cy="209550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20" name="">
            <a:extLst xmlns:a="http://schemas.openxmlformats.org/drawingml/2006/main">
              <a:ext uri="{FF2B5EF4-FFF2-40B4-BE49-F238E27FC236}">
                <a16:creationId xmlns:a16="http://schemas.microsoft.com/office/drawing/2014/main" id="{78BDBD77-5D9A-46C9-8067-BD5C69960178}"/>
              </a:ext>
            </a:extLst>
          </p:cNvPr>
          <p:cNvSpPr>
            <a:spLocks xmlns:a="http://schemas.openxmlformats.org/drawingml/2006/main" noGrp="1"/>
          </p:cNvSpPr>
          <p:nvPr/>
        </p:nvSpPr>
        <p:spPr>
          <a:xfrm xmlns:a="http://schemas.openxmlformats.org/drawingml/2006/main">
            <a:off x="6591300" y="2219325"/>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03</a:t>
            </a:r>
          </a:p>
        </p:txBody>
      </p:sp>
      <p:sp>
        <p:nvSpPr>
          <p:cNvPr id="21" name="">
            <a:extLst xmlns:a="http://schemas.openxmlformats.org/drawingml/2006/main">
              <a:ext uri="{FF2B5EF4-FFF2-40B4-BE49-F238E27FC236}">
                <a16:creationId xmlns:a16="http://schemas.microsoft.com/office/drawing/2014/main" id="{F0464D5A-D8F0-4F17-8849-2F6755AAF96A}"/>
              </a:ext>
            </a:extLst>
          </p:cNvPr>
          <p:cNvSpPr>
            <a:spLocks xmlns:a="http://schemas.openxmlformats.org/drawingml/2006/main" noGrp="1"/>
          </p:cNvSpPr>
          <p:nvPr/>
        </p:nvSpPr>
        <p:spPr>
          <a:xfrm xmlns:a="http://schemas.openxmlformats.org/drawingml/2006/main">
            <a:off x="6591300" y="2476500"/>
            <a:ext cx="19240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WHAT SHOULD WE CONSIDER</a:t>
            </a:r>
          </a:p>
        </p:txBody>
      </p:sp>
      <p:sp>
        <p:nvSpPr>
          <p:cNvPr id="22" name="">
            <a:extLst xmlns:a="http://schemas.openxmlformats.org/drawingml/2006/main">
              <a:ext uri="{FF2B5EF4-FFF2-40B4-BE49-F238E27FC236}">
                <a16:creationId xmlns:a16="http://schemas.microsoft.com/office/drawing/2014/main" id="{6D2DC27C-69C9-4775-A68C-DE3A4D8841B3}"/>
              </a:ext>
            </a:extLst>
          </p:cNvPr>
          <p:cNvSpPr>
            <a:spLocks xmlns:a="http://schemas.openxmlformats.org/drawingml/2006/main" noGrp="1"/>
          </p:cNvSpPr>
          <p:nvPr/>
        </p:nvSpPr>
        <p:spPr>
          <a:xfrm xmlns:a="http://schemas.openxmlformats.org/drawingml/2006/main">
            <a:off x="6591300" y="3028950"/>
            <a:ext cx="192405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Compile reversible options after mandate, liquidity, credit and data checks.</a:t>
            </a:r>
          </a:p>
        </p:txBody>
      </p:sp>
      <p:sp>
        <p:nvSpPr>
          <p:cNvPr id="23" name="platform-marker-3">
            <a:extLst xmlns:a="http://schemas.openxmlformats.org/drawingml/2006/main">
              <a:ext uri="{FF2B5EF4-FFF2-40B4-BE49-F238E27FC236}">
                <a16:creationId xmlns:a16="http://schemas.microsoft.com/office/drawing/2014/main" id="{659367C1-E97C-4F51-A764-3C0820B39281}"/>
              </a:ext>
            </a:extLst>
          </p:cNvPr>
          <p:cNvSpPr>
            <a:spLocks xmlns:a="http://schemas.openxmlformats.org/drawingml/2006/main" noGrp="1"/>
          </p:cNvSpPr>
          <p:nvPr/>
        </p:nvSpPr>
        <p:spPr>
          <a:xfrm xmlns:a="http://schemas.openxmlformats.org/drawingml/2006/main">
            <a:off x="7334250" y="4210050"/>
            <a:ext cx="323850" cy="323850"/>
          </a:xfrm>
          <a:prstGeom xmlns:a="http://schemas.openxmlformats.org/drawingml/2006/main" prst="ellipse">
            <a:avLst/>
          </a:prstGeom>
          <a:solidFill xmlns:a="http://schemas.openxmlformats.org/drawingml/2006/main">
            <a:srgbClr val="B78F50"/>
          </a:solidFill>
          <a:ln xmlns:a="http://schemas.openxmlformats.org/drawingml/2006/main" w="0">
            <a:solidFill>
              <a:srgbClr val="B78F50"/>
            </a:solidFill>
            <a:prstDash val="solid"/>
          </a:ln>
        </p:spPr>
      </p:sp>
      <p:sp>
        <p:nvSpPr>
          <p:cNvPr id="24" name="platform-marker-label-3">
            <a:extLst xmlns:a="http://schemas.openxmlformats.org/drawingml/2006/main">
              <a:ext uri="{FF2B5EF4-FFF2-40B4-BE49-F238E27FC236}">
                <a16:creationId xmlns:a16="http://schemas.microsoft.com/office/drawing/2014/main" id="{34F1CFB6-16BD-4B6D-A812-03C95123F22C}"/>
              </a:ext>
            </a:extLst>
          </p:cNvPr>
          <p:cNvSpPr>
            <a:spLocks xmlns:a="http://schemas.openxmlformats.org/drawingml/2006/main" noGrp="1"/>
          </p:cNvSpPr>
          <p:nvPr/>
        </p:nvSpPr>
        <p:spPr>
          <a:xfrm xmlns:a="http://schemas.openxmlformats.org/drawingml/2006/main">
            <a:off x="7334250" y="4219575"/>
            <a:ext cx="3238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3</a:t>
            </a:r>
          </a:p>
        </p:txBody>
      </p:sp>
      <p:sp>
        <p:nvSpPr>
          <p:cNvPr id="25" name="node-4">
            <a:extLst xmlns:a="http://schemas.openxmlformats.org/drawingml/2006/main">
              <a:ext uri="{FF2B5EF4-FFF2-40B4-BE49-F238E27FC236}">
                <a16:creationId xmlns:a16="http://schemas.microsoft.com/office/drawing/2014/main" id="{9920F9AE-CD50-4FE5-8C9E-454D722F05F9}"/>
              </a:ext>
            </a:extLst>
          </p:cNvPr>
          <p:cNvSpPr>
            <a:spLocks xmlns:a="http://schemas.openxmlformats.org/drawingml/2006/main" noGrp="1"/>
          </p:cNvSpPr>
          <p:nvPr/>
        </p:nvSpPr>
        <p:spPr>
          <a:xfrm xmlns:a="http://schemas.openxmlformats.org/drawingml/2006/main">
            <a:off x="9353550" y="2095500"/>
            <a:ext cx="2228850" cy="209550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26" name="">
            <a:extLst xmlns:a="http://schemas.openxmlformats.org/drawingml/2006/main">
              <a:ext uri="{FF2B5EF4-FFF2-40B4-BE49-F238E27FC236}">
                <a16:creationId xmlns:a16="http://schemas.microsoft.com/office/drawing/2014/main" id="{BF82EA6C-5B36-47BC-90B9-A706A1FD08E2}"/>
              </a:ext>
            </a:extLst>
          </p:cNvPr>
          <p:cNvSpPr>
            <a:spLocks xmlns:a="http://schemas.openxmlformats.org/drawingml/2006/main" noGrp="1"/>
          </p:cNvSpPr>
          <p:nvPr/>
        </p:nvSpPr>
        <p:spPr>
          <a:xfrm xmlns:a="http://schemas.openxmlformats.org/drawingml/2006/main">
            <a:off x="9505950" y="2219325"/>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04</a:t>
            </a:r>
          </a:p>
        </p:txBody>
      </p:sp>
      <p:sp>
        <p:nvSpPr>
          <p:cNvPr id="27" name="">
            <a:extLst xmlns:a="http://schemas.openxmlformats.org/drawingml/2006/main">
              <a:ext uri="{FF2B5EF4-FFF2-40B4-BE49-F238E27FC236}">
                <a16:creationId xmlns:a16="http://schemas.microsoft.com/office/drawing/2014/main" id="{CEF6BFDD-3DB1-40B5-A1B2-5FCC029003CC}"/>
              </a:ext>
            </a:extLst>
          </p:cNvPr>
          <p:cNvSpPr>
            <a:spLocks xmlns:a="http://schemas.openxmlformats.org/drawingml/2006/main" noGrp="1"/>
          </p:cNvSpPr>
          <p:nvPr/>
        </p:nvSpPr>
        <p:spPr>
          <a:xfrm xmlns:a="http://schemas.openxmlformats.org/drawingml/2006/main">
            <a:off x="9505950" y="2476500"/>
            <a:ext cx="19240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WHAT WILL THE RM SAY</a:t>
            </a:r>
          </a:p>
        </p:txBody>
      </p:sp>
      <p:sp>
        <p:nvSpPr>
          <p:cNvPr id="28" name="">
            <a:extLst xmlns:a="http://schemas.openxmlformats.org/drawingml/2006/main">
              <a:ext uri="{FF2B5EF4-FFF2-40B4-BE49-F238E27FC236}">
                <a16:creationId xmlns:a16="http://schemas.microsoft.com/office/drawing/2014/main" id="{0E6BC811-8876-48CA-9985-24C25575BC77}"/>
              </a:ext>
            </a:extLst>
          </p:cNvPr>
          <p:cNvSpPr>
            <a:spLocks xmlns:a="http://schemas.openxmlformats.org/drawingml/2006/main" noGrp="1"/>
          </p:cNvSpPr>
          <p:nvPr/>
        </p:nvSpPr>
        <p:spPr>
          <a:xfrm xmlns:a="http://schemas.openxmlformats.org/drawingml/2006/main">
            <a:off x="9505950" y="3028950"/>
            <a:ext cx="192405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Draft the opening, proof, question and caveat; approve, edit or reject.</a:t>
            </a:r>
          </a:p>
        </p:txBody>
      </p:sp>
      <p:sp>
        <p:nvSpPr>
          <p:cNvPr id="29" name="platform-marker-4">
            <a:extLst xmlns:a="http://schemas.openxmlformats.org/drawingml/2006/main">
              <a:ext uri="{FF2B5EF4-FFF2-40B4-BE49-F238E27FC236}">
                <a16:creationId xmlns:a16="http://schemas.microsoft.com/office/drawing/2014/main" id="{08B911FC-815E-43AD-A669-75F8E2633A3A}"/>
              </a:ext>
            </a:extLst>
          </p:cNvPr>
          <p:cNvSpPr>
            <a:spLocks xmlns:a="http://schemas.openxmlformats.org/drawingml/2006/main" noGrp="1"/>
          </p:cNvSpPr>
          <p:nvPr/>
        </p:nvSpPr>
        <p:spPr>
          <a:xfrm xmlns:a="http://schemas.openxmlformats.org/drawingml/2006/main">
            <a:off x="10248900" y="4210050"/>
            <a:ext cx="323850" cy="323850"/>
          </a:xfrm>
          <a:prstGeom xmlns:a="http://schemas.openxmlformats.org/drawingml/2006/main" prst="ellipse">
            <a:avLst/>
          </a:prstGeom>
          <a:solidFill xmlns:a="http://schemas.openxmlformats.org/drawingml/2006/main">
            <a:srgbClr val="B78F50"/>
          </a:solidFill>
          <a:ln xmlns:a="http://schemas.openxmlformats.org/drawingml/2006/main" w="0">
            <a:solidFill>
              <a:srgbClr val="B78F50"/>
            </a:solidFill>
            <a:prstDash val="solid"/>
          </a:ln>
        </p:spPr>
      </p:sp>
      <p:sp>
        <p:nvSpPr>
          <p:cNvPr id="30" name="platform-marker-label-4">
            <a:extLst xmlns:a="http://schemas.openxmlformats.org/drawingml/2006/main">
              <a:ext uri="{FF2B5EF4-FFF2-40B4-BE49-F238E27FC236}">
                <a16:creationId xmlns:a16="http://schemas.microsoft.com/office/drawing/2014/main" id="{2958E836-D500-42BD-8CDB-E5DF7837BB58}"/>
              </a:ext>
            </a:extLst>
          </p:cNvPr>
          <p:cNvSpPr>
            <a:spLocks xmlns:a="http://schemas.openxmlformats.org/drawingml/2006/main" noGrp="1"/>
          </p:cNvSpPr>
          <p:nvPr/>
        </p:nvSpPr>
        <p:spPr>
          <a:xfrm xmlns:a="http://schemas.openxmlformats.org/drawingml/2006/main">
            <a:off x="10248900" y="4219575"/>
            <a:ext cx="3238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4</a:t>
            </a:r>
          </a:p>
        </p:txBody>
      </p:sp>
      <p:sp>
        <p:nvSpPr>
          <p:cNvPr id="31" name="governance-rail">
            <a:extLst xmlns:a="http://schemas.openxmlformats.org/drawingml/2006/main">
              <a:ext uri="{FF2B5EF4-FFF2-40B4-BE49-F238E27FC236}">
                <a16:creationId xmlns:a16="http://schemas.microsoft.com/office/drawing/2014/main" id="{F6036B4A-C74B-41C8-B672-0B70E0571906}"/>
              </a:ext>
            </a:extLst>
          </p:cNvPr>
          <p:cNvSpPr>
            <a:spLocks xmlns:a="http://schemas.openxmlformats.org/drawingml/2006/main" noGrp="1"/>
          </p:cNvSpPr>
          <p:nvPr/>
        </p:nvSpPr>
        <p:spPr>
          <a:xfrm xmlns:a="http://schemas.openxmlformats.org/drawingml/2006/main">
            <a:off x="609600" y="4686300"/>
            <a:ext cx="10972800" cy="1095375"/>
          </a:xfrm>
          <a:prstGeom xmlns:a="http://schemas.openxmlformats.org/drawingml/2006/main" prst="rect">
            <a:avLst/>
          </a:prstGeom>
          <a:solidFill xmlns:a="http://schemas.openxmlformats.org/drawingml/2006/main">
            <a:srgbClr val="FBF9F4"/>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C8ECBBAF-D328-4458-BACA-4DDC55262413}"/>
              </a:ext>
            </a:extLst>
          </p:cNvPr>
          <p:cNvSpPr>
            <a:spLocks xmlns:a="http://schemas.openxmlformats.org/drawingml/2006/main" noGrp="1"/>
          </p:cNvSpPr>
          <p:nvPr/>
        </p:nvSpPr>
        <p:spPr>
          <a:xfrm xmlns:a="http://schemas.openxmlformats.org/drawingml/2006/main">
            <a:off x="838200" y="4857750"/>
            <a:ext cx="1905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1">
                <a:solidFill>
                  <a:srgbClr val="2D5C56"/>
                </a:solidFill>
                <a:latin typeface="Aptos"/>
                <a:ea typeface="Aptos"/>
                <a:cs typeface="Aptos"/>
              </a:defRPr>
            </a:pPr>
            <a:r>
              <a:rPr sz="825" b="1">
                <a:solidFill>
                  <a:srgbClr val="2D5C56"/>
                </a:solidFill>
                <a:latin typeface="Aptos"/>
                <a:ea typeface="Aptos"/>
                <a:cs typeface="Aptos"/>
              </a:rPr>
              <a:t>EVIDENCE PASSPORT</a:t>
            </a:r>
          </a:p>
        </p:txBody>
      </p:sp>
      <p:sp>
        <p:nvSpPr>
          <p:cNvPr id="33" name="">
            <a:extLst xmlns:a="http://schemas.openxmlformats.org/drawingml/2006/main">
              <a:ext uri="{FF2B5EF4-FFF2-40B4-BE49-F238E27FC236}">
                <a16:creationId xmlns:a16="http://schemas.microsoft.com/office/drawing/2014/main" id="{FD767CD8-6887-4DD2-9BF5-6586741E1282}"/>
              </a:ext>
            </a:extLst>
          </p:cNvPr>
          <p:cNvSpPr>
            <a:spLocks xmlns:a="http://schemas.openxmlformats.org/drawingml/2006/main" noGrp="1"/>
          </p:cNvSpPr>
          <p:nvPr/>
        </p:nvSpPr>
        <p:spPr>
          <a:xfrm xmlns:a="http://schemas.openxmlformats.org/drawingml/2006/main">
            <a:off x="838200" y="5257800"/>
            <a:ext cx="171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Source row + as-of date</a:t>
            </a:r>
          </a:p>
        </p:txBody>
      </p:sp>
      <p:sp>
        <p:nvSpPr>
          <p:cNvPr id="34" name="">
            <a:extLst xmlns:a="http://schemas.openxmlformats.org/drawingml/2006/main">
              <a:ext uri="{FF2B5EF4-FFF2-40B4-BE49-F238E27FC236}">
                <a16:creationId xmlns:a16="http://schemas.microsoft.com/office/drawing/2014/main" id="{E5F9FAC3-4F89-476B-B11A-941CCBA7DBB4}"/>
              </a:ext>
            </a:extLst>
          </p:cNvPr>
          <p:cNvSpPr>
            <a:spLocks xmlns:a="http://schemas.openxmlformats.org/drawingml/2006/main" noGrp="1"/>
          </p:cNvSpPr>
          <p:nvPr/>
        </p:nvSpPr>
        <p:spPr>
          <a:xfrm xmlns:a="http://schemas.openxmlformats.org/drawingml/2006/main">
            <a:off x="3162300" y="5257800"/>
            <a:ext cx="1809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Authority + confidence</a:t>
            </a:r>
          </a:p>
        </p:txBody>
      </p:sp>
      <p:sp>
        <p:nvSpPr>
          <p:cNvPr id="35" name="">
            <a:extLst xmlns:a="http://schemas.openxmlformats.org/drawingml/2006/main">
              <a:ext uri="{FF2B5EF4-FFF2-40B4-BE49-F238E27FC236}">
                <a16:creationId xmlns:a16="http://schemas.microsoft.com/office/drawing/2014/main" id="{90EA3E31-2398-4355-95C7-8DA0093F7588}"/>
              </a:ext>
            </a:extLst>
          </p:cNvPr>
          <p:cNvSpPr>
            <a:spLocks xmlns:a="http://schemas.openxmlformats.org/drawingml/2006/main" noGrp="1"/>
          </p:cNvSpPr>
          <p:nvPr/>
        </p:nvSpPr>
        <p:spPr>
          <a:xfrm xmlns:a="http://schemas.openxmlformats.org/drawingml/2006/main">
            <a:off x="5572125" y="5257800"/>
            <a:ext cx="1809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Mandate + suitability</a:t>
            </a:r>
          </a:p>
        </p:txBody>
      </p:sp>
      <p:sp>
        <p:nvSpPr>
          <p:cNvPr id="36" name="">
            <a:extLst xmlns:a="http://schemas.openxmlformats.org/drawingml/2006/main">
              <a:ext uri="{FF2B5EF4-FFF2-40B4-BE49-F238E27FC236}">
                <a16:creationId xmlns:a16="http://schemas.microsoft.com/office/drawing/2014/main" id="{C002C3DE-7D5A-4B01-858B-9A0A13721410}"/>
              </a:ext>
            </a:extLst>
          </p:cNvPr>
          <p:cNvSpPr>
            <a:spLocks xmlns:a="http://schemas.openxmlformats.org/drawingml/2006/main" noGrp="1"/>
          </p:cNvSpPr>
          <p:nvPr/>
        </p:nvSpPr>
        <p:spPr>
          <a:xfrm xmlns:a="http://schemas.openxmlformats.org/drawingml/2006/main">
            <a:off x="7915275" y="5257800"/>
            <a:ext cx="171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Scenario assumptions</a:t>
            </a:r>
          </a:p>
        </p:txBody>
      </p:sp>
      <p:sp>
        <p:nvSpPr>
          <p:cNvPr id="37" name="">
            <a:extLst xmlns:a="http://schemas.openxmlformats.org/drawingml/2006/main">
              <a:ext uri="{FF2B5EF4-FFF2-40B4-BE49-F238E27FC236}">
                <a16:creationId xmlns:a16="http://schemas.microsoft.com/office/drawing/2014/main" id="{12C4E293-F2ED-45E1-81C4-DFFF4E53285B}"/>
              </a:ext>
            </a:extLst>
          </p:cNvPr>
          <p:cNvSpPr>
            <a:spLocks xmlns:a="http://schemas.openxmlformats.org/drawingml/2006/main" noGrp="1"/>
          </p:cNvSpPr>
          <p:nvPr/>
        </p:nvSpPr>
        <p:spPr>
          <a:xfrm xmlns:a="http://schemas.openxmlformats.org/drawingml/2006/main">
            <a:off x="9858375" y="5257800"/>
            <a:ext cx="142875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RM decision + rationale</a:t>
            </a:r>
          </a:p>
        </p:txBody>
      </p:sp>
      <p:sp>
        <p:nvSpPr>
          <p:cNvPr id="38" name="passport-separator-1">
            <a:extLst xmlns:a="http://schemas.openxmlformats.org/drawingml/2006/main">
              <a:ext uri="{FF2B5EF4-FFF2-40B4-BE49-F238E27FC236}">
                <a16:creationId xmlns:a16="http://schemas.microsoft.com/office/drawing/2014/main" id="{D8EBA74D-F25C-4633-B3EF-4548DBB66C94}"/>
              </a:ext>
            </a:extLst>
          </p:cNvPr>
          <p:cNvSpPr>
            <a:spLocks xmlns:a="http://schemas.openxmlformats.org/drawingml/2006/main" noGrp="1"/>
          </p:cNvSpPr>
          <p:nvPr/>
        </p:nvSpPr>
        <p:spPr>
          <a:xfrm xmlns:a="http://schemas.openxmlformats.org/drawingml/2006/main">
            <a:off x="2886075" y="5153025"/>
            <a:ext cx="9525" cy="48577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39" name="passport-separator-2">
            <a:extLst xmlns:a="http://schemas.openxmlformats.org/drawingml/2006/main">
              <a:ext uri="{FF2B5EF4-FFF2-40B4-BE49-F238E27FC236}">
                <a16:creationId xmlns:a16="http://schemas.microsoft.com/office/drawing/2014/main" id="{06919DBA-EDD3-498E-B7FC-350EFDE24DFC}"/>
              </a:ext>
            </a:extLst>
          </p:cNvPr>
          <p:cNvSpPr>
            <a:spLocks xmlns:a="http://schemas.openxmlformats.org/drawingml/2006/main" noGrp="1"/>
          </p:cNvSpPr>
          <p:nvPr/>
        </p:nvSpPr>
        <p:spPr>
          <a:xfrm xmlns:a="http://schemas.openxmlformats.org/drawingml/2006/main">
            <a:off x="5314950" y="5153025"/>
            <a:ext cx="9525" cy="48577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0" name="passport-separator-3">
            <a:extLst xmlns:a="http://schemas.openxmlformats.org/drawingml/2006/main">
              <a:ext uri="{FF2B5EF4-FFF2-40B4-BE49-F238E27FC236}">
                <a16:creationId xmlns:a16="http://schemas.microsoft.com/office/drawing/2014/main" id="{5490F8EA-7148-409F-90B8-0FA93FA3D58D}"/>
              </a:ext>
            </a:extLst>
          </p:cNvPr>
          <p:cNvSpPr>
            <a:spLocks xmlns:a="http://schemas.openxmlformats.org/drawingml/2006/main" noGrp="1"/>
          </p:cNvSpPr>
          <p:nvPr/>
        </p:nvSpPr>
        <p:spPr>
          <a:xfrm xmlns:a="http://schemas.openxmlformats.org/drawingml/2006/main">
            <a:off x="7686675" y="5153025"/>
            <a:ext cx="9525" cy="48577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1" name="passport-separator-4">
            <a:extLst xmlns:a="http://schemas.openxmlformats.org/drawingml/2006/main">
              <a:ext uri="{FF2B5EF4-FFF2-40B4-BE49-F238E27FC236}">
                <a16:creationId xmlns:a16="http://schemas.microsoft.com/office/drawing/2014/main" id="{6BE358DB-CA8B-47DC-833D-E6C1C52B749C}"/>
              </a:ext>
            </a:extLst>
          </p:cNvPr>
          <p:cNvSpPr>
            <a:spLocks xmlns:a="http://schemas.openxmlformats.org/drawingml/2006/main" noGrp="1"/>
          </p:cNvSpPr>
          <p:nvPr/>
        </p:nvSpPr>
        <p:spPr>
          <a:xfrm xmlns:a="http://schemas.openxmlformats.org/drawingml/2006/main">
            <a:off x="9734550" y="5153025"/>
            <a:ext cx="9525" cy="48577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2" name="footer-rule-4">
            <a:extLst xmlns:a="http://schemas.openxmlformats.org/drawingml/2006/main">
              <a:ext uri="{FF2B5EF4-FFF2-40B4-BE49-F238E27FC236}">
                <a16:creationId xmlns:a16="http://schemas.microsoft.com/office/drawing/2014/main" id="{3FD42928-FDB0-46EB-B62C-03F64842C36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40514D"/>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5BA3715A-92E1-4A28-96AE-16C87975BA20}"/>
              </a:ext>
            </a:extLst>
          </p:cNvPr>
          <p:cNvSpPr>
            <a:spLocks xmlns:a="http://schemas.openxmlformats.org/drawingml/2006/main" noGrp="1"/>
          </p:cNvSpPr>
          <p:nvPr/>
        </p:nvSpPr>
        <p:spPr>
          <a:xfrm xmlns:a="http://schemas.openxmlformats.org/drawingml/2006/main">
            <a:off x="609600" y="6543675"/>
            <a:ext cx="942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0">
                <a:solidFill>
                  <a:srgbClr val="9EAAA6"/>
                </a:solidFill>
                <a:latin typeface="Aptos"/>
                <a:ea typeface="Aptos"/>
                <a:cs typeface="Aptos"/>
              </a:defRPr>
            </a:pPr>
            <a:r>
              <a:rPr sz="675" b="0">
                <a:solidFill>
                  <a:srgbClr val="9EAAA6"/>
                </a:solidFill>
                <a:latin typeface="Aptos"/>
                <a:ea typeface="Aptos"/>
                <a:cs typeface="Aptos"/>
              </a:rPr>
              <a:t>Product architecture · deterministic evidence compiler in prototype; purpose-limited private model in production</a:t>
            </a:r>
          </a:p>
        </p:txBody>
      </p:sp>
      <p:sp>
        <p:nvSpPr>
          <p:cNvPr id="44" name="">
            <a:extLst xmlns:a="http://schemas.openxmlformats.org/drawingml/2006/main">
              <a:ext uri="{FF2B5EF4-FFF2-40B4-BE49-F238E27FC236}">
                <a16:creationId xmlns:a16="http://schemas.microsoft.com/office/drawing/2014/main" id="{1E0A6925-8775-47A6-A49E-83C481D89E3C}"/>
              </a:ext>
            </a:extLst>
          </p:cNvPr>
          <p:cNvSpPr>
            <a:spLocks xmlns:a="http://schemas.openxmlformats.org/drawingml/2006/main" noGrp="1"/>
          </p:cNvSpPr>
          <p:nvPr/>
        </p:nvSpPr>
        <p:spPr>
          <a:xfrm xmlns:a="http://schemas.openxmlformats.org/drawingml/2006/main">
            <a:off x="10991850" y="65341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E7D6B5"/>
                </a:solidFill>
                <a:latin typeface="Aptos Mono"/>
                <a:ea typeface="Aptos Mono"/>
                <a:cs typeface="Aptos Mono"/>
              </a:defRPr>
            </a:pPr>
            <a:r>
              <a:rPr sz="750" b="1">
                <a:solidFill>
                  <a:srgbClr val="E7D6B5"/>
                </a:solidFill>
                <a:latin typeface="Aptos Mono"/>
                <a:ea typeface="Aptos Mono"/>
                <a:cs typeface="Aptos Mono"/>
              </a:rPr>
              <a:t>03</a:t>
            </a:r>
          </a:p>
        </p:txBody>
      </p:sp>
    </p:spTree>
    <p:extLst>
      <p:ext uri="{BB962C8B-B14F-4D97-AF65-F5344CB8AC3E}">
        <p14:creationId xmlns:p14="http://schemas.microsoft.com/office/powerpoint/2010/main" val="16045425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7AD7DE67-F270-4F8C-A196-C267476598C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kicker-07-marker">
            <a:extLst xmlns:a="http://schemas.openxmlformats.org/drawingml/2006/main">
              <a:ext uri="{FF2B5EF4-FFF2-40B4-BE49-F238E27FC236}">
                <a16:creationId xmlns:a16="http://schemas.microsoft.com/office/drawing/2014/main" id="{13D09598-4D16-46AB-9D5B-9BF86CAE5666}"/>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kicker-07-label">
            <a:extLst xmlns:a="http://schemas.openxmlformats.org/drawingml/2006/main">
              <a:ext uri="{FF2B5EF4-FFF2-40B4-BE49-F238E27FC236}">
                <a16:creationId xmlns:a16="http://schemas.microsoft.com/office/drawing/2014/main" id="{A8A356A0-FBB8-451E-B47E-F1203252D6FB}"/>
              </a:ext>
            </a:extLst>
          </p:cNvPr>
          <p:cNvSpPr>
            <a:spLocks xmlns:a="http://schemas.openxmlformats.org/drawingml/2006/main" noGrp="1"/>
          </p:cNvSpPr>
          <p:nvPr/>
        </p:nvSpPr>
        <p:spPr>
          <a:xfrm xmlns:a="http://schemas.openxmlformats.org/drawingml/2006/main">
            <a:off x="781050" y="371475"/>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2D5C56"/>
                </a:solidFill>
                <a:latin typeface="Aptos"/>
                <a:ea typeface="Aptos"/>
                <a:cs typeface="Aptos"/>
              </a:defRPr>
            </a:pPr>
            <a:r>
              <a:rPr sz="825" b="1">
                <a:solidFill>
                  <a:srgbClr val="2D5C56"/>
                </a:solidFill>
                <a:latin typeface="Aptos"/>
                <a:ea typeface="Aptos"/>
                <a:cs typeface="Aptos"/>
              </a:rPr>
              <a:t>SCENARIO PROOF · ABDULLAH AL-MANSOORI</a:t>
            </a:r>
          </a:p>
        </p:txBody>
      </p:sp>
      <p:sp>
        <p:nvSpPr>
          <p:cNvPr id="4" name="">
            <a:extLst xmlns:a="http://schemas.openxmlformats.org/drawingml/2006/main">
              <a:ext uri="{FF2B5EF4-FFF2-40B4-BE49-F238E27FC236}">
                <a16:creationId xmlns:a16="http://schemas.microsoft.com/office/drawing/2014/main" id="{AC5F25E3-58F5-4BC1-A374-827603D99C65}"/>
              </a:ext>
            </a:extLst>
          </p:cNvPr>
          <p:cNvSpPr>
            <a:spLocks xmlns:a="http://schemas.openxmlformats.org/drawingml/2006/main" noGrp="1"/>
          </p:cNvSpPr>
          <p:nvPr/>
        </p:nvSpPr>
        <p:spPr>
          <a:xfrm xmlns:a="http://schemas.openxmlformats.org/drawingml/2006/main">
            <a:off x="609600" y="685800"/>
            <a:ext cx="10668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075" b="0">
                <a:solidFill>
                  <a:srgbClr val="17201E"/>
                </a:solidFill>
                <a:latin typeface="Georgia"/>
                <a:ea typeface="Georgia"/>
                <a:cs typeface="Georgia"/>
              </a:defRPr>
            </a:pPr>
            <a:r>
              <a:rPr sz="3075" b="0">
                <a:solidFill>
                  <a:srgbClr val="17201E"/>
                </a:solidFill>
                <a:latin typeface="Georgia"/>
                <a:ea typeface="Georgia"/>
                <a:cs typeface="Georgia"/>
              </a:rPr>
              <a:t>Abdullah’s successful thesis recreated the risk he asked us to diversify away from.</a:t>
            </a:r>
          </a:p>
        </p:txBody>
      </p:sp>
      <p:sp>
        <p:nvSpPr>
          <p:cNvPr id="5" name="">
            <a:extLst xmlns:a="http://schemas.openxmlformats.org/drawingml/2006/main">
              <a:ext uri="{FF2B5EF4-FFF2-40B4-BE49-F238E27FC236}">
                <a16:creationId xmlns:a16="http://schemas.microsoft.com/office/drawing/2014/main" id="{945492FD-71FB-4DAB-AF1D-603AA9CEF6C8}"/>
              </a:ext>
            </a:extLst>
          </p:cNvPr>
          <p:cNvSpPr>
            <a:spLocks xmlns:a="http://schemas.openxmlformats.org/drawingml/2006/main" noGrp="1"/>
          </p:cNvSpPr>
          <p:nvPr/>
        </p:nvSpPr>
        <p:spPr>
          <a:xfrm xmlns:a="http://schemas.openxmlformats.org/drawingml/2006/main">
            <a:off x="609600" y="1704975"/>
            <a:ext cx="9048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F766F"/>
                </a:solidFill>
                <a:latin typeface="Aptos"/>
                <a:ea typeface="Aptos"/>
                <a:cs typeface="Aptos"/>
              </a:defRPr>
            </a:pPr>
            <a:r>
              <a:rPr sz="1200" b="0">
                <a:solidFill>
                  <a:srgbClr val="6F766F"/>
                </a:solidFill>
                <a:latin typeface="Aptos"/>
                <a:ea typeface="Aptos"/>
                <a:cs typeface="Aptos"/>
              </a:rPr>
              <a:t>42.1%+ is only the bank-held floor; his Gulf business shares the risk, and a USD 5m need starts in 2027.</a:t>
            </a:r>
          </a:p>
        </p:txBody>
      </p:sp>
      <p:sp>
        <p:nvSpPr>
          <p:cNvPr id="6" name="abdullah-lookthrough">
            <a:extLst xmlns:a="http://schemas.openxmlformats.org/drawingml/2006/main">
              <a:ext uri="{FF2B5EF4-FFF2-40B4-BE49-F238E27FC236}">
                <a16:creationId xmlns:a16="http://schemas.microsoft.com/office/drawing/2014/main" id="{3FAAD2C8-4726-40B2-9A22-2B98BD26216E}"/>
              </a:ext>
            </a:extLst>
          </p:cNvPr>
          <p:cNvSpPr>
            <a:spLocks xmlns:a="http://schemas.openxmlformats.org/drawingml/2006/main" noGrp="1"/>
          </p:cNvSpPr>
          <p:nvPr/>
        </p:nvSpPr>
        <p:spPr>
          <a:xfrm xmlns:a="http://schemas.openxmlformats.org/drawingml/2006/main">
            <a:off x="609600" y="2124075"/>
            <a:ext cx="4686300" cy="3667125"/>
          </a:xfrm>
          <a:prstGeom xmlns:a="http://schemas.openxmlformats.org/drawingml/2006/main" prst="rect">
            <a:avLst/>
          </a:prstGeom>
          <a:solidFill xmlns:a="http://schemas.openxmlformats.org/drawingml/2006/main">
            <a:srgbClr val="17201E"/>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330356CD-7CDA-4090-A153-8E1EC803BAF2}"/>
              </a:ext>
            </a:extLst>
          </p:cNvPr>
          <p:cNvSpPr>
            <a:spLocks xmlns:a="http://schemas.openxmlformats.org/drawingml/2006/main" noGrp="1"/>
          </p:cNvSpPr>
          <p:nvPr/>
        </p:nvSpPr>
        <p:spPr>
          <a:xfrm xmlns:a="http://schemas.openxmlformats.org/drawingml/2006/main">
            <a:off x="857250" y="2352675"/>
            <a:ext cx="2000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E7D6B5"/>
                </a:solidFill>
                <a:latin typeface="Aptos"/>
                <a:ea typeface="Aptos"/>
                <a:cs typeface="Aptos"/>
              </a:defRPr>
            </a:pPr>
            <a:r>
              <a:rPr sz="750" b="1">
                <a:solidFill>
                  <a:srgbClr val="E7D6B5"/>
                </a:solidFill>
                <a:latin typeface="Aptos"/>
                <a:ea typeface="Aptos"/>
                <a:cs typeface="Aptos"/>
              </a:rPr>
              <a:t>LOOK-THROUGH FLOOR</a:t>
            </a:r>
          </a:p>
        </p:txBody>
      </p:sp>
      <p:sp>
        <p:nvSpPr>
          <p:cNvPr id="8" name="">
            <a:extLst xmlns:a="http://schemas.openxmlformats.org/drawingml/2006/main">
              <a:ext uri="{FF2B5EF4-FFF2-40B4-BE49-F238E27FC236}">
                <a16:creationId xmlns:a16="http://schemas.microsoft.com/office/drawing/2014/main" id="{AEC63037-F511-4D1B-85E2-E1F9131D43A3}"/>
              </a:ext>
            </a:extLst>
          </p:cNvPr>
          <p:cNvSpPr>
            <a:spLocks xmlns:a="http://schemas.openxmlformats.org/drawingml/2006/main" noGrp="1"/>
          </p:cNvSpPr>
          <p:nvPr/>
        </p:nvSpPr>
        <p:spPr>
          <a:xfrm xmlns:a="http://schemas.openxmlformats.org/drawingml/2006/main">
            <a:off x="857250" y="2638425"/>
            <a:ext cx="247650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900" b="0">
                <a:solidFill>
                  <a:srgbClr val="FFFFFF"/>
                </a:solidFill>
                <a:latin typeface="Georgia"/>
                <a:ea typeface="Georgia"/>
                <a:cs typeface="Georgia"/>
              </a:defRPr>
            </a:pPr>
            <a:r>
              <a:rPr sz="3900" b="0">
                <a:solidFill>
                  <a:srgbClr val="FFFFFF"/>
                </a:solidFill>
                <a:latin typeface="Georgia"/>
                <a:ea typeface="Georgia"/>
                <a:cs typeface="Georgia"/>
              </a:rPr>
              <a:t>42.1%+</a:t>
            </a:r>
          </a:p>
        </p:txBody>
      </p:sp>
      <p:sp>
        <p:nvSpPr>
          <p:cNvPr id="9" name="">
            <a:extLst xmlns:a="http://schemas.openxmlformats.org/drawingml/2006/main">
              <a:ext uri="{FF2B5EF4-FFF2-40B4-BE49-F238E27FC236}">
                <a16:creationId xmlns:a16="http://schemas.microsoft.com/office/drawing/2014/main" id="{DD79D7FB-9D85-49EA-AF47-64981838ED99}"/>
              </a:ext>
            </a:extLst>
          </p:cNvPr>
          <p:cNvSpPr>
            <a:spLocks xmlns:a="http://schemas.openxmlformats.org/drawingml/2006/main" noGrp="1"/>
          </p:cNvSpPr>
          <p:nvPr/>
        </p:nvSpPr>
        <p:spPr>
          <a:xfrm xmlns:a="http://schemas.openxmlformats.org/drawingml/2006/main">
            <a:off x="866775" y="3343275"/>
            <a:ext cx="3143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C5CFCB"/>
                </a:solidFill>
                <a:latin typeface="Aptos"/>
                <a:ea typeface="Aptos"/>
                <a:cs typeface="Aptos"/>
              </a:defRPr>
            </a:pPr>
            <a:r>
              <a:rPr sz="1050" b="0">
                <a:solidFill>
                  <a:srgbClr val="C5CFCB"/>
                </a:solidFill>
                <a:latin typeface="Aptos"/>
                <a:ea typeface="Aptos"/>
                <a:cs typeface="Aptos"/>
              </a:rPr>
              <a:t>bank-held shipping &amp; energy exposure</a:t>
            </a:r>
          </a:p>
        </p:txBody>
      </p:sp>
      <p:sp>
        <p:nvSpPr>
          <p:cNvPr id="10" name="abdullah-legend-1">
            <a:extLst xmlns:a="http://schemas.openxmlformats.org/drawingml/2006/main">
              <a:ext uri="{FF2B5EF4-FFF2-40B4-BE49-F238E27FC236}">
                <a16:creationId xmlns:a16="http://schemas.microsoft.com/office/drawing/2014/main" id="{99CF9656-A389-402E-AD33-9FF690EA83D6}"/>
              </a:ext>
            </a:extLst>
          </p:cNvPr>
          <p:cNvSpPr>
            <a:spLocks xmlns:a="http://schemas.openxmlformats.org/drawingml/2006/main" noGrp="1"/>
          </p:cNvSpPr>
          <p:nvPr/>
        </p:nvSpPr>
        <p:spPr>
          <a:xfrm xmlns:a="http://schemas.openxmlformats.org/drawingml/2006/main">
            <a:off x="866775" y="3829050"/>
            <a:ext cx="85725" cy="85725"/>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3E15407B-D325-4D37-BB43-31CA5C76484E}"/>
              </a:ext>
            </a:extLst>
          </p:cNvPr>
          <p:cNvSpPr>
            <a:spLocks xmlns:a="http://schemas.openxmlformats.org/drawingml/2006/main" noGrp="1"/>
          </p:cNvSpPr>
          <p:nvPr/>
        </p:nvSpPr>
        <p:spPr>
          <a:xfrm xmlns:a="http://schemas.openxmlformats.org/drawingml/2006/main">
            <a:off x="1066800" y="3800475"/>
            <a:ext cx="27241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FFFFFF"/>
                </a:solidFill>
                <a:latin typeface="Aptos"/>
                <a:ea typeface="Aptos"/>
                <a:cs typeface="Aptos"/>
              </a:defRPr>
            </a:pPr>
            <a:r>
              <a:rPr sz="900" b="0">
                <a:solidFill>
                  <a:srgbClr val="FFFFFF"/>
                </a:solidFill>
                <a:latin typeface="Aptos"/>
                <a:ea typeface="Aptos"/>
                <a:cs typeface="Aptos"/>
              </a:rPr>
              <a:t>Shipping &amp; energy FCN</a:t>
            </a:r>
          </a:p>
        </p:txBody>
      </p:sp>
      <p:sp>
        <p:nvSpPr>
          <p:cNvPr id="12" name="">
            <a:extLst xmlns:a="http://schemas.openxmlformats.org/drawingml/2006/main">
              <a:ext uri="{FF2B5EF4-FFF2-40B4-BE49-F238E27FC236}">
                <a16:creationId xmlns:a16="http://schemas.microsoft.com/office/drawing/2014/main" id="{501C208A-7FF6-4E47-B650-5A6C050520DC}"/>
              </a:ext>
            </a:extLst>
          </p:cNvPr>
          <p:cNvSpPr>
            <a:spLocks xmlns:a="http://schemas.openxmlformats.org/drawingml/2006/main" noGrp="1"/>
          </p:cNvSpPr>
          <p:nvPr/>
        </p:nvSpPr>
        <p:spPr>
          <a:xfrm xmlns:a="http://schemas.openxmlformats.org/drawingml/2006/main">
            <a:off x="4095750" y="3800475"/>
            <a:ext cx="7810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E7D6B5"/>
                </a:solidFill>
                <a:latin typeface="Aptos Mono"/>
                <a:ea typeface="Aptos Mono"/>
                <a:cs typeface="Aptos Mono"/>
              </a:defRPr>
            </a:pPr>
            <a:r>
              <a:rPr sz="900" b="1">
                <a:solidFill>
                  <a:srgbClr val="E7D6B5"/>
                </a:solidFill>
                <a:latin typeface="Aptos Mono"/>
                <a:ea typeface="Aptos Mono"/>
                <a:cs typeface="Aptos Mono"/>
              </a:rPr>
              <a:t>12.9%</a:t>
            </a:r>
          </a:p>
        </p:txBody>
      </p:sp>
      <p:sp>
        <p:nvSpPr>
          <p:cNvPr id="13" name="abdullah-legend-2">
            <a:extLst xmlns:a="http://schemas.openxmlformats.org/drawingml/2006/main">
              <a:ext uri="{FF2B5EF4-FFF2-40B4-BE49-F238E27FC236}">
                <a16:creationId xmlns:a16="http://schemas.microsoft.com/office/drawing/2014/main" id="{56EAF561-56E9-4919-B61D-D7F03434ECC6}"/>
              </a:ext>
            </a:extLst>
          </p:cNvPr>
          <p:cNvSpPr>
            <a:spLocks xmlns:a="http://schemas.openxmlformats.org/drawingml/2006/main" noGrp="1"/>
          </p:cNvSpPr>
          <p:nvPr/>
        </p:nvSpPr>
        <p:spPr>
          <a:xfrm xmlns:a="http://schemas.openxmlformats.org/drawingml/2006/main">
            <a:off x="866775" y="4229100"/>
            <a:ext cx="85725" cy="85725"/>
          </a:xfrm>
          <a:prstGeom xmlns:a="http://schemas.openxmlformats.org/drawingml/2006/main" prst="rect">
            <a:avLst/>
          </a:prstGeom>
          <a:solidFill xmlns:a="http://schemas.openxmlformats.org/drawingml/2006/main">
            <a:srgbClr val="D8C49E"/>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D241D295-0333-4B45-9D2F-96AEAE36E376}"/>
              </a:ext>
            </a:extLst>
          </p:cNvPr>
          <p:cNvSpPr>
            <a:spLocks xmlns:a="http://schemas.openxmlformats.org/drawingml/2006/main" noGrp="1"/>
          </p:cNvSpPr>
          <p:nvPr/>
        </p:nvSpPr>
        <p:spPr>
          <a:xfrm xmlns:a="http://schemas.openxmlformats.org/drawingml/2006/main">
            <a:off x="1066800" y="4200525"/>
            <a:ext cx="27241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FFFFFF"/>
                </a:solidFill>
                <a:latin typeface="Aptos"/>
                <a:ea typeface="Aptos"/>
                <a:cs typeface="Aptos"/>
              </a:defRPr>
            </a:pPr>
            <a:r>
              <a:rPr sz="900" b="0">
                <a:solidFill>
                  <a:srgbClr val="FFFFFF"/>
                </a:solidFill>
                <a:latin typeface="Aptos"/>
                <a:ea typeface="Aptos"/>
                <a:cs typeface="Aptos"/>
              </a:rPr>
              <a:t>Pacific Orient Shipping</a:t>
            </a:r>
          </a:p>
        </p:txBody>
      </p:sp>
      <p:sp>
        <p:nvSpPr>
          <p:cNvPr id="15" name="">
            <a:extLst xmlns:a="http://schemas.openxmlformats.org/drawingml/2006/main">
              <a:ext uri="{FF2B5EF4-FFF2-40B4-BE49-F238E27FC236}">
                <a16:creationId xmlns:a16="http://schemas.microsoft.com/office/drawing/2014/main" id="{A96BC1F9-B021-43FE-82AF-A400BE2A7AE0}"/>
              </a:ext>
            </a:extLst>
          </p:cNvPr>
          <p:cNvSpPr>
            <a:spLocks xmlns:a="http://schemas.openxmlformats.org/drawingml/2006/main" noGrp="1"/>
          </p:cNvSpPr>
          <p:nvPr/>
        </p:nvSpPr>
        <p:spPr>
          <a:xfrm xmlns:a="http://schemas.openxmlformats.org/drawingml/2006/main">
            <a:off x="4095750" y="4200525"/>
            <a:ext cx="7810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E7D6B5"/>
                </a:solidFill>
                <a:latin typeface="Aptos Mono"/>
                <a:ea typeface="Aptos Mono"/>
                <a:cs typeface="Aptos Mono"/>
              </a:defRPr>
            </a:pPr>
            <a:r>
              <a:rPr sz="900" b="1">
                <a:solidFill>
                  <a:srgbClr val="E7D6B5"/>
                </a:solidFill>
                <a:latin typeface="Aptos Mono"/>
                <a:ea typeface="Aptos Mono"/>
                <a:cs typeface="Aptos Mono"/>
              </a:rPr>
              <a:t>11.4%</a:t>
            </a:r>
          </a:p>
        </p:txBody>
      </p:sp>
      <p:sp>
        <p:nvSpPr>
          <p:cNvPr id="16" name="abdullah-legend-3">
            <a:extLst xmlns:a="http://schemas.openxmlformats.org/drawingml/2006/main">
              <a:ext uri="{FF2B5EF4-FFF2-40B4-BE49-F238E27FC236}">
                <a16:creationId xmlns:a16="http://schemas.microsoft.com/office/drawing/2014/main" id="{E4B7ECF6-3506-41DE-A820-3F5420D48C0B}"/>
              </a:ext>
            </a:extLst>
          </p:cNvPr>
          <p:cNvSpPr>
            <a:spLocks xmlns:a="http://schemas.openxmlformats.org/drawingml/2006/main" noGrp="1"/>
          </p:cNvSpPr>
          <p:nvPr/>
        </p:nvSpPr>
        <p:spPr>
          <a:xfrm xmlns:a="http://schemas.openxmlformats.org/drawingml/2006/main">
            <a:off x="866775" y="4629150"/>
            <a:ext cx="85725" cy="85725"/>
          </a:xfrm>
          <a:prstGeom xmlns:a="http://schemas.openxmlformats.org/drawingml/2006/main" prst="rect">
            <a:avLst/>
          </a:prstGeom>
          <a:solidFill xmlns:a="http://schemas.openxmlformats.org/drawingml/2006/main">
            <a:srgbClr val="B85D43"/>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8008E968-D840-404B-AA32-856D99BC2728}"/>
              </a:ext>
            </a:extLst>
          </p:cNvPr>
          <p:cNvSpPr>
            <a:spLocks xmlns:a="http://schemas.openxmlformats.org/drawingml/2006/main" noGrp="1"/>
          </p:cNvSpPr>
          <p:nvPr/>
        </p:nvSpPr>
        <p:spPr>
          <a:xfrm xmlns:a="http://schemas.openxmlformats.org/drawingml/2006/main">
            <a:off x="1066800" y="4600575"/>
            <a:ext cx="27241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FFFFFF"/>
                </a:solidFill>
                <a:latin typeface="Aptos"/>
                <a:ea typeface="Aptos"/>
                <a:cs typeface="Aptos"/>
              </a:defRPr>
            </a:pPr>
            <a:r>
              <a:rPr sz="900" b="0">
                <a:solidFill>
                  <a:srgbClr val="FFFFFF"/>
                </a:solidFill>
                <a:latin typeface="Aptos"/>
                <a:ea typeface="Aptos"/>
                <a:cs typeface="Aptos"/>
              </a:rPr>
              <a:t>Global energy majors</a:t>
            </a:r>
          </a:p>
        </p:txBody>
      </p:sp>
      <p:sp>
        <p:nvSpPr>
          <p:cNvPr id="18" name="">
            <a:extLst xmlns:a="http://schemas.openxmlformats.org/drawingml/2006/main">
              <a:ext uri="{FF2B5EF4-FFF2-40B4-BE49-F238E27FC236}">
                <a16:creationId xmlns:a16="http://schemas.microsoft.com/office/drawing/2014/main" id="{46B99AA3-040C-462F-9D5B-DBF04B1F0CD9}"/>
              </a:ext>
            </a:extLst>
          </p:cNvPr>
          <p:cNvSpPr>
            <a:spLocks xmlns:a="http://schemas.openxmlformats.org/drawingml/2006/main" noGrp="1"/>
          </p:cNvSpPr>
          <p:nvPr/>
        </p:nvSpPr>
        <p:spPr>
          <a:xfrm xmlns:a="http://schemas.openxmlformats.org/drawingml/2006/main">
            <a:off x="4095750" y="4600575"/>
            <a:ext cx="7810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E7D6B5"/>
                </a:solidFill>
                <a:latin typeface="Aptos Mono"/>
                <a:ea typeface="Aptos Mono"/>
                <a:cs typeface="Aptos Mono"/>
              </a:defRPr>
            </a:pPr>
            <a:r>
              <a:rPr sz="900" b="1">
                <a:solidFill>
                  <a:srgbClr val="E7D6B5"/>
                </a:solidFill>
                <a:latin typeface="Aptos Mono"/>
                <a:ea typeface="Aptos Mono"/>
                <a:cs typeface="Aptos Mono"/>
              </a:rPr>
              <a:t>8.9%</a:t>
            </a:r>
          </a:p>
        </p:txBody>
      </p:sp>
      <p:sp>
        <p:nvSpPr>
          <p:cNvPr id="19" name="abdullah-legend-4">
            <a:extLst xmlns:a="http://schemas.openxmlformats.org/drawingml/2006/main">
              <a:ext uri="{FF2B5EF4-FFF2-40B4-BE49-F238E27FC236}">
                <a16:creationId xmlns:a16="http://schemas.microsoft.com/office/drawing/2014/main" id="{20F0349C-CE9E-42CB-A2E3-D8BDB13FC297}"/>
              </a:ext>
            </a:extLst>
          </p:cNvPr>
          <p:cNvSpPr>
            <a:spLocks xmlns:a="http://schemas.openxmlformats.org/drawingml/2006/main" noGrp="1"/>
          </p:cNvSpPr>
          <p:nvPr/>
        </p:nvSpPr>
        <p:spPr>
          <a:xfrm xmlns:a="http://schemas.openxmlformats.org/drawingml/2006/main">
            <a:off x="866775" y="5029200"/>
            <a:ext cx="85725" cy="85725"/>
          </a:xfrm>
          <a:prstGeom xmlns:a="http://schemas.openxmlformats.org/drawingml/2006/main" prst="rect">
            <a:avLst/>
          </a:prstGeom>
          <a:solidFill xmlns:a="http://schemas.openxmlformats.org/drawingml/2006/main">
            <a:srgbClr val="78948D"/>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0F42CB5E-D968-4374-B0D7-CCDFC57C7520}"/>
              </a:ext>
            </a:extLst>
          </p:cNvPr>
          <p:cNvSpPr>
            <a:spLocks xmlns:a="http://schemas.openxmlformats.org/drawingml/2006/main" noGrp="1"/>
          </p:cNvSpPr>
          <p:nvPr/>
        </p:nvSpPr>
        <p:spPr>
          <a:xfrm xmlns:a="http://schemas.openxmlformats.org/drawingml/2006/main">
            <a:off x="1066800" y="5000625"/>
            <a:ext cx="27241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FFFFFF"/>
                </a:solidFill>
                <a:latin typeface="Aptos"/>
                <a:ea typeface="Aptos"/>
                <a:cs typeface="Aptos"/>
              </a:defRPr>
            </a:pPr>
            <a:r>
              <a:rPr sz="900" b="0">
                <a:solidFill>
                  <a:srgbClr val="FFFFFF"/>
                </a:solidFill>
                <a:latin typeface="Aptos"/>
                <a:ea typeface="Aptos"/>
                <a:cs typeface="Aptos"/>
              </a:rPr>
              <a:t>Asia shipping &amp; logistics</a:t>
            </a:r>
          </a:p>
        </p:txBody>
      </p:sp>
      <p:sp>
        <p:nvSpPr>
          <p:cNvPr id="21" name="">
            <a:extLst xmlns:a="http://schemas.openxmlformats.org/drawingml/2006/main">
              <a:ext uri="{FF2B5EF4-FFF2-40B4-BE49-F238E27FC236}">
                <a16:creationId xmlns:a16="http://schemas.microsoft.com/office/drawing/2014/main" id="{399D5D53-98D4-4CC2-8229-4498F5A0F28E}"/>
              </a:ext>
            </a:extLst>
          </p:cNvPr>
          <p:cNvSpPr>
            <a:spLocks xmlns:a="http://schemas.openxmlformats.org/drawingml/2006/main" noGrp="1"/>
          </p:cNvSpPr>
          <p:nvPr/>
        </p:nvSpPr>
        <p:spPr>
          <a:xfrm xmlns:a="http://schemas.openxmlformats.org/drawingml/2006/main">
            <a:off x="4095750" y="5000625"/>
            <a:ext cx="7810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E7D6B5"/>
                </a:solidFill>
                <a:latin typeface="Aptos Mono"/>
                <a:ea typeface="Aptos Mono"/>
                <a:cs typeface="Aptos Mono"/>
              </a:defRPr>
            </a:pPr>
            <a:r>
              <a:rPr sz="900" b="1">
                <a:solidFill>
                  <a:srgbClr val="E7D6B5"/>
                </a:solidFill>
                <a:latin typeface="Aptos Mono"/>
                <a:ea typeface="Aptos Mono"/>
                <a:cs typeface="Aptos Mono"/>
              </a:rPr>
              <a:t>8.9%</a:t>
            </a:r>
          </a:p>
        </p:txBody>
      </p:sp>
      <p:sp>
        <p:nvSpPr>
          <p:cNvPr id="22" name="">
            <a:extLst xmlns:a="http://schemas.openxmlformats.org/drawingml/2006/main">
              <a:ext uri="{FF2B5EF4-FFF2-40B4-BE49-F238E27FC236}">
                <a16:creationId xmlns:a16="http://schemas.microsoft.com/office/drawing/2014/main" id="{7DC55EA7-7BF0-4016-B378-E549AA03E4F6}"/>
              </a:ext>
            </a:extLst>
          </p:cNvPr>
          <p:cNvSpPr>
            <a:spLocks xmlns:a="http://schemas.openxmlformats.org/drawingml/2006/main" noGrp="1"/>
          </p:cNvSpPr>
          <p:nvPr/>
        </p:nvSpPr>
        <p:spPr>
          <a:xfrm xmlns:a="http://schemas.openxmlformats.org/drawingml/2006/main">
            <a:off x="866775" y="5391150"/>
            <a:ext cx="4000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9EAAA6"/>
                </a:solidFill>
                <a:latin typeface="Aptos"/>
                <a:ea typeface="Aptos"/>
                <a:cs typeface="Aptos"/>
              </a:defRPr>
            </a:pPr>
            <a:r>
              <a:rPr sz="750" b="0">
                <a:solidFill>
                  <a:srgbClr val="9EAAA6"/>
                </a:solidFill>
                <a:latin typeface="Aptos"/>
                <a:ea typeface="Aptos"/>
                <a:cs typeface="Aptos"/>
              </a:rPr>
              <a:t>+ Gulf logistics business is qualitative and excluded from the percentage</a:t>
            </a:r>
          </a:p>
        </p:txBody>
      </p:sp>
      <p:sp>
        <p:nvSpPr>
          <p:cNvPr id="23" name="">
            <a:extLst xmlns:a="http://schemas.openxmlformats.org/drawingml/2006/main">
              <a:ext uri="{FF2B5EF4-FFF2-40B4-BE49-F238E27FC236}">
                <a16:creationId xmlns:a16="http://schemas.microsoft.com/office/drawing/2014/main" id="{074EC6EB-8D77-474D-A3D8-E5F39953F40C}"/>
              </a:ext>
            </a:extLst>
          </p:cNvPr>
          <p:cNvSpPr>
            <a:spLocks xmlns:a="http://schemas.openxmlformats.org/drawingml/2006/main" noGrp="1"/>
          </p:cNvSpPr>
          <p:nvPr/>
        </p:nvSpPr>
        <p:spPr>
          <a:xfrm xmlns:a="http://schemas.openxmlformats.org/drawingml/2006/main">
            <a:off x="5810250" y="2190750"/>
            <a:ext cx="521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COUNTERFACTUALS, NOT FORECASTS</a:t>
            </a:r>
          </a:p>
        </p:txBody>
      </p:sp>
      <p:sp>
        <p:nvSpPr>
          <p:cNvPr id="24" name="">
            <a:extLst xmlns:a="http://schemas.openxmlformats.org/drawingml/2006/main">
              <a:ext uri="{FF2B5EF4-FFF2-40B4-BE49-F238E27FC236}">
                <a16:creationId xmlns:a16="http://schemas.microsoft.com/office/drawing/2014/main" id="{DF601420-93B7-4258-B3C4-500EEA2501A3}"/>
              </a:ext>
            </a:extLst>
          </p:cNvPr>
          <p:cNvSpPr>
            <a:spLocks xmlns:a="http://schemas.openxmlformats.org/drawingml/2006/main" noGrp="1"/>
          </p:cNvSpPr>
          <p:nvPr/>
        </p:nvSpPr>
        <p:spPr>
          <a:xfrm xmlns:a="http://schemas.openxmlformats.org/drawingml/2006/main">
            <a:off x="5810250" y="2533650"/>
            <a:ext cx="53911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17201E"/>
                </a:solidFill>
                <a:latin typeface="Georgia"/>
                <a:ea typeface="Georgia"/>
                <a:cs typeface="Georgia"/>
              </a:defRPr>
            </a:pPr>
            <a:r>
              <a:rPr sz="1800" b="0">
                <a:solidFill>
                  <a:srgbClr val="17201E"/>
                </a:solidFill>
                <a:latin typeface="Georgia"/>
                <a:ea typeface="Georgia"/>
                <a:cs typeface="Georgia"/>
              </a:rPr>
              <a:t>“If the Strait reopened next month, how much of this year’s gain are you willing to give back?”</a:t>
            </a:r>
          </a:p>
        </p:txBody>
      </p:sp>
      <p:sp>
        <p:nvSpPr>
          <p:cNvPr id="25" name="">
            <a:extLst xmlns:a="http://schemas.openxmlformats.org/drawingml/2006/main">
              <a:ext uri="{FF2B5EF4-FFF2-40B4-BE49-F238E27FC236}">
                <a16:creationId xmlns:a16="http://schemas.microsoft.com/office/drawing/2014/main" id="{B37F1F76-DA35-4A38-915F-146A5E9FDF19}"/>
              </a:ext>
            </a:extLst>
          </p:cNvPr>
          <p:cNvSpPr>
            <a:spLocks xmlns:a="http://schemas.openxmlformats.org/drawingml/2006/main" noGrp="1"/>
          </p:cNvSpPr>
          <p:nvPr/>
        </p:nvSpPr>
        <p:spPr>
          <a:xfrm xmlns:a="http://schemas.openxmlformats.org/drawingml/2006/main">
            <a:off x="5810250" y="3514725"/>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85D43"/>
                </a:solidFill>
                <a:latin typeface="Aptos"/>
                <a:ea typeface="Aptos"/>
                <a:cs typeface="Aptos"/>
              </a:defRPr>
            </a:pPr>
            <a:r>
              <a:rPr sz="750" b="1">
                <a:solidFill>
                  <a:srgbClr val="B85D43"/>
                </a:solidFill>
                <a:latin typeface="Aptos"/>
                <a:ea typeface="Aptos"/>
                <a:cs typeface="Aptos"/>
              </a:rPr>
              <a:t>STRAIT REOPENS</a:t>
            </a:r>
          </a:p>
        </p:txBody>
      </p:sp>
      <p:sp>
        <p:nvSpPr>
          <p:cNvPr id="26" name="">
            <a:extLst xmlns:a="http://schemas.openxmlformats.org/drawingml/2006/main">
              <a:ext uri="{FF2B5EF4-FFF2-40B4-BE49-F238E27FC236}">
                <a16:creationId xmlns:a16="http://schemas.microsoft.com/office/drawing/2014/main" id="{5FD107BA-39D6-473A-93BF-2E85519E14C3}"/>
              </a:ext>
            </a:extLst>
          </p:cNvPr>
          <p:cNvSpPr>
            <a:spLocks xmlns:a="http://schemas.openxmlformats.org/drawingml/2006/main" noGrp="1"/>
          </p:cNvSpPr>
          <p:nvPr/>
        </p:nvSpPr>
        <p:spPr>
          <a:xfrm xmlns:a="http://schemas.openxmlformats.org/drawingml/2006/main">
            <a:off x="10477500" y="3438525"/>
            <a:ext cx="8953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875" b="0">
                <a:solidFill>
                  <a:srgbClr val="B85D43"/>
                </a:solidFill>
                <a:latin typeface="Georgia"/>
                <a:ea typeface="Georgia"/>
                <a:cs typeface="Georgia"/>
              </a:defRPr>
            </a:pPr>
            <a:r>
              <a:rPr sz="1875" b="0">
                <a:solidFill>
                  <a:srgbClr val="B85D43"/>
                </a:solidFill>
                <a:latin typeface="Georgia"/>
                <a:ea typeface="Georgia"/>
                <a:cs typeface="Georgia"/>
              </a:rPr>
              <a:t>−6.3%</a:t>
            </a:r>
          </a:p>
        </p:txBody>
      </p:sp>
      <p:sp>
        <p:nvSpPr>
          <p:cNvPr id="27" name="scenario-bg-1">
            <a:extLst xmlns:a="http://schemas.openxmlformats.org/drawingml/2006/main">
              <a:ext uri="{FF2B5EF4-FFF2-40B4-BE49-F238E27FC236}">
                <a16:creationId xmlns:a16="http://schemas.microsoft.com/office/drawing/2014/main" id="{68D51178-EEA1-4AFC-ACDD-20A5DFBF4E7B}"/>
              </a:ext>
            </a:extLst>
          </p:cNvPr>
          <p:cNvSpPr>
            <a:spLocks xmlns:a="http://schemas.openxmlformats.org/drawingml/2006/main" noGrp="1"/>
          </p:cNvSpPr>
          <p:nvPr/>
        </p:nvSpPr>
        <p:spPr>
          <a:xfrm xmlns:a="http://schemas.openxmlformats.org/drawingml/2006/main">
            <a:off x="5810250" y="3810000"/>
            <a:ext cx="4819650" cy="152400"/>
          </a:xfrm>
          <a:prstGeom xmlns:a="http://schemas.openxmlformats.org/drawingml/2006/main" prst="rect">
            <a:avLst/>
          </a:prstGeom>
          <a:solidFill xmlns:a="http://schemas.openxmlformats.org/drawingml/2006/main">
            <a:srgbClr val="E8E2D8"/>
          </a:solidFill>
          <a:ln xmlns:a="http://schemas.openxmlformats.org/drawingml/2006/main" w="0">
            <a:solidFill>
              <a:srgbClr val="000000">
                <a:alpha val="0"/>
              </a:srgbClr>
            </a:solidFill>
            <a:prstDash val="solid"/>
          </a:ln>
        </p:spPr>
      </p:sp>
      <p:sp>
        <p:nvSpPr>
          <p:cNvPr id="28" name="scenario-bar-1">
            <a:extLst xmlns:a="http://schemas.openxmlformats.org/drawingml/2006/main">
              <a:ext uri="{FF2B5EF4-FFF2-40B4-BE49-F238E27FC236}">
                <a16:creationId xmlns:a16="http://schemas.microsoft.com/office/drawing/2014/main" id="{6DD59DE7-2027-4B30-85E6-967648591A9F}"/>
              </a:ext>
            </a:extLst>
          </p:cNvPr>
          <p:cNvSpPr>
            <a:spLocks xmlns:a="http://schemas.openxmlformats.org/drawingml/2006/main" noGrp="1"/>
          </p:cNvSpPr>
          <p:nvPr/>
        </p:nvSpPr>
        <p:spPr>
          <a:xfrm xmlns:a="http://schemas.openxmlformats.org/drawingml/2006/main">
            <a:off x="5810250" y="3810000"/>
            <a:ext cx="3429000" cy="152400"/>
          </a:xfrm>
          <a:prstGeom xmlns:a="http://schemas.openxmlformats.org/drawingml/2006/main" prst="rect">
            <a:avLst/>
          </a:prstGeom>
          <a:solidFill xmlns:a="http://schemas.openxmlformats.org/drawingml/2006/main">
            <a:srgbClr val="B85D43"/>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323175B6-97F4-47B2-8631-C31B4593D087}"/>
              </a:ext>
            </a:extLst>
          </p:cNvPr>
          <p:cNvSpPr>
            <a:spLocks xmlns:a="http://schemas.openxmlformats.org/drawingml/2006/main" noGrp="1"/>
          </p:cNvSpPr>
          <p:nvPr/>
        </p:nvSpPr>
        <p:spPr>
          <a:xfrm xmlns:a="http://schemas.openxmlformats.org/drawingml/2006/main">
            <a:off x="10725150" y="3771900"/>
            <a:ext cx="647700" cy="219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B85D43"/>
                </a:solidFill>
                <a:latin typeface="Aptos Mono"/>
                <a:ea typeface="Aptos Mono"/>
                <a:cs typeface="Aptos Mono"/>
              </a:defRPr>
            </a:pPr>
            <a:r>
              <a:rPr sz="750" b="1">
                <a:solidFill>
                  <a:srgbClr val="B85D43"/>
                </a:solidFill>
                <a:latin typeface="Aptos Mono"/>
                <a:ea typeface="Aptos Mono"/>
                <a:cs typeface="Aptos Mono"/>
              </a:rPr>
              <a:t>−USD 2.02m</a:t>
            </a:r>
          </a:p>
        </p:txBody>
      </p:sp>
      <p:sp>
        <p:nvSpPr>
          <p:cNvPr id="30" name="">
            <a:extLst xmlns:a="http://schemas.openxmlformats.org/drawingml/2006/main">
              <a:ext uri="{FF2B5EF4-FFF2-40B4-BE49-F238E27FC236}">
                <a16:creationId xmlns:a16="http://schemas.microsoft.com/office/drawing/2014/main" id="{702F24C7-68C6-4D71-97B3-D91A3A742124}"/>
              </a:ext>
            </a:extLst>
          </p:cNvPr>
          <p:cNvSpPr>
            <a:spLocks xmlns:a="http://schemas.openxmlformats.org/drawingml/2006/main" noGrp="1"/>
          </p:cNvSpPr>
          <p:nvPr/>
        </p:nvSpPr>
        <p:spPr>
          <a:xfrm xmlns:a="http://schemas.openxmlformats.org/drawingml/2006/main">
            <a:off x="5810250" y="4067175"/>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6F766F"/>
                </a:solidFill>
                <a:latin typeface="Aptos"/>
                <a:ea typeface="Aptos"/>
                <a:cs typeface="Aptos"/>
              </a:defRPr>
            </a:pPr>
            <a:r>
              <a:rPr sz="825" b="0">
                <a:solidFill>
                  <a:srgbClr val="6F766F"/>
                </a:solidFill>
                <a:latin typeface="Aptos"/>
                <a:ea typeface="Aptos"/>
                <a:cs typeface="Aptos"/>
              </a:rPr>
              <a:t>Normalization shocks to FCN, shipping and energy</a:t>
            </a:r>
          </a:p>
        </p:txBody>
      </p:sp>
      <p:sp>
        <p:nvSpPr>
          <p:cNvPr id="31" name="">
            <a:extLst xmlns:a="http://schemas.openxmlformats.org/drawingml/2006/main">
              <a:ext uri="{FF2B5EF4-FFF2-40B4-BE49-F238E27FC236}">
                <a16:creationId xmlns:a16="http://schemas.microsoft.com/office/drawing/2014/main" id="{07AF3F10-DA03-49C1-85BA-54A8168A6503}"/>
              </a:ext>
            </a:extLst>
          </p:cNvPr>
          <p:cNvSpPr>
            <a:spLocks xmlns:a="http://schemas.openxmlformats.org/drawingml/2006/main" noGrp="1"/>
          </p:cNvSpPr>
          <p:nvPr/>
        </p:nvSpPr>
        <p:spPr>
          <a:xfrm xmlns:a="http://schemas.openxmlformats.org/drawingml/2006/main">
            <a:off x="5810250" y="451485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BLOCKADE WORSENS</a:t>
            </a:r>
          </a:p>
        </p:txBody>
      </p:sp>
      <p:sp>
        <p:nvSpPr>
          <p:cNvPr id="32" name="">
            <a:extLst xmlns:a="http://schemas.openxmlformats.org/drawingml/2006/main">
              <a:ext uri="{FF2B5EF4-FFF2-40B4-BE49-F238E27FC236}">
                <a16:creationId xmlns:a16="http://schemas.microsoft.com/office/drawing/2014/main" id="{8E6A1F2C-A6F7-4A3D-A5F4-BEC0DBCB1F4A}"/>
              </a:ext>
            </a:extLst>
          </p:cNvPr>
          <p:cNvSpPr>
            <a:spLocks xmlns:a="http://schemas.openxmlformats.org/drawingml/2006/main" noGrp="1"/>
          </p:cNvSpPr>
          <p:nvPr/>
        </p:nvSpPr>
        <p:spPr>
          <a:xfrm xmlns:a="http://schemas.openxmlformats.org/drawingml/2006/main">
            <a:off x="10477500" y="4438650"/>
            <a:ext cx="8953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875" b="0">
                <a:solidFill>
                  <a:srgbClr val="2D5C56"/>
                </a:solidFill>
                <a:latin typeface="Georgia"/>
                <a:ea typeface="Georgia"/>
                <a:cs typeface="Georgia"/>
              </a:defRPr>
            </a:pPr>
            <a:r>
              <a:rPr sz="1875" b="0">
                <a:solidFill>
                  <a:srgbClr val="2D5C56"/>
                </a:solidFill>
                <a:latin typeface="Georgia"/>
                <a:ea typeface="Georgia"/>
                <a:cs typeface="Georgia"/>
              </a:rPr>
              <a:t>+4.7%</a:t>
            </a:r>
          </a:p>
        </p:txBody>
      </p:sp>
      <p:sp>
        <p:nvSpPr>
          <p:cNvPr id="33" name="scenario-bg-2">
            <a:extLst xmlns:a="http://schemas.openxmlformats.org/drawingml/2006/main">
              <a:ext uri="{FF2B5EF4-FFF2-40B4-BE49-F238E27FC236}">
                <a16:creationId xmlns:a16="http://schemas.microsoft.com/office/drawing/2014/main" id="{BAE9B6DE-96CE-4E97-A0AA-5ACB5458AA8C}"/>
              </a:ext>
            </a:extLst>
          </p:cNvPr>
          <p:cNvSpPr>
            <a:spLocks xmlns:a="http://schemas.openxmlformats.org/drawingml/2006/main" noGrp="1"/>
          </p:cNvSpPr>
          <p:nvPr/>
        </p:nvSpPr>
        <p:spPr>
          <a:xfrm xmlns:a="http://schemas.openxmlformats.org/drawingml/2006/main">
            <a:off x="5810250" y="4810125"/>
            <a:ext cx="4819650" cy="152400"/>
          </a:xfrm>
          <a:prstGeom xmlns:a="http://schemas.openxmlformats.org/drawingml/2006/main" prst="rect">
            <a:avLst/>
          </a:prstGeom>
          <a:solidFill xmlns:a="http://schemas.openxmlformats.org/drawingml/2006/main">
            <a:srgbClr val="E8E2D8"/>
          </a:solidFill>
          <a:ln xmlns:a="http://schemas.openxmlformats.org/drawingml/2006/main" w="0">
            <a:solidFill>
              <a:srgbClr val="000000">
                <a:alpha val="0"/>
              </a:srgbClr>
            </a:solidFill>
            <a:prstDash val="solid"/>
          </a:ln>
        </p:spPr>
      </p:sp>
      <p:sp>
        <p:nvSpPr>
          <p:cNvPr id="34" name="scenario-bar-2">
            <a:extLst xmlns:a="http://schemas.openxmlformats.org/drawingml/2006/main">
              <a:ext uri="{FF2B5EF4-FFF2-40B4-BE49-F238E27FC236}">
                <a16:creationId xmlns:a16="http://schemas.microsoft.com/office/drawing/2014/main" id="{CDECC85B-1D93-4147-A09B-B466385E6A62}"/>
              </a:ext>
            </a:extLst>
          </p:cNvPr>
          <p:cNvSpPr>
            <a:spLocks xmlns:a="http://schemas.openxmlformats.org/drawingml/2006/main" noGrp="1"/>
          </p:cNvSpPr>
          <p:nvPr/>
        </p:nvSpPr>
        <p:spPr>
          <a:xfrm xmlns:a="http://schemas.openxmlformats.org/drawingml/2006/main">
            <a:off x="5810250" y="4810125"/>
            <a:ext cx="2562225" cy="152400"/>
          </a:xfrm>
          <a:prstGeom xmlns:a="http://schemas.openxmlformats.org/drawingml/2006/main" prst="rect">
            <a:avLst/>
          </a:prstGeom>
          <a:solidFill xmlns:a="http://schemas.openxmlformats.org/drawingml/2006/main">
            <a:srgbClr val="2D5C56"/>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3E5F6BD5-F037-439F-9A8F-07408D9950DA}"/>
              </a:ext>
            </a:extLst>
          </p:cNvPr>
          <p:cNvSpPr>
            <a:spLocks xmlns:a="http://schemas.openxmlformats.org/drawingml/2006/main" noGrp="1"/>
          </p:cNvSpPr>
          <p:nvPr/>
        </p:nvSpPr>
        <p:spPr>
          <a:xfrm xmlns:a="http://schemas.openxmlformats.org/drawingml/2006/main">
            <a:off x="10725150" y="4772025"/>
            <a:ext cx="647700" cy="219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2D5C56"/>
                </a:solidFill>
                <a:latin typeface="Aptos Mono"/>
                <a:ea typeface="Aptos Mono"/>
                <a:cs typeface="Aptos Mono"/>
              </a:defRPr>
            </a:pPr>
            <a:r>
              <a:rPr sz="750" b="1">
                <a:solidFill>
                  <a:srgbClr val="2D5C56"/>
                </a:solidFill>
                <a:latin typeface="Aptos Mono"/>
                <a:ea typeface="Aptos Mono"/>
                <a:cs typeface="Aptos Mono"/>
              </a:rPr>
              <a:t>+USD 1.50m</a:t>
            </a:r>
          </a:p>
        </p:txBody>
      </p:sp>
      <p:sp>
        <p:nvSpPr>
          <p:cNvPr id="36" name="">
            <a:extLst xmlns:a="http://schemas.openxmlformats.org/drawingml/2006/main">
              <a:ext uri="{FF2B5EF4-FFF2-40B4-BE49-F238E27FC236}">
                <a16:creationId xmlns:a16="http://schemas.microsoft.com/office/drawing/2014/main" id="{6A62B264-2442-4546-B02D-7300FE3D4C31}"/>
              </a:ext>
            </a:extLst>
          </p:cNvPr>
          <p:cNvSpPr>
            <a:spLocks xmlns:a="http://schemas.openxmlformats.org/drawingml/2006/main" noGrp="1"/>
          </p:cNvSpPr>
          <p:nvPr/>
        </p:nvSpPr>
        <p:spPr>
          <a:xfrm xmlns:a="http://schemas.openxmlformats.org/drawingml/2006/main">
            <a:off x="5810250" y="5067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6F766F"/>
                </a:solidFill>
                <a:latin typeface="Aptos"/>
                <a:ea typeface="Aptos"/>
                <a:cs typeface="Aptos"/>
              </a:defRPr>
            </a:pPr>
            <a:r>
              <a:rPr sz="825" b="0">
                <a:solidFill>
                  <a:srgbClr val="6F766F"/>
                </a:solidFill>
                <a:latin typeface="Aptos"/>
                <a:ea typeface="Aptos"/>
                <a:cs typeface="Aptos"/>
              </a:rPr>
              <a:t>Risk-premium extension, no probability assigned</a:t>
            </a:r>
          </a:p>
        </p:txBody>
      </p:sp>
      <p:sp>
        <p:nvSpPr>
          <p:cNvPr id="37" name="scenario-question-rule">
            <a:extLst xmlns:a="http://schemas.openxmlformats.org/drawingml/2006/main">
              <a:ext uri="{FF2B5EF4-FFF2-40B4-BE49-F238E27FC236}">
                <a16:creationId xmlns:a16="http://schemas.microsoft.com/office/drawing/2014/main" id="{9A13CC6A-FA9A-4469-B566-CD5F77AF88AE}"/>
              </a:ext>
            </a:extLst>
          </p:cNvPr>
          <p:cNvSpPr>
            <a:spLocks xmlns:a="http://schemas.openxmlformats.org/drawingml/2006/main" noGrp="1"/>
          </p:cNvSpPr>
          <p:nvPr/>
        </p:nvSpPr>
        <p:spPr>
          <a:xfrm xmlns:a="http://schemas.openxmlformats.org/drawingml/2006/main">
            <a:off x="5810250" y="5467350"/>
            <a:ext cx="55626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43822105-1888-4A18-A90A-F71CAB31B1E3}"/>
              </a:ext>
            </a:extLst>
          </p:cNvPr>
          <p:cNvSpPr>
            <a:spLocks xmlns:a="http://schemas.openxmlformats.org/drawingml/2006/main" noGrp="1"/>
          </p:cNvSpPr>
          <p:nvPr/>
        </p:nvSpPr>
        <p:spPr>
          <a:xfrm xmlns:a="http://schemas.openxmlformats.org/drawingml/2006/main">
            <a:off x="5810250" y="563880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1">
                <a:solidFill>
                  <a:srgbClr val="B78F50"/>
                </a:solidFill>
                <a:latin typeface="Aptos"/>
                <a:ea typeface="Aptos"/>
                <a:cs typeface="Aptos"/>
              </a:defRPr>
            </a:pPr>
            <a:r>
              <a:rPr sz="675" b="1">
                <a:solidFill>
                  <a:srgbClr val="B78F50"/>
                </a:solidFill>
                <a:latin typeface="Aptos"/>
                <a:ea typeface="Aptos"/>
                <a:cs typeface="Aptos"/>
              </a:rPr>
              <a:t>NEXT RM MOVE</a:t>
            </a:r>
          </a:p>
        </p:txBody>
      </p:sp>
      <p:sp>
        <p:nvSpPr>
          <p:cNvPr id="39" name="">
            <a:extLst xmlns:a="http://schemas.openxmlformats.org/drawingml/2006/main">
              <a:ext uri="{FF2B5EF4-FFF2-40B4-BE49-F238E27FC236}">
                <a16:creationId xmlns:a16="http://schemas.microsoft.com/office/drawing/2014/main" id="{165C550F-80AD-457A-8268-0AC928E80732}"/>
              </a:ext>
            </a:extLst>
          </p:cNvPr>
          <p:cNvSpPr>
            <a:spLocks xmlns:a="http://schemas.openxmlformats.org/drawingml/2006/main" noGrp="1"/>
          </p:cNvSpPr>
          <p:nvPr/>
        </p:nvSpPr>
        <p:spPr>
          <a:xfrm xmlns:a="http://schemas.openxmlformats.org/drawingml/2006/main">
            <a:off x="7191375" y="5610225"/>
            <a:ext cx="4114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01E"/>
                </a:solidFill>
                <a:latin typeface="Georgia"/>
                <a:ea typeface="Georgia"/>
                <a:cs typeface="Georgia"/>
              </a:defRPr>
            </a:pPr>
            <a:r>
              <a:rPr sz="1050" b="0">
                <a:solidFill>
                  <a:srgbClr val="17201E"/>
                </a:solidFill>
                <a:latin typeface="Georgia"/>
                <a:ea typeface="Georgia"/>
                <a:cs typeface="Georgia"/>
              </a:rPr>
              <a:t>Ring-fence seed capital; map the USD 2.6m cash gap.</a:t>
            </a:r>
          </a:p>
        </p:txBody>
      </p:sp>
      <p:sp>
        <p:nvSpPr>
          <p:cNvPr id="40" name="footer-rule-7">
            <a:extLst xmlns:a="http://schemas.openxmlformats.org/drawingml/2006/main">
              <a:ext uri="{FF2B5EF4-FFF2-40B4-BE49-F238E27FC236}">
                <a16:creationId xmlns:a16="http://schemas.microsoft.com/office/drawing/2014/main" id="{F9CA806A-429D-401C-BD94-94D240D390A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B5F76601-ACC3-4F9F-9A9F-641BFA120C41}"/>
              </a:ext>
            </a:extLst>
          </p:cNvPr>
          <p:cNvSpPr>
            <a:spLocks xmlns:a="http://schemas.openxmlformats.org/drawingml/2006/main" noGrp="1"/>
          </p:cNvSpPr>
          <p:nvPr/>
        </p:nvSpPr>
        <p:spPr>
          <a:xfrm xmlns:a="http://schemas.openxmlformats.org/drawingml/2006/main">
            <a:off x="609600" y="6543675"/>
            <a:ext cx="942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0">
                <a:solidFill>
                  <a:srgbClr val="6F766F"/>
                </a:solidFill>
                <a:latin typeface="Aptos"/>
                <a:ea typeface="Aptos"/>
                <a:cs typeface="Aptos"/>
              </a:defRPr>
            </a:pPr>
            <a:r>
              <a:rPr sz="675" b="0">
                <a:solidFill>
                  <a:srgbClr val="6F766F"/>
                </a:solidFill>
                <a:latin typeface="Aptos"/>
                <a:ea typeface="Aptos"/>
                <a:cs typeface="Aptos"/>
              </a:rPr>
              <a:t>Source: holdings.csv · instruments.csv SYN-SP-0505 · event_log.csv 2026-08-05 · scenarios are illustrative</a:t>
            </a:r>
          </a:p>
        </p:txBody>
      </p:sp>
      <p:sp>
        <p:nvSpPr>
          <p:cNvPr id="42" name="">
            <a:extLst xmlns:a="http://schemas.openxmlformats.org/drawingml/2006/main">
              <a:ext uri="{FF2B5EF4-FFF2-40B4-BE49-F238E27FC236}">
                <a16:creationId xmlns:a16="http://schemas.microsoft.com/office/drawing/2014/main" id="{3618FFDA-BEC4-44C4-B1B5-DE90764BC97E}"/>
              </a:ext>
            </a:extLst>
          </p:cNvPr>
          <p:cNvSpPr>
            <a:spLocks xmlns:a="http://schemas.openxmlformats.org/drawingml/2006/main" noGrp="1"/>
          </p:cNvSpPr>
          <p:nvPr/>
        </p:nvSpPr>
        <p:spPr>
          <a:xfrm xmlns:a="http://schemas.openxmlformats.org/drawingml/2006/main">
            <a:off x="10991850" y="65341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2D5C56"/>
                </a:solidFill>
                <a:latin typeface="Aptos Mono"/>
                <a:ea typeface="Aptos Mono"/>
                <a:cs typeface="Aptos Mono"/>
              </a:defRPr>
            </a:pPr>
            <a:r>
              <a:rPr sz="750" b="1">
                <a:solidFill>
                  <a:srgbClr val="2D5C56"/>
                </a:solidFill>
                <a:latin typeface="Aptos Mono"/>
                <a:ea typeface="Aptos Mono"/>
                <a:cs typeface="Aptos Mono"/>
              </a:rPr>
              <a:t>04</a:t>
            </a:r>
          </a:p>
        </p:txBody>
      </p:sp>
    </p:spTree>
    <p:extLst>
      <p:ext uri="{BB962C8B-B14F-4D97-AF65-F5344CB8AC3E}">
        <p14:creationId xmlns:p14="http://schemas.microsoft.com/office/powerpoint/2010/main" val="38585791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FC0CF51C-D80C-49DB-AD84-96A7DAB1E2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kicker-10-marker">
            <a:extLst xmlns:a="http://schemas.openxmlformats.org/drawingml/2006/main">
              <a:ext uri="{FF2B5EF4-FFF2-40B4-BE49-F238E27FC236}">
                <a16:creationId xmlns:a16="http://schemas.microsoft.com/office/drawing/2014/main" id="{D676F46C-357D-4EC4-AF14-E77D83A9B8DE}"/>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kicker-10-label">
            <a:extLst xmlns:a="http://schemas.openxmlformats.org/drawingml/2006/main">
              <a:ext uri="{FF2B5EF4-FFF2-40B4-BE49-F238E27FC236}">
                <a16:creationId xmlns:a16="http://schemas.microsoft.com/office/drawing/2014/main" id="{8CDF3F24-11C4-4960-A611-AB6DB0706142}"/>
              </a:ext>
            </a:extLst>
          </p:cNvPr>
          <p:cNvSpPr>
            <a:spLocks xmlns:a="http://schemas.openxmlformats.org/drawingml/2006/main" noGrp="1"/>
          </p:cNvSpPr>
          <p:nvPr/>
        </p:nvSpPr>
        <p:spPr>
          <a:xfrm xmlns:a="http://schemas.openxmlformats.org/drawingml/2006/main">
            <a:off x="781050" y="371475"/>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2D5C56"/>
                </a:solidFill>
                <a:latin typeface="Aptos"/>
                <a:ea typeface="Aptos"/>
                <a:cs typeface="Aptos"/>
              </a:defRPr>
            </a:pPr>
            <a:r>
              <a:rPr sz="825" b="1">
                <a:solidFill>
                  <a:srgbClr val="2D5C56"/>
                </a:solidFill>
                <a:latin typeface="Aptos"/>
                <a:ea typeface="Aptos"/>
                <a:cs typeface="Aptos"/>
              </a:rPr>
              <a:t>WORKING PROTOTYPE</a:t>
            </a:r>
          </a:p>
        </p:txBody>
      </p:sp>
      <p:sp>
        <p:nvSpPr>
          <p:cNvPr id="4" name="">
            <a:extLst xmlns:a="http://schemas.openxmlformats.org/drawingml/2006/main">
              <a:ext uri="{FF2B5EF4-FFF2-40B4-BE49-F238E27FC236}">
                <a16:creationId xmlns:a16="http://schemas.microsoft.com/office/drawing/2014/main" id="{74782968-CCF0-40D0-B457-DF651DCB365F}"/>
              </a:ext>
            </a:extLst>
          </p:cNvPr>
          <p:cNvSpPr>
            <a:spLocks xmlns:a="http://schemas.openxmlformats.org/drawingml/2006/main" noGrp="1"/>
          </p:cNvSpPr>
          <p:nvPr/>
        </p:nvSpPr>
        <p:spPr>
          <a:xfrm xmlns:a="http://schemas.openxmlformats.org/drawingml/2006/main">
            <a:off x="609600" y="685800"/>
            <a:ext cx="104775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150" b="0">
                <a:solidFill>
                  <a:srgbClr val="17201E"/>
                </a:solidFill>
                <a:latin typeface="Georgia"/>
                <a:ea typeface="Georgia"/>
                <a:cs typeface="Georgia"/>
              </a:defRPr>
            </a:pPr>
            <a:r>
              <a:rPr sz="3150" b="0">
                <a:solidFill>
                  <a:srgbClr val="17201E"/>
                </a:solidFill>
                <a:latin typeface="Georgia"/>
                <a:ea typeface="Georgia"/>
                <a:cs typeface="Georgia"/>
              </a:rPr>
              <a:t>The trust-critical loop is working end to end—not mocked in slides.</a:t>
            </a:r>
          </a:p>
        </p:txBody>
      </p:sp>
      <p:sp>
        <p:nvSpPr>
          <p:cNvPr id="5" name="">
            <a:extLst xmlns:a="http://schemas.openxmlformats.org/drawingml/2006/main">
              <a:ext uri="{FF2B5EF4-FFF2-40B4-BE49-F238E27FC236}">
                <a16:creationId xmlns:a16="http://schemas.microsoft.com/office/drawing/2014/main" id="{515E0214-A414-4B15-8CAA-7391D9963A81}"/>
              </a:ext>
            </a:extLst>
          </p:cNvPr>
          <p:cNvSpPr>
            <a:spLocks xmlns:a="http://schemas.openxmlformats.org/drawingml/2006/main" noGrp="1"/>
          </p:cNvSpPr>
          <p:nvPr/>
        </p:nvSpPr>
        <p:spPr>
          <a:xfrm xmlns:a="http://schemas.openxmlformats.org/drawingml/2006/main">
            <a:off x="609600" y="1695450"/>
            <a:ext cx="9620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F766F"/>
                </a:solidFill>
                <a:latin typeface="Aptos"/>
                <a:ea typeface="Aptos"/>
                <a:cs typeface="Aptos"/>
              </a:defRPr>
            </a:pPr>
            <a:r>
              <a:rPr sz="1200" b="0">
                <a:solidFill>
                  <a:srgbClr val="6F766F"/>
                </a:solidFill>
                <a:latin typeface="Aptos"/>
                <a:ea typeface="Aptos"/>
                <a:cs typeface="Aptos"/>
              </a:rPr>
              <a:t>A dependency-light prototype recalculates the evidence bundle directly from the supplied files on every request.</a:t>
            </a:r>
          </a:p>
        </p:txBody>
      </p:sp>
      <p:sp>
        <p:nvSpPr>
          <p:cNvPr id="6" name="work-metrics">
            <a:extLst xmlns:a="http://schemas.openxmlformats.org/drawingml/2006/main">
              <a:ext uri="{FF2B5EF4-FFF2-40B4-BE49-F238E27FC236}">
                <a16:creationId xmlns:a16="http://schemas.microsoft.com/office/drawing/2014/main" id="{581AFAFA-6E5E-47A6-8AC9-673B4987C5C8}"/>
              </a:ext>
            </a:extLst>
          </p:cNvPr>
          <p:cNvSpPr>
            <a:spLocks xmlns:a="http://schemas.openxmlformats.org/drawingml/2006/main" noGrp="1"/>
          </p:cNvSpPr>
          <p:nvPr/>
        </p:nvSpPr>
        <p:spPr>
          <a:xfrm xmlns:a="http://schemas.openxmlformats.org/drawingml/2006/main">
            <a:off x="609600" y="2095500"/>
            <a:ext cx="2876550" cy="3810000"/>
          </a:xfrm>
          <a:prstGeom xmlns:a="http://schemas.openxmlformats.org/drawingml/2006/main" prst="rect">
            <a:avLst/>
          </a:prstGeom>
          <a:solidFill xmlns:a="http://schemas.openxmlformats.org/drawingml/2006/main">
            <a:srgbClr val="17201E"/>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5CE3E2D-C7F7-4F2E-8A2C-D5B745D4FBB0}"/>
              </a:ext>
            </a:extLst>
          </p:cNvPr>
          <p:cNvSpPr>
            <a:spLocks xmlns:a="http://schemas.openxmlformats.org/drawingml/2006/main" noGrp="1"/>
          </p:cNvSpPr>
          <p:nvPr/>
        </p:nvSpPr>
        <p:spPr>
          <a:xfrm xmlns:a="http://schemas.openxmlformats.org/drawingml/2006/main">
            <a:off x="857250" y="2371725"/>
            <a:ext cx="214312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150" b="0">
                <a:solidFill>
                  <a:srgbClr val="E7D6B5"/>
                </a:solidFill>
                <a:latin typeface="Georgia"/>
                <a:ea typeface="Georgia"/>
                <a:cs typeface="Georgia"/>
              </a:defRPr>
            </a:pPr>
            <a:r>
              <a:rPr sz="3150" b="0">
                <a:solidFill>
                  <a:srgbClr val="E7D6B5"/>
                </a:solidFill>
                <a:latin typeface="Georgia"/>
                <a:ea typeface="Georgia"/>
                <a:cs typeface="Georgia"/>
              </a:rPr>
              <a:t>11</a:t>
            </a:r>
          </a:p>
        </p:txBody>
      </p:sp>
      <p:sp>
        <p:nvSpPr>
          <p:cNvPr id="8" name="">
            <a:extLst xmlns:a="http://schemas.openxmlformats.org/drawingml/2006/main">
              <a:ext uri="{FF2B5EF4-FFF2-40B4-BE49-F238E27FC236}">
                <a16:creationId xmlns:a16="http://schemas.microsoft.com/office/drawing/2014/main" id="{9654C286-A45A-4607-9A5F-B3472DC4ECD0}"/>
              </a:ext>
            </a:extLst>
          </p:cNvPr>
          <p:cNvSpPr>
            <a:spLocks xmlns:a="http://schemas.openxmlformats.org/drawingml/2006/main" noGrp="1"/>
          </p:cNvSpPr>
          <p:nvPr/>
        </p:nvSpPr>
        <p:spPr>
          <a:xfrm xmlns:a="http://schemas.openxmlformats.org/drawingml/2006/main">
            <a:off x="857250" y="2828925"/>
            <a:ext cx="21431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9EAAA6"/>
                </a:solidFill>
                <a:latin typeface="Aptos"/>
                <a:ea typeface="Aptos"/>
                <a:cs typeface="Aptos"/>
              </a:defRPr>
            </a:pPr>
            <a:r>
              <a:rPr sz="750" b="1">
                <a:solidFill>
                  <a:srgbClr val="9EAAA6"/>
                </a:solidFill>
                <a:latin typeface="Aptos"/>
                <a:ea typeface="Aptos"/>
                <a:cs typeface="Aptos"/>
              </a:rPr>
              <a:t>SOURCE DATASETS JOINED</a:t>
            </a:r>
          </a:p>
        </p:txBody>
      </p:sp>
      <p:sp>
        <p:nvSpPr>
          <p:cNvPr id="9" name="work-rule-1">
            <a:extLst xmlns:a="http://schemas.openxmlformats.org/drawingml/2006/main">
              <a:ext uri="{FF2B5EF4-FFF2-40B4-BE49-F238E27FC236}">
                <a16:creationId xmlns:a16="http://schemas.microsoft.com/office/drawing/2014/main" id="{A2481824-B7D6-432D-BF3C-505C35DD42E1}"/>
              </a:ext>
            </a:extLst>
          </p:cNvPr>
          <p:cNvSpPr>
            <a:spLocks xmlns:a="http://schemas.openxmlformats.org/drawingml/2006/main" noGrp="1"/>
          </p:cNvSpPr>
          <p:nvPr/>
        </p:nvSpPr>
        <p:spPr>
          <a:xfrm xmlns:a="http://schemas.openxmlformats.org/drawingml/2006/main">
            <a:off x="857250" y="3133725"/>
            <a:ext cx="2381250" cy="9525"/>
          </a:xfrm>
          <a:prstGeom xmlns:a="http://schemas.openxmlformats.org/drawingml/2006/main" prst="rect">
            <a:avLst/>
          </a:prstGeom>
          <a:solidFill xmlns:a="http://schemas.openxmlformats.org/drawingml/2006/main">
            <a:srgbClr val="40514D"/>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CB4C2BA-6DE5-41A9-94CA-C6F50416CF1F}"/>
              </a:ext>
            </a:extLst>
          </p:cNvPr>
          <p:cNvSpPr>
            <a:spLocks xmlns:a="http://schemas.openxmlformats.org/drawingml/2006/main" noGrp="1"/>
          </p:cNvSpPr>
          <p:nvPr/>
        </p:nvSpPr>
        <p:spPr>
          <a:xfrm xmlns:a="http://schemas.openxmlformats.org/drawingml/2006/main">
            <a:off x="857250" y="3381375"/>
            <a:ext cx="214312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0">
                <a:solidFill>
                  <a:srgbClr val="E7D6B5"/>
                </a:solidFill>
                <a:latin typeface="Georgia"/>
                <a:ea typeface="Georgia"/>
                <a:cs typeface="Georgia"/>
              </a:defRPr>
            </a:pPr>
            <a:r>
              <a:rPr sz="2850" b="0">
                <a:solidFill>
                  <a:srgbClr val="E7D6B5"/>
                </a:solidFill>
                <a:latin typeface="Georgia"/>
                <a:ea typeface="Georgia"/>
                <a:cs typeface="Georgia"/>
              </a:rPr>
              <a:t>20 / 24</a:t>
            </a:r>
          </a:p>
        </p:txBody>
      </p:sp>
      <p:sp>
        <p:nvSpPr>
          <p:cNvPr id="11" name="">
            <a:extLst xmlns:a="http://schemas.openxmlformats.org/drawingml/2006/main">
              <a:ext uri="{FF2B5EF4-FFF2-40B4-BE49-F238E27FC236}">
                <a16:creationId xmlns:a16="http://schemas.microsoft.com/office/drawing/2014/main" id="{CC2C13F2-6EED-4573-96AB-4285CDCAA08E}"/>
              </a:ext>
            </a:extLst>
          </p:cNvPr>
          <p:cNvSpPr>
            <a:spLocks xmlns:a="http://schemas.openxmlformats.org/drawingml/2006/main" noGrp="1"/>
          </p:cNvSpPr>
          <p:nvPr/>
        </p:nvSpPr>
        <p:spPr>
          <a:xfrm xmlns:a="http://schemas.openxmlformats.org/drawingml/2006/main">
            <a:off x="857250" y="3838575"/>
            <a:ext cx="21431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9EAAA6"/>
                </a:solidFill>
                <a:latin typeface="Aptos"/>
                <a:ea typeface="Aptos"/>
                <a:cs typeface="Aptos"/>
              </a:defRPr>
            </a:pPr>
            <a:r>
              <a:rPr sz="750" b="1">
                <a:solidFill>
                  <a:srgbClr val="9EAAA6"/>
                </a:solidFill>
                <a:latin typeface="Aptos"/>
                <a:ea typeface="Aptos"/>
                <a:cs typeface="Aptos"/>
              </a:rPr>
              <a:t>CLIENTS / PORTFOLIOS RANKED</a:t>
            </a:r>
          </a:p>
        </p:txBody>
      </p:sp>
      <p:sp>
        <p:nvSpPr>
          <p:cNvPr id="12" name="work-rule-2">
            <a:extLst xmlns:a="http://schemas.openxmlformats.org/drawingml/2006/main">
              <a:ext uri="{FF2B5EF4-FFF2-40B4-BE49-F238E27FC236}">
                <a16:creationId xmlns:a16="http://schemas.microsoft.com/office/drawing/2014/main" id="{ECAEA2AB-3D9D-4E98-95C0-D9D81293BA27}"/>
              </a:ext>
            </a:extLst>
          </p:cNvPr>
          <p:cNvSpPr>
            <a:spLocks xmlns:a="http://schemas.openxmlformats.org/drawingml/2006/main" noGrp="1"/>
          </p:cNvSpPr>
          <p:nvPr/>
        </p:nvSpPr>
        <p:spPr>
          <a:xfrm xmlns:a="http://schemas.openxmlformats.org/drawingml/2006/main">
            <a:off x="857250" y="4124325"/>
            <a:ext cx="2381250" cy="9525"/>
          </a:xfrm>
          <a:prstGeom xmlns:a="http://schemas.openxmlformats.org/drawingml/2006/main" prst="rect">
            <a:avLst/>
          </a:prstGeom>
          <a:solidFill xmlns:a="http://schemas.openxmlformats.org/drawingml/2006/main">
            <a:srgbClr val="40514D"/>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0074B47C-0B64-4F0B-BD45-7E8EA214CB62}"/>
              </a:ext>
            </a:extLst>
          </p:cNvPr>
          <p:cNvSpPr>
            <a:spLocks xmlns:a="http://schemas.openxmlformats.org/drawingml/2006/main" noGrp="1"/>
          </p:cNvSpPr>
          <p:nvPr/>
        </p:nvSpPr>
        <p:spPr>
          <a:xfrm xmlns:a="http://schemas.openxmlformats.org/drawingml/2006/main">
            <a:off x="857250" y="4371975"/>
            <a:ext cx="214312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150" b="0">
                <a:solidFill>
                  <a:srgbClr val="E7D6B5"/>
                </a:solidFill>
                <a:latin typeface="Georgia"/>
                <a:ea typeface="Georgia"/>
                <a:cs typeface="Georgia"/>
              </a:defRPr>
            </a:pPr>
            <a:r>
              <a:rPr sz="3150" b="0">
                <a:solidFill>
                  <a:srgbClr val="E7D6B5"/>
                </a:solidFill>
                <a:latin typeface="Georgia"/>
                <a:ea typeface="Georgia"/>
                <a:cs typeface="Georgia"/>
              </a:rPr>
              <a:t>3</a:t>
            </a:r>
          </a:p>
        </p:txBody>
      </p:sp>
      <p:sp>
        <p:nvSpPr>
          <p:cNvPr id="14" name="">
            <a:extLst xmlns:a="http://schemas.openxmlformats.org/drawingml/2006/main">
              <a:ext uri="{FF2B5EF4-FFF2-40B4-BE49-F238E27FC236}">
                <a16:creationId xmlns:a16="http://schemas.microsoft.com/office/drawing/2014/main" id="{D98D2E67-E996-434F-845A-51B556F81BBB}"/>
              </a:ext>
            </a:extLst>
          </p:cNvPr>
          <p:cNvSpPr>
            <a:spLocks xmlns:a="http://schemas.openxmlformats.org/drawingml/2006/main" noGrp="1"/>
          </p:cNvSpPr>
          <p:nvPr/>
        </p:nvSpPr>
        <p:spPr>
          <a:xfrm xmlns:a="http://schemas.openxmlformats.org/drawingml/2006/main">
            <a:off x="857250" y="4838700"/>
            <a:ext cx="21431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9EAAA6"/>
                </a:solidFill>
                <a:latin typeface="Aptos"/>
                <a:ea typeface="Aptos"/>
                <a:cs typeface="Aptos"/>
              </a:defRPr>
            </a:pPr>
            <a:r>
              <a:rPr sz="750" b="1">
                <a:solidFill>
                  <a:srgbClr val="9EAAA6"/>
                </a:solidFill>
                <a:latin typeface="Aptos"/>
                <a:ea typeface="Aptos"/>
                <a:cs typeface="Aptos"/>
              </a:rPr>
              <a:t>DEEP DECISION ROOMS</a:t>
            </a:r>
          </a:p>
        </p:txBody>
      </p:sp>
      <p:sp>
        <p:nvSpPr>
          <p:cNvPr id="15" name="work-rule-3">
            <a:extLst xmlns:a="http://schemas.openxmlformats.org/drawingml/2006/main">
              <a:ext uri="{FF2B5EF4-FFF2-40B4-BE49-F238E27FC236}">
                <a16:creationId xmlns:a16="http://schemas.microsoft.com/office/drawing/2014/main" id="{3B67D3C6-E194-45DC-91B2-DAA8B789523D}"/>
              </a:ext>
            </a:extLst>
          </p:cNvPr>
          <p:cNvSpPr>
            <a:spLocks xmlns:a="http://schemas.openxmlformats.org/drawingml/2006/main" noGrp="1"/>
          </p:cNvSpPr>
          <p:nvPr/>
        </p:nvSpPr>
        <p:spPr>
          <a:xfrm xmlns:a="http://schemas.openxmlformats.org/drawingml/2006/main">
            <a:off x="857250" y="5133975"/>
            <a:ext cx="2381250" cy="9525"/>
          </a:xfrm>
          <a:prstGeom xmlns:a="http://schemas.openxmlformats.org/drawingml/2006/main" prst="rect">
            <a:avLst/>
          </a:prstGeom>
          <a:solidFill xmlns:a="http://schemas.openxmlformats.org/drawingml/2006/main">
            <a:srgbClr val="40514D"/>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E7ADD99F-7D26-4254-8455-ED9D8297DD33}"/>
              </a:ext>
            </a:extLst>
          </p:cNvPr>
          <p:cNvSpPr>
            <a:spLocks xmlns:a="http://schemas.openxmlformats.org/drawingml/2006/main" noGrp="1"/>
          </p:cNvSpPr>
          <p:nvPr/>
        </p:nvSpPr>
        <p:spPr>
          <a:xfrm xmlns:a="http://schemas.openxmlformats.org/drawingml/2006/main">
            <a:off x="857250" y="5181600"/>
            <a:ext cx="21431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0">
                <a:solidFill>
                  <a:srgbClr val="E7D6B5"/>
                </a:solidFill>
                <a:latin typeface="Georgia"/>
                <a:ea typeface="Georgia"/>
                <a:cs typeface="Georgia"/>
              </a:defRPr>
            </a:pPr>
            <a:r>
              <a:rPr sz="2100" b="0">
                <a:solidFill>
                  <a:srgbClr val="E7D6B5"/>
                </a:solidFill>
                <a:latin typeface="Georgia"/>
                <a:ea typeface="Georgia"/>
                <a:cs typeface="Georgia"/>
              </a:rPr>
              <a:t>18 / 18</a:t>
            </a:r>
          </a:p>
        </p:txBody>
      </p:sp>
      <p:sp>
        <p:nvSpPr>
          <p:cNvPr id="17" name="">
            <a:extLst xmlns:a="http://schemas.openxmlformats.org/drawingml/2006/main">
              <a:ext uri="{FF2B5EF4-FFF2-40B4-BE49-F238E27FC236}">
                <a16:creationId xmlns:a16="http://schemas.microsoft.com/office/drawing/2014/main" id="{E52839F8-2B73-4895-9B78-DCA570B437EB}"/>
              </a:ext>
            </a:extLst>
          </p:cNvPr>
          <p:cNvSpPr>
            <a:spLocks xmlns:a="http://schemas.openxmlformats.org/drawingml/2006/main" noGrp="1"/>
          </p:cNvSpPr>
          <p:nvPr/>
        </p:nvSpPr>
        <p:spPr>
          <a:xfrm xmlns:a="http://schemas.openxmlformats.org/drawingml/2006/main">
            <a:off x="857250" y="5543550"/>
            <a:ext cx="21431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9EAAA6"/>
                </a:solidFill>
                <a:latin typeface="Aptos"/>
                <a:ea typeface="Aptos"/>
                <a:cs typeface="Aptos"/>
              </a:defRPr>
            </a:pPr>
            <a:r>
              <a:rPr sz="750" b="1">
                <a:solidFill>
                  <a:srgbClr val="9EAAA6"/>
                </a:solidFill>
                <a:latin typeface="Aptos"/>
                <a:ea typeface="Aptos"/>
                <a:cs typeface="Aptos"/>
              </a:rPr>
              <a:t>PYTHON TESTS PASS</a:t>
            </a:r>
          </a:p>
        </p:txBody>
      </p:sp>
      <p:sp>
        <p:nvSpPr>
          <p:cNvPr id="18" name="">
            <a:extLst xmlns:a="http://schemas.openxmlformats.org/drawingml/2006/main">
              <a:ext uri="{FF2B5EF4-FFF2-40B4-BE49-F238E27FC236}">
                <a16:creationId xmlns:a16="http://schemas.microsoft.com/office/drawing/2014/main" id="{49E62390-D804-4F63-9F52-947EB5A12044}"/>
              </a:ext>
            </a:extLst>
          </p:cNvPr>
          <p:cNvSpPr>
            <a:spLocks xmlns:a="http://schemas.openxmlformats.org/drawingml/2006/main" noGrp="1"/>
          </p:cNvSpPr>
          <p:nvPr/>
        </p:nvSpPr>
        <p:spPr>
          <a:xfrm xmlns:a="http://schemas.openxmlformats.org/drawingml/2006/main">
            <a:off x="3914775" y="2152650"/>
            <a:ext cx="2381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RUNNING SYSTEM</a:t>
            </a:r>
          </a:p>
        </p:txBody>
      </p:sp>
      <p:sp>
        <p:nvSpPr>
          <p:cNvPr id="19" name="code-row-1">
            <a:extLst xmlns:a="http://schemas.openxmlformats.org/drawingml/2006/main">
              <a:ext uri="{FF2B5EF4-FFF2-40B4-BE49-F238E27FC236}">
                <a16:creationId xmlns:a16="http://schemas.microsoft.com/office/drawing/2014/main" id="{CE88B1F7-0E19-49E1-8678-5FAC02459B80}"/>
              </a:ext>
            </a:extLst>
          </p:cNvPr>
          <p:cNvSpPr>
            <a:spLocks xmlns:a="http://schemas.openxmlformats.org/drawingml/2006/main" noGrp="1"/>
          </p:cNvSpPr>
          <p:nvPr/>
        </p:nvSpPr>
        <p:spPr>
          <a:xfrm xmlns:a="http://schemas.openxmlformats.org/drawingml/2006/main">
            <a:off x="3914775" y="2543175"/>
            <a:ext cx="3333750" cy="5905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5"/>
            </a:solidFill>
            <a:prstDash val="solid"/>
          </a:ln>
        </p:spPr>
      </p:sp>
      <p:sp>
        <p:nvSpPr>
          <p:cNvPr id="20" name="">
            <a:extLst xmlns:a="http://schemas.openxmlformats.org/drawingml/2006/main">
              <a:ext uri="{FF2B5EF4-FFF2-40B4-BE49-F238E27FC236}">
                <a16:creationId xmlns:a16="http://schemas.microsoft.com/office/drawing/2014/main" id="{7EFA1538-FDB3-43C5-BBD0-0DA022F1F051}"/>
              </a:ext>
            </a:extLst>
          </p:cNvPr>
          <p:cNvSpPr>
            <a:spLocks xmlns:a="http://schemas.openxmlformats.org/drawingml/2006/main" noGrp="1"/>
          </p:cNvSpPr>
          <p:nvPr/>
        </p:nvSpPr>
        <p:spPr>
          <a:xfrm xmlns:a="http://schemas.openxmlformats.org/drawingml/2006/main">
            <a:off x="4076700" y="26289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app.py</a:t>
            </a:r>
          </a:p>
        </p:txBody>
      </p:sp>
      <p:sp>
        <p:nvSpPr>
          <p:cNvPr id="21" name="">
            <a:extLst xmlns:a="http://schemas.openxmlformats.org/drawingml/2006/main">
              <a:ext uri="{FF2B5EF4-FFF2-40B4-BE49-F238E27FC236}">
                <a16:creationId xmlns:a16="http://schemas.microsoft.com/office/drawing/2014/main" id="{D28B5E86-4BD8-40C8-BA51-E759A5F8FCD9}"/>
              </a:ext>
            </a:extLst>
          </p:cNvPr>
          <p:cNvSpPr>
            <a:spLocks xmlns:a="http://schemas.openxmlformats.org/drawingml/2006/main" noGrp="1"/>
          </p:cNvSpPr>
          <p:nvPr/>
        </p:nvSpPr>
        <p:spPr>
          <a:xfrm xmlns:a="http://schemas.openxmlformats.org/drawingml/2006/main">
            <a:off x="5610225" y="2628900"/>
            <a:ext cx="1485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local API + static server</a:t>
            </a:r>
          </a:p>
        </p:txBody>
      </p:sp>
      <p:sp>
        <p:nvSpPr>
          <p:cNvPr id="22" name="code-row-2">
            <a:extLst xmlns:a="http://schemas.openxmlformats.org/drawingml/2006/main">
              <a:ext uri="{FF2B5EF4-FFF2-40B4-BE49-F238E27FC236}">
                <a16:creationId xmlns:a16="http://schemas.microsoft.com/office/drawing/2014/main" id="{B4FA45FE-C6AF-4AD4-87BD-58EAD2C4C8C7}"/>
              </a:ext>
            </a:extLst>
          </p:cNvPr>
          <p:cNvSpPr>
            <a:spLocks xmlns:a="http://schemas.openxmlformats.org/drawingml/2006/main" noGrp="1"/>
          </p:cNvSpPr>
          <p:nvPr/>
        </p:nvSpPr>
        <p:spPr>
          <a:xfrm xmlns:a="http://schemas.openxmlformats.org/drawingml/2006/main">
            <a:off x="3914775" y="3267075"/>
            <a:ext cx="3333750" cy="5905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5"/>
            </a:solidFill>
            <a:prstDash val="solid"/>
          </a:ln>
        </p:spPr>
      </p:sp>
      <p:sp>
        <p:nvSpPr>
          <p:cNvPr id="23" name="">
            <a:extLst xmlns:a="http://schemas.openxmlformats.org/drawingml/2006/main">
              <a:ext uri="{FF2B5EF4-FFF2-40B4-BE49-F238E27FC236}">
                <a16:creationId xmlns:a16="http://schemas.microsoft.com/office/drawing/2014/main" id="{6D0F489B-36DC-423B-A8D5-9BA6724084BA}"/>
              </a:ext>
            </a:extLst>
          </p:cNvPr>
          <p:cNvSpPr>
            <a:spLocks xmlns:a="http://schemas.openxmlformats.org/drawingml/2006/main" noGrp="1"/>
          </p:cNvSpPr>
          <p:nvPr/>
        </p:nvSpPr>
        <p:spPr>
          <a:xfrm xmlns:a="http://schemas.openxmlformats.org/drawingml/2006/main">
            <a:off x="4076700" y="3352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tessera/engine.py</a:t>
            </a:r>
          </a:p>
        </p:txBody>
      </p:sp>
      <p:sp>
        <p:nvSpPr>
          <p:cNvPr id="24" name="">
            <a:extLst xmlns:a="http://schemas.openxmlformats.org/drawingml/2006/main">
              <a:ext uri="{FF2B5EF4-FFF2-40B4-BE49-F238E27FC236}">
                <a16:creationId xmlns:a16="http://schemas.microsoft.com/office/drawing/2014/main" id="{FB03EFFD-DA2C-4041-8E82-87056A723366}"/>
              </a:ext>
            </a:extLst>
          </p:cNvPr>
          <p:cNvSpPr>
            <a:spLocks xmlns:a="http://schemas.openxmlformats.org/drawingml/2006/main" noGrp="1"/>
          </p:cNvSpPr>
          <p:nvPr/>
        </p:nvSpPr>
        <p:spPr>
          <a:xfrm xmlns:a="http://schemas.openxmlformats.org/drawingml/2006/main">
            <a:off x="5610225" y="3352800"/>
            <a:ext cx="1485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joins · checks · ranking · scenarios · evidence</a:t>
            </a:r>
          </a:p>
        </p:txBody>
      </p:sp>
      <p:sp>
        <p:nvSpPr>
          <p:cNvPr id="25" name="code-row-3">
            <a:extLst xmlns:a="http://schemas.openxmlformats.org/drawingml/2006/main">
              <a:ext uri="{FF2B5EF4-FFF2-40B4-BE49-F238E27FC236}">
                <a16:creationId xmlns:a16="http://schemas.microsoft.com/office/drawing/2014/main" id="{EDC0CF30-53E6-4C2D-887F-D3022909B3B1}"/>
              </a:ext>
            </a:extLst>
          </p:cNvPr>
          <p:cNvSpPr>
            <a:spLocks xmlns:a="http://schemas.openxmlformats.org/drawingml/2006/main" noGrp="1"/>
          </p:cNvSpPr>
          <p:nvPr/>
        </p:nvSpPr>
        <p:spPr>
          <a:xfrm xmlns:a="http://schemas.openxmlformats.org/drawingml/2006/main">
            <a:off x="3914775" y="3990975"/>
            <a:ext cx="3333750" cy="5905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5"/>
            </a:solidFill>
            <a:prstDash val="solid"/>
          </a:ln>
        </p:spPr>
      </p:sp>
      <p:sp>
        <p:nvSpPr>
          <p:cNvPr id="26" name="">
            <a:extLst xmlns:a="http://schemas.openxmlformats.org/drawingml/2006/main">
              <a:ext uri="{FF2B5EF4-FFF2-40B4-BE49-F238E27FC236}">
                <a16:creationId xmlns:a16="http://schemas.microsoft.com/office/drawing/2014/main" id="{2D131357-07EE-49AA-9229-651598A2D4B6}"/>
              </a:ext>
            </a:extLst>
          </p:cNvPr>
          <p:cNvSpPr>
            <a:spLocks xmlns:a="http://schemas.openxmlformats.org/drawingml/2006/main" noGrp="1"/>
          </p:cNvSpPr>
          <p:nvPr/>
        </p:nvSpPr>
        <p:spPr>
          <a:xfrm xmlns:a="http://schemas.openxmlformats.org/drawingml/2006/main">
            <a:off x="4076700" y="40767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web/</a:t>
            </a:r>
          </a:p>
        </p:txBody>
      </p:sp>
      <p:sp>
        <p:nvSpPr>
          <p:cNvPr id="27" name="">
            <a:extLst xmlns:a="http://schemas.openxmlformats.org/drawingml/2006/main">
              <a:ext uri="{FF2B5EF4-FFF2-40B4-BE49-F238E27FC236}">
                <a16:creationId xmlns:a16="http://schemas.microsoft.com/office/drawing/2014/main" id="{3A59394C-0D36-43A3-97F0-6BF57F959C65}"/>
              </a:ext>
            </a:extLst>
          </p:cNvPr>
          <p:cNvSpPr>
            <a:spLocks xmlns:a="http://schemas.openxmlformats.org/drawingml/2006/main" noGrp="1"/>
          </p:cNvSpPr>
          <p:nvPr/>
        </p:nvSpPr>
        <p:spPr>
          <a:xfrm xmlns:a="http://schemas.openxmlformats.org/drawingml/2006/main">
            <a:off x="5610225" y="4076700"/>
            <a:ext cx="1485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interactive RM workbench</a:t>
            </a:r>
          </a:p>
        </p:txBody>
      </p:sp>
      <p:sp>
        <p:nvSpPr>
          <p:cNvPr id="28" name="code-row-4">
            <a:extLst xmlns:a="http://schemas.openxmlformats.org/drawingml/2006/main">
              <a:ext uri="{FF2B5EF4-FFF2-40B4-BE49-F238E27FC236}">
                <a16:creationId xmlns:a16="http://schemas.microsoft.com/office/drawing/2014/main" id="{8559B571-9869-4315-908E-5A3A7406BB39}"/>
              </a:ext>
            </a:extLst>
          </p:cNvPr>
          <p:cNvSpPr>
            <a:spLocks xmlns:a="http://schemas.openxmlformats.org/drawingml/2006/main" noGrp="1"/>
          </p:cNvSpPr>
          <p:nvPr/>
        </p:nvSpPr>
        <p:spPr>
          <a:xfrm xmlns:a="http://schemas.openxmlformats.org/drawingml/2006/main">
            <a:off x="3914775" y="4714875"/>
            <a:ext cx="3333750" cy="5905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5"/>
            </a:solidFill>
            <a:prstDash val="solid"/>
          </a:ln>
        </p:spPr>
      </p:sp>
      <p:sp>
        <p:nvSpPr>
          <p:cNvPr id="29" name="">
            <a:extLst xmlns:a="http://schemas.openxmlformats.org/drawingml/2006/main">
              <a:ext uri="{FF2B5EF4-FFF2-40B4-BE49-F238E27FC236}">
                <a16:creationId xmlns:a16="http://schemas.microsoft.com/office/drawing/2014/main" id="{3A02B6BD-92ED-429C-9610-68E24C4B91C5}"/>
              </a:ext>
            </a:extLst>
          </p:cNvPr>
          <p:cNvSpPr>
            <a:spLocks xmlns:a="http://schemas.openxmlformats.org/drawingml/2006/main" noGrp="1"/>
          </p:cNvSpPr>
          <p:nvPr/>
        </p:nvSpPr>
        <p:spPr>
          <a:xfrm xmlns:a="http://schemas.openxmlformats.org/drawingml/2006/main">
            <a:off x="4076700" y="48006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tests/</a:t>
            </a:r>
          </a:p>
        </p:txBody>
      </p:sp>
      <p:sp>
        <p:nvSpPr>
          <p:cNvPr id="30" name="">
            <a:extLst xmlns:a="http://schemas.openxmlformats.org/drawingml/2006/main">
              <a:ext uri="{FF2B5EF4-FFF2-40B4-BE49-F238E27FC236}">
                <a16:creationId xmlns:a16="http://schemas.microsoft.com/office/drawing/2014/main" id="{8CB5FC34-6738-4806-AD25-4A7CA3FD5CF6}"/>
              </a:ext>
            </a:extLst>
          </p:cNvPr>
          <p:cNvSpPr>
            <a:spLocks xmlns:a="http://schemas.openxmlformats.org/drawingml/2006/main" noGrp="1"/>
          </p:cNvSpPr>
          <p:nvPr/>
        </p:nvSpPr>
        <p:spPr>
          <a:xfrm xmlns:a="http://schemas.openxmlformats.org/drawingml/2006/main">
            <a:off x="5610225" y="4800600"/>
            <a:ext cx="1485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regression suite for calculations and control logic</a:t>
            </a:r>
          </a:p>
        </p:txBody>
      </p:sp>
      <p:sp>
        <p:nvSpPr>
          <p:cNvPr id="31" name="code-command">
            <a:extLst xmlns:a="http://schemas.openxmlformats.org/drawingml/2006/main">
              <a:ext uri="{FF2B5EF4-FFF2-40B4-BE49-F238E27FC236}">
                <a16:creationId xmlns:a16="http://schemas.microsoft.com/office/drawing/2014/main" id="{9D12768C-BAFE-4762-8E30-05BD94C59A17}"/>
              </a:ext>
            </a:extLst>
          </p:cNvPr>
          <p:cNvSpPr>
            <a:spLocks xmlns:a="http://schemas.openxmlformats.org/drawingml/2006/main" noGrp="1"/>
          </p:cNvSpPr>
          <p:nvPr/>
        </p:nvSpPr>
        <p:spPr>
          <a:xfrm xmlns:a="http://schemas.openxmlformats.org/drawingml/2006/main">
            <a:off x="3914775" y="5524500"/>
            <a:ext cx="3333750" cy="285750"/>
          </a:xfrm>
          <a:prstGeom xmlns:a="http://schemas.openxmlformats.org/drawingml/2006/main" prst="rect">
            <a:avLst/>
          </a:prstGeom>
          <a:solidFill xmlns:a="http://schemas.openxmlformats.org/drawingml/2006/main">
            <a:srgbClr val="D9E6E1"/>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6A5D1E62-0CBD-4C7D-9CA7-BE82C55B195E}"/>
              </a:ext>
            </a:extLst>
          </p:cNvPr>
          <p:cNvSpPr>
            <a:spLocks xmlns:a="http://schemas.openxmlformats.org/drawingml/2006/main" noGrp="1"/>
          </p:cNvSpPr>
          <p:nvPr/>
        </p:nvSpPr>
        <p:spPr>
          <a:xfrm xmlns:a="http://schemas.openxmlformats.org/drawingml/2006/main">
            <a:off x="4048125" y="5534025"/>
            <a:ext cx="3067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2D5C56"/>
                </a:solidFill>
                <a:latin typeface="Aptos Mono"/>
                <a:ea typeface="Aptos Mono"/>
                <a:cs typeface="Aptos Mono"/>
              </a:defRPr>
            </a:pPr>
            <a:r>
              <a:rPr sz="825" b="1">
                <a:solidFill>
                  <a:srgbClr val="2D5C56"/>
                </a:solidFill>
                <a:latin typeface="Aptos Mono"/>
                <a:ea typeface="Aptos Mono"/>
                <a:cs typeface="Aptos Mono"/>
              </a:rPr>
              <a:t>python app.py  →  localhost:8000</a:t>
            </a:r>
          </a:p>
        </p:txBody>
      </p:sp>
      <p:sp>
        <p:nvSpPr>
          <p:cNvPr id="33" name="">
            <a:extLst xmlns:a="http://schemas.openxmlformats.org/drawingml/2006/main">
              <a:ext uri="{FF2B5EF4-FFF2-40B4-BE49-F238E27FC236}">
                <a16:creationId xmlns:a16="http://schemas.microsoft.com/office/drawing/2014/main" id="{8274BBDE-0165-45B0-A3E4-FE2F95F65555}"/>
              </a:ext>
            </a:extLst>
          </p:cNvPr>
          <p:cNvSpPr>
            <a:spLocks xmlns:a="http://schemas.openxmlformats.org/drawingml/2006/main" noGrp="1"/>
          </p:cNvSpPr>
          <p:nvPr/>
        </p:nvSpPr>
        <p:spPr>
          <a:xfrm xmlns:a="http://schemas.openxmlformats.org/drawingml/2006/main">
            <a:off x="7677150" y="2152650"/>
            <a:ext cx="36671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IMPLEMENTED DECISION LOOP</a:t>
            </a:r>
          </a:p>
        </p:txBody>
      </p:sp>
      <p:sp>
        <p:nvSpPr>
          <p:cNvPr id="34" name="done-marker-1">
            <a:extLst xmlns:a="http://schemas.openxmlformats.org/drawingml/2006/main">
              <a:ext uri="{FF2B5EF4-FFF2-40B4-BE49-F238E27FC236}">
                <a16:creationId xmlns:a16="http://schemas.microsoft.com/office/drawing/2014/main" id="{F532AF68-C54C-473C-AC04-DA679A4791DE}"/>
              </a:ext>
            </a:extLst>
          </p:cNvPr>
          <p:cNvSpPr>
            <a:spLocks xmlns:a="http://schemas.openxmlformats.org/drawingml/2006/main" noGrp="1"/>
          </p:cNvSpPr>
          <p:nvPr/>
        </p:nvSpPr>
        <p:spPr>
          <a:xfrm xmlns:a="http://schemas.openxmlformats.org/drawingml/2006/main">
            <a:off x="7677150" y="2562225"/>
            <a:ext cx="209550" cy="209550"/>
          </a:xfrm>
          <a:prstGeom xmlns:a="http://schemas.openxmlformats.org/drawingml/2006/main" prst="ellipse">
            <a:avLst/>
          </a:prstGeom>
          <a:solidFill xmlns:a="http://schemas.openxmlformats.org/drawingml/2006/main">
            <a:srgbClr val="2D5C56"/>
          </a:solidFill>
          <a:ln xmlns:a="http://schemas.openxmlformats.org/drawingml/2006/main" w="0">
            <a:solidFill>
              <a:srgbClr val="2D5C56"/>
            </a:solidFill>
            <a:prstDash val="solid"/>
          </a:ln>
        </p:spPr>
      </p:sp>
      <p:sp>
        <p:nvSpPr>
          <p:cNvPr id="35" name="">
            <a:extLst xmlns:a="http://schemas.openxmlformats.org/drawingml/2006/main">
              <a:ext uri="{FF2B5EF4-FFF2-40B4-BE49-F238E27FC236}">
                <a16:creationId xmlns:a16="http://schemas.microsoft.com/office/drawing/2014/main" id="{D08BCCF1-DF21-4668-9502-AAFF11F80C07}"/>
              </a:ext>
            </a:extLst>
          </p:cNvPr>
          <p:cNvSpPr>
            <a:spLocks xmlns:a="http://schemas.openxmlformats.org/drawingml/2006/main" noGrp="1"/>
          </p:cNvSpPr>
          <p:nvPr/>
        </p:nvSpPr>
        <p:spPr>
          <a:xfrm xmlns:a="http://schemas.openxmlformats.org/drawingml/2006/main">
            <a:off x="7677150" y="255270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a:t>
            </a:r>
          </a:p>
        </p:txBody>
      </p:sp>
      <p:sp>
        <p:nvSpPr>
          <p:cNvPr id="36" name="">
            <a:extLst xmlns:a="http://schemas.openxmlformats.org/drawingml/2006/main">
              <a:ext uri="{FF2B5EF4-FFF2-40B4-BE49-F238E27FC236}">
                <a16:creationId xmlns:a16="http://schemas.microsoft.com/office/drawing/2014/main" id="{B13AA108-5A48-461F-9251-A1F5B7B151CF}"/>
              </a:ext>
            </a:extLst>
          </p:cNvPr>
          <p:cNvSpPr>
            <a:spLocks xmlns:a="http://schemas.openxmlformats.org/drawingml/2006/main" noGrp="1"/>
          </p:cNvSpPr>
          <p:nvPr/>
        </p:nvSpPr>
        <p:spPr>
          <a:xfrm xmlns:a="http://schemas.openxmlformats.org/drawingml/2006/main">
            <a:off x="8039100" y="2552700"/>
            <a:ext cx="3314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Five-snapshot replay with no performance overclaim</a:t>
            </a:r>
          </a:p>
        </p:txBody>
      </p:sp>
      <p:sp>
        <p:nvSpPr>
          <p:cNvPr id="37" name="done-rule-1">
            <a:extLst xmlns:a="http://schemas.openxmlformats.org/drawingml/2006/main">
              <a:ext uri="{FF2B5EF4-FFF2-40B4-BE49-F238E27FC236}">
                <a16:creationId xmlns:a16="http://schemas.microsoft.com/office/drawing/2014/main" id="{D1034DD8-5377-44FB-9B14-086B9AF884DA}"/>
              </a:ext>
            </a:extLst>
          </p:cNvPr>
          <p:cNvSpPr>
            <a:spLocks xmlns:a="http://schemas.openxmlformats.org/drawingml/2006/main" noGrp="1"/>
          </p:cNvSpPr>
          <p:nvPr/>
        </p:nvSpPr>
        <p:spPr>
          <a:xfrm xmlns:a="http://schemas.openxmlformats.org/drawingml/2006/main">
            <a:off x="8039100" y="2914650"/>
            <a:ext cx="33147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38" name="done-marker-2">
            <a:extLst xmlns:a="http://schemas.openxmlformats.org/drawingml/2006/main">
              <a:ext uri="{FF2B5EF4-FFF2-40B4-BE49-F238E27FC236}">
                <a16:creationId xmlns:a16="http://schemas.microsoft.com/office/drawing/2014/main" id="{15EEE744-2F55-4431-85DE-0D8D67570B71}"/>
              </a:ext>
            </a:extLst>
          </p:cNvPr>
          <p:cNvSpPr>
            <a:spLocks xmlns:a="http://schemas.openxmlformats.org/drawingml/2006/main" noGrp="1"/>
          </p:cNvSpPr>
          <p:nvPr/>
        </p:nvSpPr>
        <p:spPr>
          <a:xfrm xmlns:a="http://schemas.openxmlformats.org/drawingml/2006/main">
            <a:off x="7677150" y="3067050"/>
            <a:ext cx="209550" cy="209550"/>
          </a:xfrm>
          <a:prstGeom xmlns:a="http://schemas.openxmlformats.org/drawingml/2006/main" prst="ellipse">
            <a:avLst/>
          </a:prstGeom>
          <a:solidFill xmlns:a="http://schemas.openxmlformats.org/drawingml/2006/main">
            <a:srgbClr val="2D5C56"/>
          </a:solidFill>
          <a:ln xmlns:a="http://schemas.openxmlformats.org/drawingml/2006/main" w="0">
            <a:solidFill>
              <a:srgbClr val="2D5C56"/>
            </a:solidFill>
            <a:prstDash val="solid"/>
          </a:ln>
        </p:spPr>
      </p:sp>
      <p:sp>
        <p:nvSpPr>
          <p:cNvPr id="39" name="">
            <a:extLst xmlns:a="http://schemas.openxmlformats.org/drawingml/2006/main">
              <a:ext uri="{FF2B5EF4-FFF2-40B4-BE49-F238E27FC236}">
                <a16:creationId xmlns:a16="http://schemas.microsoft.com/office/drawing/2014/main" id="{64936B99-278A-4BEA-9E0C-BA5C6B715D7D}"/>
              </a:ext>
            </a:extLst>
          </p:cNvPr>
          <p:cNvSpPr>
            <a:spLocks xmlns:a="http://schemas.openxmlformats.org/drawingml/2006/main" noGrp="1"/>
          </p:cNvSpPr>
          <p:nvPr/>
        </p:nvSpPr>
        <p:spPr>
          <a:xfrm xmlns:a="http://schemas.openxmlformats.org/drawingml/2006/main">
            <a:off x="7677150" y="3057525"/>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a:t>
            </a:r>
          </a:p>
        </p:txBody>
      </p:sp>
      <p:sp>
        <p:nvSpPr>
          <p:cNvPr id="40" name="">
            <a:extLst xmlns:a="http://schemas.openxmlformats.org/drawingml/2006/main">
              <a:ext uri="{FF2B5EF4-FFF2-40B4-BE49-F238E27FC236}">
                <a16:creationId xmlns:a16="http://schemas.microsoft.com/office/drawing/2014/main" id="{0DE72897-4787-4E19-9EE8-0088DCFD57A0}"/>
              </a:ext>
            </a:extLst>
          </p:cNvPr>
          <p:cNvSpPr>
            <a:spLocks xmlns:a="http://schemas.openxmlformats.org/drawingml/2006/main" noGrp="1"/>
          </p:cNvSpPr>
          <p:nvPr/>
        </p:nvSpPr>
        <p:spPr>
          <a:xfrm xmlns:a="http://schemas.openxmlformats.org/drawingml/2006/main">
            <a:off x="8039100" y="3057525"/>
            <a:ext cx="3314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Cross-portfolio + structured-product look-through</a:t>
            </a:r>
          </a:p>
        </p:txBody>
      </p:sp>
      <p:sp>
        <p:nvSpPr>
          <p:cNvPr id="41" name="done-rule-2">
            <a:extLst xmlns:a="http://schemas.openxmlformats.org/drawingml/2006/main">
              <a:ext uri="{FF2B5EF4-FFF2-40B4-BE49-F238E27FC236}">
                <a16:creationId xmlns:a16="http://schemas.microsoft.com/office/drawing/2014/main" id="{96A96DE1-F55C-45DB-8CBB-FE2122625B00}"/>
              </a:ext>
            </a:extLst>
          </p:cNvPr>
          <p:cNvSpPr>
            <a:spLocks xmlns:a="http://schemas.openxmlformats.org/drawingml/2006/main" noGrp="1"/>
          </p:cNvSpPr>
          <p:nvPr/>
        </p:nvSpPr>
        <p:spPr>
          <a:xfrm xmlns:a="http://schemas.openxmlformats.org/drawingml/2006/main">
            <a:off x="8039100" y="3419475"/>
            <a:ext cx="33147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2" name="done-marker-3">
            <a:extLst xmlns:a="http://schemas.openxmlformats.org/drawingml/2006/main">
              <a:ext uri="{FF2B5EF4-FFF2-40B4-BE49-F238E27FC236}">
                <a16:creationId xmlns:a16="http://schemas.microsoft.com/office/drawing/2014/main" id="{CD68E6DC-4BAE-4D83-9F29-56189A196124}"/>
              </a:ext>
            </a:extLst>
          </p:cNvPr>
          <p:cNvSpPr>
            <a:spLocks xmlns:a="http://schemas.openxmlformats.org/drawingml/2006/main" noGrp="1"/>
          </p:cNvSpPr>
          <p:nvPr/>
        </p:nvSpPr>
        <p:spPr>
          <a:xfrm xmlns:a="http://schemas.openxmlformats.org/drawingml/2006/main">
            <a:off x="7677150" y="3571875"/>
            <a:ext cx="209550" cy="209550"/>
          </a:xfrm>
          <a:prstGeom xmlns:a="http://schemas.openxmlformats.org/drawingml/2006/main" prst="ellipse">
            <a:avLst/>
          </a:prstGeom>
          <a:solidFill xmlns:a="http://schemas.openxmlformats.org/drawingml/2006/main">
            <a:srgbClr val="2D5C56"/>
          </a:solidFill>
          <a:ln xmlns:a="http://schemas.openxmlformats.org/drawingml/2006/main" w="0">
            <a:solidFill>
              <a:srgbClr val="2D5C56"/>
            </a:solidFill>
            <a:prstDash val="solid"/>
          </a:ln>
        </p:spPr>
      </p:sp>
      <p:sp>
        <p:nvSpPr>
          <p:cNvPr id="43" name="">
            <a:extLst xmlns:a="http://schemas.openxmlformats.org/drawingml/2006/main">
              <a:ext uri="{FF2B5EF4-FFF2-40B4-BE49-F238E27FC236}">
                <a16:creationId xmlns:a16="http://schemas.microsoft.com/office/drawing/2014/main" id="{B8E9AF2B-3549-4989-A909-747FB5282C98}"/>
              </a:ext>
            </a:extLst>
          </p:cNvPr>
          <p:cNvSpPr>
            <a:spLocks xmlns:a="http://schemas.openxmlformats.org/drawingml/2006/main" noGrp="1"/>
          </p:cNvSpPr>
          <p:nvPr/>
        </p:nvSpPr>
        <p:spPr>
          <a:xfrm xmlns:a="http://schemas.openxmlformats.org/drawingml/2006/main">
            <a:off x="7677150" y="356235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a:t>
            </a:r>
          </a:p>
        </p:txBody>
      </p:sp>
      <p:sp>
        <p:nvSpPr>
          <p:cNvPr id="44" name="">
            <a:extLst xmlns:a="http://schemas.openxmlformats.org/drawingml/2006/main">
              <a:ext uri="{FF2B5EF4-FFF2-40B4-BE49-F238E27FC236}">
                <a16:creationId xmlns:a16="http://schemas.microsoft.com/office/drawing/2014/main" id="{6B948721-FD78-4A38-A7B6-BB0644736CAA}"/>
              </a:ext>
            </a:extLst>
          </p:cNvPr>
          <p:cNvSpPr>
            <a:spLocks xmlns:a="http://schemas.openxmlformats.org/drawingml/2006/main" noGrp="1"/>
          </p:cNvSpPr>
          <p:nvPr/>
        </p:nvSpPr>
        <p:spPr>
          <a:xfrm xmlns:a="http://schemas.openxmlformats.org/drawingml/2006/main">
            <a:off x="8039100" y="3562350"/>
            <a:ext cx="3314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Mandate, exclusion, liquidity, credit and data checks</a:t>
            </a:r>
          </a:p>
        </p:txBody>
      </p:sp>
      <p:sp>
        <p:nvSpPr>
          <p:cNvPr id="45" name="done-rule-3">
            <a:extLst xmlns:a="http://schemas.openxmlformats.org/drawingml/2006/main">
              <a:ext uri="{FF2B5EF4-FFF2-40B4-BE49-F238E27FC236}">
                <a16:creationId xmlns:a16="http://schemas.microsoft.com/office/drawing/2014/main" id="{45C3540A-BF23-42C0-BFEB-DD700D12BD78}"/>
              </a:ext>
            </a:extLst>
          </p:cNvPr>
          <p:cNvSpPr>
            <a:spLocks xmlns:a="http://schemas.openxmlformats.org/drawingml/2006/main" noGrp="1"/>
          </p:cNvSpPr>
          <p:nvPr/>
        </p:nvSpPr>
        <p:spPr>
          <a:xfrm xmlns:a="http://schemas.openxmlformats.org/drawingml/2006/main">
            <a:off x="8039100" y="3924300"/>
            <a:ext cx="33147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6" name="done-marker-4">
            <a:extLst xmlns:a="http://schemas.openxmlformats.org/drawingml/2006/main">
              <a:ext uri="{FF2B5EF4-FFF2-40B4-BE49-F238E27FC236}">
                <a16:creationId xmlns:a16="http://schemas.microsoft.com/office/drawing/2014/main" id="{6A43A6E3-3CB1-4029-B843-1CFE6BC3BA10}"/>
              </a:ext>
            </a:extLst>
          </p:cNvPr>
          <p:cNvSpPr>
            <a:spLocks xmlns:a="http://schemas.openxmlformats.org/drawingml/2006/main" noGrp="1"/>
          </p:cNvSpPr>
          <p:nvPr/>
        </p:nvSpPr>
        <p:spPr>
          <a:xfrm xmlns:a="http://schemas.openxmlformats.org/drawingml/2006/main">
            <a:off x="7677150" y="4076700"/>
            <a:ext cx="209550" cy="209550"/>
          </a:xfrm>
          <a:prstGeom xmlns:a="http://schemas.openxmlformats.org/drawingml/2006/main" prst="ellipse">
            <a:avLst/>
          </a:prstGeom>
          <a:solidFill xmlns:a="http://schemas.openxmlformats.org/drawingml/2006/main">
            <a:srgbClr val="2D5C56"/>
          </a:solidFill>
          <a:ln xmlns:a="http://schemas.openxmlformats.org/drawingml/2006/main" w="0">
            <a:solidFill>
              <a:srgbClr val="2D5C56"/>
            </a:solidFill>
            <a:prstDash val="solid"/>
          </a:ln>
        </p:spPr>
      </p:sp>
      <p:sp>
        <p:nvSpPr>
          <p:cNvPr id="47" name="">
            <a:extLst xmlns:a="http://schemas.openxmlformats.org/drawingml/2006/main">
              <a:ext uri="{FF2B5EF4-FFF2-40B4-BE49-F238E27FC236}">
                <a16:creationId xmlns:a16="http://schemas.microsoft.com/office/drawing/2014/main" id="{B9696C0B-6EA0-4D98-8FE5-8E412B4F9E54}"/>
              </a:ext>
            </a:extLst>
          </p:cNvPr>
          <p:cNvSpPr>
            <a:spLocks xmlns:a="http://schemas.openxmlformats.org/drawingml/2006/main" noGrp="1"/>
          </p:cNvSpPr>
          <p:nvPr/>
        </p:nvSpPr>
        <p:spPr>
          <a:xfrm xmlns:a="http://schemas.openxmlformats.org/drawingml/2006/main">
            <a:off x="7677150" y="4067175"/>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a:t>
            </a:r>
          </a:p>
        </p:txBody>
      </p:sp>
      <p:sp>
        <p:nvSpPr>
          <p:cNvPr id="48" name="">
            <a:extLst xmlns:a="http://schemas.openxmlformats.org/drawingml/2006/main">
              <a:ext uri="{FF2B5EF4-FFF2-40B4-BE49-F238E27FC236}">
                <a16:creationId xmlns:a16="http://schemas.microsoft.com/office/drawing/2014/main" id="{E45ABF71-2AF0-4A6A-B76D-44F4D53E7A83}"/>
              </a:ext>
            </a:extLst>
          </p:cNvPr>
          <p:cNvSpPr>
            <a:spLocks xmlns:a="http://schemas.openxmlformats.org/drawingml/2006/main" noGrp="1"/>
          </p:cNvSpPr>
          <p:nvPr/>
        </p:nvSpPr>
        <p:spPr>
          <a:xfrm xmlns:a="http://schemas.openxmlformats.org/drawingml/2006/main">
            <a:off x="8039100" y="4067175"/>
            <a:ext cx="3314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Transparent scenario sensitivities—no probabilities</a:t>
            </a:r>
          </a:p>
        </p:txBody>
      </p:sp>
      <p:sp>
        <p:nvSpPr>
          <p:cNvPr id="49" name="done-rule-4">
            <a:extLst xmlns:a="http://schemas.openxmlformats.org/drawingml/2006/main">
              <a:ext uri="{FF2B5EF4-FFF2-40B4-BE49-F238E27FC236}">
                <a16:creationId xmlns:a16="http://schemas.microsoft.com/office/drawing/2014/main" id="{50B23D19-1EFB-4D24-84FC-554F764424F8}"/>
              </a:ext>
            </a:extLst>
          </p:cNvPr>
          <p:cNvSpPr>
            <a:spLocks xmlns:a="http://schemas.openxmlformats.org/drawingml/2006/main" noGrp="1"/>
          </p:cNvSpPr>
          <p:nvPr/>
        </p:nvSpPr>
        <p:spPr>
          <a:xfrm xmlns:a="http://schemas.openxmlformats.org/drawingml/2006/main">
            <a:off x="8039100" y="4429125"/>
            <a:ext cx="33147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50" name="done-marker-5">
            <a:extLst xmlns:a="http://schemas.openxmlformats.org/drawingml/2006/main">
              <a:ext uri="{FF2B5EF4-FFF2-40B4-BE49-F238E27FC236}">
                <a16:creationId xmlns:a16="http://schemas.microsoft.com/office/drawing/2014/main" id="{B67AFDB8-1B57-4A46-A19D-20B4FAEDEFC5}"/>
              </a:ext>
            </a:extLst>
          </p:cNvPr>
          <p:cNvSpPr>
            <a:spLocks xmlns:a="http://schemas.openxmlformats.org/drawingml/2006/main" noGrp="1"/>
          </p:cNvSpPr>
          <p:nvPr/>
        </p:nvSpPr>
        <p:spPr>
          <a:xfrm xmlns:a="http://schemas.openxmlformats.org/drawingml/2006/main">
            <a:off x="7677150" y="4581525"/>
            <a:ext cx="209550" cy="209550"/>
          </a:xfrm>
          <a:prstGeom xmlns:a="http://schemas.openxmlformats.org/drawingml/2006/main" prst="ellipse">
            <a:avLst/>
          </a:prstGeom>
          <a:solidFill xmlns:a="http://schemas.openxmlformats.org/drawingml/2006/main">
            <a:srgbClr val="2D5C56"/>
          </a:solidFill>
          <a:ln xmlns:a="http://schemas.openxmlformats.org/drawingml/2006/main" w="0">
            <a:solidFill>
              <a:srgbClr val="2D5C56"/>
            </a:solidFill>
            <a:prstDash val="solid"/>
          </a:ln>
        </p:spPr>
      </p:sp>
      <p:sp>
        <p:nvSpPr>
          <p:cNvPr id="51" name="">
            <a:extLst xmlns:a="http://schemas.openxmlformats.org/drawingml/2006/main">
              <a:ext uri="{FF2B5EF4-FFF2-40B4-BE49-F238E27FC236}">
                <a16:creationId xmlns:a16="http://schemas.microsoft.com/office/drawing/2014/main" id="{6075B332-3169-465E-9538-D15E35D6E6E2}"/>
              </a:ext>
            </a:extLst>
          </p:cNvPr>
          <p:cNvSpPr>
            <a:spLocks xmlns:a="http://schemas.openxmlformats.org/drawingml/2006/main" noGrp="1"/>
          </p:cNvSpPr>
          <p:nvPr/>
        </p:nvSpPr>
        <p:spPr>
          <a:xfrm xmlns:a="http://schemas.openxmlformats.org/drawingml/2006/main">
            <a:off x="7677150" y="457200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a:t>
            </a:r>
          </a:p>
        </p:txBody>
      </p:sp>
      <p:sp>
        <p:nvSpPr>
          <p:cNvPr id="52" name="">
            <a:extLst xmlns:a="http://schemas.openxmlformats.org/drawingml/2006/main">
              <a:ext uri="{FF2B5EF4-FFF2-40B4-BE49-F238E27FC236}">
                <a16:creationId xmlns:a16="http://schemas.microsoft.com/office/drawing/2014/main" id="{ACAD2E30-B4AF-4042-A548-A6FFDB2931D1}"/>
              </a:ext>
            </a:extLst>
          </p:cNvPr>
          <p:cNvSpPr>
            <a:spLocks xmlns:a="http://schemas.openxmlformats.org/drawingml/2006/main" noGrp="1"/>
          </p:cNvSpPr>
          <p:nvPr/>
        </p:nvSpPr>
        <p:spPr>
          <a:xfrm xmlns:a="http://schemas.openxmlformats.org/drawingml/2006/main">
            <a:off x="8039100" y="4572000"/>
            <a:ext cx="3314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Conversation brief + evidence passport</a:t>
            </a:r>
          </a:p>
        </p:txBody>
      </p:sp>
      <p:sp>
        <p:nvSpPr>
          <p:cNvPr id="53" name="done-rule-5">
            <a:extLst xmlns:a="http://schemas.openxmlformats.org/drawingml/2006/main">
              <a:ext uri="{FF2B5EF4-FFF2-40B4-BE49-F238E27FC236}">
                <a16:creationId xmlns:a16="http://schemas.microsoft.com/office/drawing/2014/main" id="{6F902FFD-ED98-4AE5-90A0-92469C2708CE}"/>
              </a:ext>
            </a:extLst>
          </p:cNvPr>
          <p:cNvSpPr>
            <a:spLocks xmlns:a="http://schemas.openxmlformats.org/drawingml/2006/main" noGrp="1"/>
          </p:cNvSpPr>
          <p:nvPr/>
        </p:nvSpPr>
        <p:spPr>
          <a:xfrm xmlns:a="http://schemas.openxmlformats.org/drawingml/2006/main">
            <a:off x="8039100" y="4933950"/>
            <a:ext cx="33147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54" name="done-marker-6">
            <a:extLst xmlns:a="http://schemas.openxmlformats.org/drawingml/2006/main">
              <a:ext uri="{FF2B5EF4-FFF2-40B4-BE49-F238E27FC236}">
                <a16:creationId xmlns:a16="http://schemas.microsoft.com/office/drawing/2014/main" id="{13792273-4C97-4E06-9923-AA766ECFEA37}"/>
              </a:ext>
            </a:extLst>
          </p:cNvPr>
          <p:cNvSpPr>
            <a:spLocks xmlns:a="http://schemas.openxmlformats.org/drawingml/2006/main" noGrp="1"/>
          </p:cNvSpPr>
          <p:nvPr/>
        </p:nvSpPr>
        <p:spPr>
          <a:xfrm xmlns:a="http://schemas.openxmlformats.org/drawingml/2006/main">
            <a:off x="7677150" y="5086350"/>
            <a:ext cx="209550" cy="209550"/>
          </a:xfrm>
          <a:prstGeom xmlns:a="http://schemas.openxmlformats.org/drawingml/2006/main" prst="ellipse">
            <a:avLst/>
          </a:prstGeom>
          <a:solidFill xmlns:a="http://schemas.openxmlformats.org/drawingml/2006/main">
            <a:srgbClr val="2D5C56"/>
          </a:solidFill>
          <a:ln xmlns:a="http://schemas.openxmlformats.org/drawingml/2006/main" w="0">
            <a:solidFill>
              <a:srgbClr val="2D5C56"/>
            </a:solidFill>
            <a:prstDash val="solid"/>
          </a:ln>
        </p:spPr>
      </p:sp>
      <p:sp>
        <p:nvSpPr>
          <p:cNvPr id="55" name="">
            <a:extLst xmlns:a="http://schemas.openxmlformats.org/drawingml/2006/main">
              <a:ext uri="{FF2B5EF4-FFF2-40B4-BE49-F238E27FC236}">
                <a16:creationId xmlns:a16="http://schemas.microsoft.com/office/drawing/2014/main" id="{32C13909-8607-4CAC-AABF-DD98BA2AEE93}"/>
              </a:ext>
            </a:extLst>
          </p:cNvPr>
          <p:cNvSpPr>
            <a:spLocks xmlns:a="http://schemas.openxmlformats.org/drawingml/2006/main" noGrp="1"/>
          </p:cNvSpPr>
          <p:nvPr/>
        </p:nvSpPr>
        <p:spPr>
          <a:xfrm xmlns:a="http://schemas.openxmlformats.org/drawingml/2006/main">
            <a:off x="7677150" y="5076825"/>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a:t>
            </a:r>
          </a:p>
        </p:txBody>
      </p:sp>
      <p:sp>
        <p:nvSpPr>
          <p:cNvPr id="56" name="">
            <a:extLst xmlns:a="http://schemas.openxmlformats.org/drawingml/2006/main">
              <a:ext uri="{FF2B5EF4-FFF2-40B4-BE49-F238E27FC236}">
                <a16:creationId xmlns:a16="http://schemas.microsoft.com/office/drawing/2014/main" id="{9309BAD8-163B-4DFD-A24A-A21176FD283A}"/>
              </a:ext>
            </a:extLst>
          </p:cNvPr>
          <p:cNvSpPr>
            <a:spLocks xmlns:a="http://schemas.openxmlformats.org/drawingml/2006/main" noGrp="1"/>
          </p:cNvSpPr>
          <p:nvPr/>
        </p:nvSpPr>
        <p:spPr>
          <a:xfrm xmlns:a="http://schemas.openxmlformats.org/drawingml/2006/main">
            <a:off x="8039100" y="5076825"/>
            <a:ext cx="3314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RM approve / edit actions logged in demo state</a:t>
            </a:r>
          </a:p>
        </p:txBody>
      </p:sp>
      <p:sp>
        <p:nvSpPr>
          <p:cNvPr id="57" name="footer-rule-10">
            <a:extLst xmlns:a="http://schemas.openxmlformats.org/drawingml/2006/main">
              <a:ext uri="{FF2B5EF4-FFF2-40B4-BE49-F238E27FC236}">
                <a16:creationId xmlns:a16="http://schemas.microsoft.com/office/drawing/2014/main" id="{DD6EE609-88AB-4E8B-87BE-1DD5D78221D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58" name="">
            <a:extLst xmlns:a="http://schemas.openxmlformats.org/drawingml/2006/main">
              <a:ext uri="{FF2B5EF4-FFF2-40B4-BE49-F238E27FC236}">
                <a16:creationId xmlns:a16="http://schemas.microsoft.com/office/drawing/2014/main" id="{C9D849B7-443A-44F4-B19E-CA9FFF2E5178}"/>
              </a:ext>
            </a:extLst>
          </p:cNvPr>
          <p:cNvSpPr>
            <a:spLocks xmlns:a="http://schemas.openxmlformats.org/drawingml/2006/main" noGrp="1"/>
          </p:cNvSpPr>
          <p:nvPr/>
        </p:nvSpPr>
        <p:spPr>
          <a:xfrm xmlns:a="http://schemas.openxmlformats.org/drawingml/2006/main">
            <a:off x="609600" y="6543675"/>
            <a:ext cx="942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0">
                <a:solidFill>
                  <a:srgbClr val="6F766F"/>
                </a:solidFill>
                <a:latin typeface="Aptos"/>
                <a:ea typeface="Aptos"/>
                <a:cs typeface="Aptos"/>
              </a:defRPr>
            </a:pPr>
            <a:r>
              <a:rPr sz="675" b="0">
                <a:solidFill>
                  <a:srgbClr val="6F766F"/>
                </a:solidFill>
                <a:latin typeface="Aptos"/>
                <a:ea typeface="Aptos"/>
                <a:cs typeface="Aptos"/>
              </a:rPr>
              <a:t>Verification: 18 Python tests pass · JavaScript syntax check passes · local HTTP health and API endpoints pass</a:t>
            </a:r>
          </a:p>
        </p:txBody>
      </p:sp>
      <p:sp>
        <p:nvSpPr>
          <p:cNvPr id="59" name="">
            <a:extLst xmlns:a="http://schemas.openxmlformats.org/drawingml/2006/main">
              <a:ext uri="{FF2B5EF4-FFF2-40B4-BE49-F238E27FC236}">
                <a16:creationId xmlns:a16="http://schemas.microsoft.com/office/drawing/2014/main" id="{C4F3CF7B-7A34-4225-86CE-9A2D93586A35}"/>
              </a:ext>
            </a:extLst>
          </p:cNvPr>
          <p:cNvSpPr>
            <a:spLocks xmlns:a="http://schemas.openxmlformats.org/drawingml/2006/main" noGrp="1"/>
          </p:cNvSpPr>
          <p:nvPr/>
        </p:nvSpPr>
        <p:spPr>
          <a:xfrm xmlns:a="http://schemas.openxmlformats.org/drawingml/2006/main">
            <a:off x="10991850" y="65341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2D5C56"/>
                </a:solidFill>
                <a:latin typeface="Aptos Mono"/>
                <a:ea typeface="Aptos Mono"/>
                <a:cs typeface="Aptos Mono"/>
              </a:defRPr>
            </a:pPr>
            <a:r>
              <a:rPr sz="750" b="1">
                <a:solidFill>
                  <a:srgbClr val="2D5C56"/>
                </a:solidFill>
                <a:latin typeface="Aptos Mono"/>
                <a:ea typeface="Aptos Mono"/>
                <a:cs typeface="Aptos Mono"/>
              </a:rPr>
              <a:t>05</a:t>
            </a:r>
          </a:p>
        </p:txBody>
      </p:sp>
    </p:spTree>
    <p:extLst>
      <p:ext uri="{BB962C8B-B14F-4D97-AF65-F5344CB8AC3E}">
        <p14:creationId xmlns:p14="http://schemas.microsoft.com/office/powerpoint/2010/main" val="34783419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7A190A7D-C233-4964-8483-0EC934C937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01E"/>
          </a:solidFill>
          <a:ln xmlns:a="http://schemas.openxmlformats.org/drawingml/2006/main" w="0">
            <a:solidFill>
              <a:srgbClr val="000000">
                <a:alpha val="0"/>
              </a:srgbClr>
            </a:solidFill>
            <a:prstDash val="solid"/>
          </a:ln>
        </p:spPr>
      </p:sp>
      <p:sp>
        <p:nvSpPr>
          <p:cNvPr id="2" name="tessera-tile-1">
            <a:extLst xmlns:a="http://schemas.openxmlformats.org/drawingml/2006/main">
              <a:ext uri="{FF2B5EF4-FFF2-40B4-BE49-F238E27FC236}">
                <a16:creationId xmlns:a16="http://schemas.microsoft.com/office/drawing/2014/main" id="{D9B812F8-DAC1-4399-9ED3-9545A08AB222}"/>
              </a:ext>
            </a:extLst>
          </p:cNvPr>
          <p:cNvSpPr>
            <a:spLocks xmlns:a="http://schemas.openxmlformats.org/drawingml/2006/main" noGrp="1"/>
          </p:cNvSpPr>
          <p:nvPr/>
        </p:nvSpPr>
        <p:spPr>
          <a:xfrm xmlns:a="http://schemas.openxmlformats.org/drawingml/2006/main" rot="2700000">
            <a:off x="676275" y="457200"/>
            <a:ext cx="133350" cy="1333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tessera-tile-2">
            <a:extLst xmlns:a="http://schemas.openxmlformats.org/drawingml/2006/main">
              <a:ext uri="{FF2B5EF4-FFF2-40B4-BE49-F238E27FC236}">
                <a16:creationId xmlns:a16="http://schemas.microsoft.com/office/drawing/2014/main" id="{195FF2C2-850B-486B-80D6-9BA2C55CEDE6}"/>
              </a:ext>
            </a:extLst>
          </p:cNvPr>
          <p:cNvSpPr>
            <a:spLocks xmlns:a="http://schemas.openxmlformats.org/drawingml/2006/main" noGrp="1"/>
          </p:cNvSpPr>
          <p:nvPr/>
        </p:nvSpPr>
        <p:spPr>
          <a:xfrm xmlns:a="http://schemas.openxmlformats.org/drawingml/2006/main" rot="2700000">
            <a:off x="847725" y="457200"/>
            <a:ext cx="133350" cy="133350"/>
          </a:xfrm>
          <a:prstGeom xmlns:a="http://schemas.openxmlformats.org/drawingml/2006/main" prst="rect">
            <a:avLst/>
          </a:prstGeom>
          <a:solidFill xmlns:a="http://schemas.openxmlformats.org/drawingml/2006/main">
            <a:srgbClr val="E7D6B5"/>
          </a:solidFill>
          <a:ln xmlns:a="http://schemas.openxmlformats.org/drawingml/2006/main" w="0">
            <a:solidFill>
              <a:srgbClr val="000000">
                <a:alpha val="0"/>
              </a:srgbClr>
            </a:solidFill>
            <a:prstDash val="solid"/>
          </a:ln>
        </p:spPr>
      </p:sp>
      <p:sp>
        <p:nvSpPr>
          <p:cNvPr id="4" name="tessera-tile-3">
            <a:extLst xmlns:a="http://schemas.openxmlformats.org/drawingml/2006/main">
              <a:ext uri="{FF2B5EF4-FFF2-40B4-BE49-F238E27FC236}">
                <a16:creationId xmlns:a16="http://schemas.microsoft.com/office/drawing/2014/main" id="{64F4F595-6350-449B-8891-CC3C47EF77AE}"/>
              </a:ext>
            </a:extLst>
          </p:cNvPr>
          <p:cNvSpPr>
            <a:spLocks xmlns:a="http://schemas.openxmlformats.org/drawingml/2006/main" noGrp="1"/>
          </p:cNvSpPr>
          <p:nvPr/>
        </p:nvSpPr>
        <p:spPr>
          <a:xfrm xmlns:a="http://schemas.openxmlformats.org/drawingml/2006/main" rot="2700000">
            <a:off x="676275" y="628650"/>
            <a:ext cx="133350" cy="133350"/>
          </a:xfrm>
          <a:prstGeom xmlns:a="http://schemas.openxmlformats.org/drawingml/2006/main" prst="rect">
            <a:avLst/>
          </a:prstGeom>
          <a:solidFill xmlns:a="http://schemas.openxmlformats.org/drawingml/2006/main">
            <a:srgbClr val="E7D6B5"/>
          </a:solidFill>
          <a:ln xmlns:a="http://schemas.openxmlformats.org/drawingml/2006/main" w="0">
            <a:solidFill>
              <a:srgbClr val="000000">
                <a:alpha val="0"/>
              </a:srgbClr>
            </a:solidFill>
            <a:prstDash val="solid"/>
          </a:ln>
        </p:spPr>
      </p:sp>
      <p:sp>
        <p:nvSpPr>
          <p:cNvPr id="5" name="tessera-tile-4">
            <a:extLst xmlns:a="http://schemas.openxmlformats.org/drawingml/2006/main">
              <a:ext uri="{FF2B5EF4-FFF2-40B4-BE49-F238E27FC236}">
                <a16:creationId xmlns:a16="http://schemas.microsoft.com/office/drawing/2014/main" id="{36C7577A-6DF1-4C86-8731-E46D5CA8C948}"/>
              </a:ext>
            </a:extLst>
          </p:cNvPr>
          <p:cNvSpPr>
            <a:spLocks xmlns:a="http://schemas.openxmlformats.org/drawingml/2006/main" noGrp="1"/>
          </p:cNvSpPr>
          <p:nvPr/>
        </p:nvSpPr>
        <p:spPr>
          <a:xfrm xmlns:a="http://schemas.openxmlformats.org/drawingml/2006/main" rot="2700000">
            <a:off x="847725" y="628650"/>
            <a:ext cx="133350" cy="133350"/>
          </a:xfrm>
          <a:prstGeom xmlns:a="http://schemas.openxmlformats.org/drawingml/2006/main" prst="rect">
            <a:avLst/>
          </a:prstGeom>
          <a:solidFill xmlns:a="http://schemas.openxmlformats.org/drawingml/2006/main">
            <a:srgbClr val="2D5C56"/>
          </a:solidFill>
          <a:ln xmlns:a="http://schemas.openxmlformats.org/drawingml/2006/main" w="0">
            <a:solidFill>
              <a:srgbClr val="000000">
                <a:alpha val="0"/>
              </a:srgbClr>
            </a:solidFill>
            <a:prstDash val="solid"/>
          </a:ln>
        </p:spPr>
      </p:sp>
      <p:sp>
        <p:nvSpPr>
          <p:cNvPr id="6" name="kicker-12-marker">
            <a:extLst xmlns:a="http://schemas.openxmlformats.org/drawingml/2006/main">
              <a:ext uri="{FF2B5EF4-FFF2-40B4-BE49-F238E27FC236}">
                <a16:creationId xmlns:a16="http://schemas.microsoft.com/office/drawing/2014/main" id="{B36E7366-5983-4F83-8B99-530F0C8044FE}"/>
              </a:ext>
            </a:extLst>
          </p:cNvPr>
          <p:cNvSpPr>
            <a:spLocks xmlns:a="http://schemas.openxmlformats.org/drawingml/2006/main" noGrp="1"/>
          </p:cNvSpPr>
          <p:nvPr/>
        </p:nvSpPr>
        <p:spPr>
          <a:xfrm xmlns:a="http://schemas.openxmlformats.org/drawingml/2006/main">
            <a:off x="1257300" y="542925"/>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7" name="kicker-12-label">
            <a:extLst xmlns:a="http://schemas.openxmlformats.org/drawingml/2006/main">
              <a:ext uri="{FF2B5EF4-FFF2-40B4-BE49-F238E27FC236}">
                <a16:creationId xmlns:a16="http://schemas.microsoft.com/office/drawing/2014/main" id="{B10FCB80-469E-435A-AA55-2B5D208234AF}"/>
              </a:ext>
            </a:extLst>
          </p:cNvPr>
          <p:cNvSpPr>
            <a:spLocks xmlns:a="http://schemas.openxmlformats.org/drawingml/2006/main" noGrp="1"/>
          </p:cNvSpPr>
          <p:nvPr/>
        </p:nvSpPr>
        <p:spPr>
          <a:xfrm xmlns:a="http://schemas.openxmlformats.org/drawingml/2006/main">
            <a:off x="1428750" y="47625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E7D6B5"/>
                </a:solidFill>
                <a:latin typeface="Aptos"/>
                <a:ea typeface="Aptos"/>
                <a:cs typeface="Aptos"/>
              </a:defRPr>
            </a:pPr>
            <a:r>
              <a:rPr sz="825" b="1">
                <a:solidFill>
                  <a:srgbClr val="E7D6B5"/>
                </a:solidFill>
                <a:latin typeface="Aptos"/>
                <a:ea typeface="Aptos"/>
                <a:cs typeface="Aptos"/>
              </a:rPr>
              <a:t>THE CLOSE</a:t>
            </a:r>
          </a:p>
        </p:txBody>
      </p:sp>
      <p:sp>
        <p:nvSpPr>
          <p:cNvPr id="8" name="">
            <a:extLst xmlns:a="http://schemas.openxmlformats.org/drawingml/2006/main">
              <a:ext uri="{FF2B5EF4-FFF2-40B4-BE49-F238E27FC236}">
                <a16:creationId xmlns:a16="http://schemas.microsoft.com/office/drawing/2014/main" id="{A361441B-19FB-4AC7-8408-5AE6DDB26A50}"/>
              </a:ext>
            </a:extLst>
          </p:cNvPr>
          <p:cNvSpPr>
            <a:spLocks xmlns:a="http://schemas.openxmlformats.org/drawingml/2006/main" noGrp="1"/>
          </p:cNvSpPr>
          <p:nvPr/>
        </p:nvSpPr>
        <p:spPr>
          <a:xfrm xmlns:a="http://schemas.openxmlformats.org/drawingml/2006/main">
            <a:off x="685800" y="1066800"/>
            <a:ext cx="6286500" cy="1666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450" b="0">
                <a:solidFill>
                  <a:srgbClr val="FFFFFF"/>
                </a:solidFill>
                <a:latin typeface="Georgia"/>
                <a:ea typeface="Georgia"/>
                <a:cs typeface="Georgia"/>
              </a:defRPr>
            </a:pPr>
            <a:r>
              <a:rPr sz="3450" b="0">
                <a:solidFill>
                  <a:srgbClr val="FFFFFF"/>
                </a:solidFill>
                <a:latin typeface="Georgia"/>
                <a:ea typeface="Georgia"/>
                <a:cs typeface="Georgia"/>
              </a:rPr>
              <a:t>Make the portfolio defensible.</a:t>
            </a:r>
          </a:p>
          <a:p xmlns:a="http://schemas.openxmlformats.org/drawingml/2006/main">
            <a:pPr algn="l">
              <a:buNone/>
              <a:defRPr sz="3450" b="0">
                <a:solidFill>
                  <a:srgbClr val="FFFFFF"/>
                </a:solidFill>
                <a:latin typeface="Georgia"/>
                <a:ea typeface="Georgia"/>
                <a:cs typeface="Georgia"/>
              </a:defRPr>
            </a:pPr>
            <a:r>
              <a:rPr sz="3450" b="0">
                <a:solidFill>
                  <a:srgbClr val="FFFFFF"/>
                </a:solidFill>
                <a:latin typeface="Georgia"/>
                <a:ea typeface="Georgia"/>
                <a:cs typeface="Georgia"/>
              </a:rPr>
              <a:t>Make the future discussable.</a:t>
            </a:r>
          </a:p>
          <a:p xmlns:a="http://schemas.openxmlformats.org/drawingml/2006/main">
            <a:pPr algn="l">
              <a:buNone/>
              <a:defRPr sz="3450" b="0">
                <a:solidFill>
                  <a:srgbClr val="FFFFFF"/>
                </a:solidFill>
                <a:latin typeface="Georgia"/>
                <a:ea typeface="Georgia"/>
                <a:cs typeface="Georgia"/>
              </a:defRPr>
            </a:pPr>
            <a:r>
              <a:rPr sz="3450" b="0">
                <a:solidFill>
                  <a:srgbClr val="FFFFFF"/>
                </a:solidFill>
                <a:latin typeface="Georgia"/>
                <a:ea typeface="Georgia"/>
                <a:cs typeface="Georgia"/>
              </a:rPr>
              <a:t>Make the RM indispensable.</a:t>
            </a:r>
          </a:p>
        </p:txBody>
      </p:sp>
      <p:sp>
        <p:nvSpPr>
          <p:cNvPr id="9" name="">
            <a:extLst xmlns:a="http://schemas.openxmlformats.org/drawingml/2006/main">
              <a:ext uri="{FF2B5EF4-FFF2-40B4-BE49-F238E27FC236}">
                <a16:creationId xmlns:a16="http://schemas.microsoft.com/office/drawing/2014/main" id="{2FD00930-93C6-427B-9ECA-373ABE084C76}"/>
              </a:ext>
            </a:extLst>
          </p:cNvPr>
          <p:cNvSpPr>
            <a:spLocks xmlns:a="http://schemas.openxmlformats.org/drawingml/2006/main" noGrp="1"/>
          </p:cNvSpPr>
          <p:nvPr/>
        </p:nvSpPr>
        <p:spPr>
          <a:xfrm xmlns:a="http://schemas.openxmlformats.org/drawingml/2006/main">
            <a:off x="714375" y="3028950"/>
            <a:ext cx="53816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C5CFCB"/>
                </a:solidFill>
                <a:latin typeface="Aptos"/>
                <a:ea typeface="Aptos"/>
                <a:cs typeface="Aptos"/>
              </a:defRPr>
            </a:pPr>
            <a:r>
              <a:rPr sz="1350" b="0">
                <a:solidFill>
                  <a:srgbClr val="C5CFCB"/>
                </a:solidFill>
                <a:latin typeface="Aptos"/>
                <a:ea typeface="Aptos"/>
                <a:cs typeface="Aptos"/>
              </a:rPr>
              <a:t>TESSERA turns portfolio contradictions into evidence-backed, scenario-aware conversations—with the Relationship Manager always in control.</a:t>
            </a:r>
          </a:p>
        </p:txBody>
      </p:sp>
      <p:sp>
        <p:nvSpPr>
          <p:cNvPr id="10" name="handoff-panel">
            <a:extLst xmlns:a="http://schemas.openxmlformats.org/drawingml/2006/main">
              <a:ext uri="{FF2B5EF4-FFF2-40B4-BE49-F238E27FC236}">
                <a16:creationId xmlns:a16="http://schemas.microsoft.com/office/drawing/2014/main" id="{AE9845AA-2B29-453F-BF9E-8FBD589F1280}"/>
              </a:ext>
            </a:extLst>
          </p:cNvPr>
          <p:cNvSpPr>
            <a:spLocks xmlns:a="http://schemas.openxmlformats.org/drawingml/2006/main" noGrp="1"/>
          </p:cNvSpPr>
          <p:nvPr/>
        </p:nvSpPr>
        <p:spPr>
          <a:xfrm xmlns:a="http://schemas.openxmlformats.org/drawingml/2006/main">
            <a:off x="685800" y="4095750"/>
            <a:ext cx="5391150" cy="135255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11" name="">
            <a:extLst xmlns:a="http://schemas.openxmlformats.org/drawingml/2006/main">
              <a:ext uri="{FF2B5EF4-FFF2-40B4-BE49-F238E27FC236}">
                <a16:creationId xmlns:a16="http://schemas.microsoft.com/office/drawing/2014/main" id="{86434CC0-CBDC-41FB-9B71-422B130711C1}"/>
              </a:ext>
            </a:extLst>
          </p:cNvPr>
          <p:cNvSpPr>
            <a:spLocks xmlns:a="http://schemas.openxmlformats.org/drawingml/2006/main" noGrp="1"/>
          </p:cNvSpPr>
          <p:nvPr/>
        </p:nvSpPr>
        <p:spPr>
          <a:xfrm xmlns:a="http://schemas.openxmlformats.org/drawingml/2006/main">
            <a:off x="895350" y="4295775"/>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1">
                <a:solidFill>
                  <a:srgbClr val="E7D6B5"/>
                </a:solidFill>
                <a:latin typeface="Aptos"/>
                <a:ea typeface="Aptos"/>
                <a:cs typeface="Aptos"/>
              </a:defRPr>
            </a:pPr>
            <a:r>
              <a:rPr sz="675" b="1">
                <a:solidFill>
                  <a:srgbClr val="E7D6B5"/>
                </a:solidFill>
                <a:latin typeface="Aptos"/>
                <a:ea typeface="Aptos"/>
                <a:cs typeface="Aptos"/>
              </a:rPr>
              <a:t>DEMO</a:t>
            </a:r>
          </a:p>
        </p:txBody>
      </p:sp>
      <p:sp>
        <p:nvSpPr>
          <p:cNvPr id="12" name="">
            <a:extLst xmlns:a="http://schemas.openxmlformats.org/drawingml/2006/main">
              <a:ext uri="{FF2B5EF4-FFF2-40B4-BE49-F238E27FC236}">
                <a16:creationId xmlns:a16="http://schemas.microsoft.com/office/drawing/2014/main" id="{3A74662D-EF81-4B5B-B8C1-53784C371ADB}"/>
              </a:ext>
            </a:extLst>
          </p:cNvPr>
          <p:cNvSpPr>
            <a:spLocks xmlns:a="http://schemas.openxmlformats.org/drawingml/2006/main" noGrp="1"/>
          </p:cNvSpPr>
          <p:nvPr/>
        </p:nvSpPr>
        <p:spPr>
          <a:xfrm xmlns:a="http://schemas.openxmlformats.org/drawingml/2006/main">
            <a:off x="895350" y="4543425"/>
            <a:ext cx="4381500" cy="219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FFFFFF"/>
                </a:solidFill>
                <a:latin typeface="Aptos Mono"/>
                <a:ea typeface="Aptos Mono"/>
                <a:cs typeface="Aptos Mono"/>
              </a:defRPr>
            </a:pPr>
            <a:r>
              <a:rPr sz="1050" b="0">
                <a:solidFill>
                  <a:srgbClr val="FFFFFF"/>
                </a:solidFill>
                <a:latin typeface="Aptos Mono"/>
                <a:ea typeface="Aptos Mono"/>
                <a:cs typeface="Aptos Mono"/>
              </a:rPr>
              <a:t>python app.py  →  localhost:8000</a:t>
            </a:r>
          </a:p>
        </p:txBody>
      </p:sp>
      <p:sp>
        <p:nvSpPr>
          <p:cNvPr id="13" name="handoff-rule">
            <a:extLst xmlns:a="http://schemas.openxmlformats.org/drawingml/2006/main">
              <a:ext uri="{FF2B5EF4-FFF2-40B4-BE49-F238E27FC236}">
                <a16:creationId xmlns:a16="http://schemas.microsoft.com/office/drawing/2014/main" id="{DE5F87DD-F6DD-45EC-81DA-BF57021B082B}"/>
              </a:ext>
            </a:extLst>
          </p:cNvPr>
          <p:cNvSpPr>
            <a:spLocks xmlns:a="http://schemas.openxmlformats.org/drawingml/2006/main" noGrp="1"/>
          </p:cNvSpPr>
          <p:nvPr/>
        </p:nvSpPr>
        <p:spPr>
          <a:xfrm xmlns:a="http://schemas.openxmlformats.org/drawingml/2006/main">
            <a:off x="895350" y="4905375"/>
            <a:ext cx="4905375" cy="9525"/>
          </a:xfrm>
          <a:prstGeom xmlns:a="http://schemas.openxmlformats.org/drawingml/2006/main" prst="rect">
            <a:avLst/>
          </a:prstGeom>
          <a:solidFill xmlns:a="http://schemas.openxmlformats.org/drawingml/2006/main">
            <a:srgbClr val="42534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94CE5020-D8E5-473C-98B2-08861131A738}"/>
              </a:ext>
            </a:extLst>
          </p:cNvPr>
          <p:cNvSpPr>
            <a:spLocks xmlns:a="http://schemas.openxmlformats.org/drawingml/2006/main" noGrp="1"/>
          </p:cNvSpPr>
          <p:nvPr/>
        </p:nvSpPr>
        <p:spPr>
          <a:xfrm xmlns:a="http://schemas.openxmlformats.org/drawingml/2006/main">
            <a:off x="895350" y="50482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1">
                <a:solidFill>
                  <a:srgbClr val="E7D6B5"/>
                </a:solidFill>
                <a:latin typeface="Aptos"/>
                <a:ea typeface="Aptos"/>
                <a:cs typeface="Aptos"/>
              </a:defRPr>
            </a:pPr>
            <a:r>
              <a:rPr sz="675" b="1">
                <a:solidFill>
                  <a:srgbClr val="E7D6B5"/>
                </a:solidFill>
                <a:latin typeface="Aptos"/>
                <a:ea typeface="Aptos"/>
                <a:cs typeface="Aptos"/>
              </a:rPr>
              <a:t>CODE REPOSITORY</a:t>
            </a:r>
          </a:p>
        </p:txBody>
      </p:sp>
      <p:sp>
        <p:nvSpPr>
          <p:cNvPr id="15" name="">
            <a:extLst xmlns:a="http://schemas.openxmlformats.org/drawingml/2006/main">
              <a:ext uri="{FF2B5EF4-FFF2-40B4-BE49-F238E27FC236}">
                <a16:creationId xmlns:a16="http://schemas.microsoft.com/office/drawing/2014/main" id="{E55AD83F-532A-40BB-8411-59F415D721F6}"/>
              </a:ext>
            </a:extLst>
          </p:cNvPr>
          <p:cNvSpPr>
            <a:spLocks xmlns:a="http://schemas.openxmlformats.org/drawingml/2006/main" noGrp="1"/>
          </p:cNvSpPr>
          <p:nvPr/>
        </p:nvSpPr>
        <p:spPr>
          <a:xfrm xmlns:a="http://schemas.openxmlformats.org/drawingml/2006/main">
            <a:off x="895350" y="5257800"/>
            <a:ext cx="476250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C5CFCB"/>
                </a:solidFill>
                <a:latin typeface="Aptos"/>
                <a:ea typeface="Aptos"/>
                <a:cs typeface="Aptos"/>
              </a:defRPr>
            </a:pPr>
            <a:r>
              <a:rPr sz="825" b="0">
                <a:solidFill>
                  <a:srgbClr val="C5CFCB"/>
                </a:solidFill>
                <a:latin typeface="Aptos"/>
                <a:ea typeface="Aptos"/>
                <a:cs typeface="Aptos"/>
              </a:rPr>
              <a:t>This submission repository · replace with public review URL if needed</a:t>
            </a:r>
          </a:p>
        </p:txBody>
      </p:sp>
      <p:sp>
        <p:nvSpPr>
          <p:cNvPr id="16" name="team-photo-frame">
            <a:extLst xmlns:a="http://schemas.openxmlformats.org/drawingml/2006/main">
              <a:ext uri="{FF2B5EF4-FFF2-40B4-BE49-F238E27FC236}">
                <a16:creationId xmlns:a16="http://schemas.microsoft.com/office/drawing/2014/main" id="{C2479FCF-CBAE-4A58-8B5D-3A40BE0C339C}"/>
              </a:ext>
            </a:extLst>
          </p:cNvPr>
          <p:cNvSpPr>
            <a:spLocks xmlns:a="http://schemas.openxmlformats.org/drawingml/2006/main" noGrp="1"/>
          </p:cNvSpPr>
          <p:nvPr/>
        </p:nvSpPr>
        <p:spPr>
          <a:xfrm xmlns:a="http://schemas.openxmlformats.org/drawingml/2006/main">
            <a:off x="6743700" y="866775"/>
            <a:ext cx="4838700" cy="4591050"/>
          </a:xfrm>
          <a:prstGeom xmlns:a="http://schemas.openxmlformats.org/drawingml/2006/main" prst="rect">
            <a:avLst/>
          </a:prstGeom>
          <a:solidFill xmlns:a="http://schemas.openxmlformats.org/drawingml/2006/main">
            <a:srgbClr val="1F2B28"/>
          </a:solidFill>
          <a:ln xmlns:a="http://schemas.openxmlformats.org/drawingml/2006/main" w="19050">
            <a:solidFill>
              <a:srgbClr val="B78F50"/>
            </a:solidFill>
            <a:prstDash val="solid"/>
          </a:ln>
        </p:spPr>
      </p:sp>
      <p:sp>
        <p:nvSpPr>
          <p:cNvPr id="17" name="photo-top-rule">
            <a:extLst xmlns:a="http://schemas.openxmlformats.org/drawingml/2006/main">
              <a:ext uri="{FF2B5EF4-FFF2-40B4-BE49-F238E27FC236}">
                <a16:creationId xmlns:a16="http://schemas.microsoft.com/office/drawing/2014/main" id="{9D0A6CB3-3D7C-4CA8-9028-CAA1637CECA7}"/>
              </a:ext>
            </a:extLst>
          </p:cNvPr>
          <p:cNvSpPr>
            <a:spLocks xmlns:a="http://schemas.openxmlformats.org/drawingml/2006/main" noGrp="1"/>
          </p:cNvSpPr>
          <p:nvPr/>
        </p:nvSpPr>
        <p:spPr>
          <a:xfrm xmlns:a="http://schemas.openxmlformats.org/drawingml/2006/main">
            <a:off x="6981825" y="1104900"/>
            <a:ext cx="4362450" cy="9525"/>
          </a:xfrm>
          <a:prstGeom xmlns:a="http://schemas.openxmlformats.org/drawingml/2006/main" prst="rect">
            <a:avLst/>
          </a:prstGeom>
          <a:solidFill xmlns:a="http://schemas.openxmlformats.org/drawingml/2006/main">
            <a:srgbClr val="42534F"/>
          </a:solidFill>
          <a:ln xmlns:a="http://schemas.openxmlformats.org/drawingml/2006/main" w="0">
            <a:solidFill>
              <a:srgbClr val="000000">
                <a:alpha val="0"/>
              </a:srgbClr>
            </a:solidFill>
            <a:prstDash val="solid"/>
          </a:ln>
        </p:spPr>
      </p:sp>
      <p:sp>
        <p:nvSpPr>
          <p:cNvPr id="18" name="photo-bottom-rule">
            <a:extLst xmlns:a="http://schemas.openxmlformats.org/drawingml/2006/main">
              <a:ext uri="{FF2B5EF4-FFF2-40B4-BE49-F238E27FC236}">
                <a16:creationId xmlns:a16="http://schemas.microsoft.com/office/drawing/2014/main" id="{B7013B6B-C2C1-4BA2-8D26-C067208CD394}"/>
              </a:ext>
            </a:extLst>
          </p:cNvPr>
          <p:cNvSpPr>
            <a:spLocks xmlns:a="http://schemas.openxmlformats.org/drawingml/2006/main" noGrp="1"/>
          </p:cNvSpPr>
          <p:nvPr/>
        </p:nvSpPr>
        <p:spPr>
          <a:xfrm xmlns:a="http://schemas.openxmlformats.org/drawingml/2006/main">
            <a:off x="6981825" y="5219700"/>
            <a:ext cx="4362450" cy="9525"/>
          </a:xfrm>
          <a:prstGeom xmlns:a="http://schemas.openxmlformats.org/drawingml/2006/main" prst="rect">
            <a:avLst/>
          </a:prstGeom>
          <a:solidFill xmlns:a="http://schemas.openxmlformats.org/drawingml/2006/main">
            <a:srgbClr val="42534F"/>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E1B4D3C8-59D0-489C-ADB5-415238949D57}"/>
              </a:ext>
            </a:extLst>
          </p:cNvPr>
          <p:cNvSpPr>
            <a:spLocks xmlns:a="http://schemas.openxmlformats.org/drawingml/2006/main" noGrp="1"/>
          </p:cNvSpPr>
          <p:nvPr/>
        </p:nvSpPr>
        <p:spPr>
          <a:xfrm xmlns:a="http://schemas.openxmlformats.org/drawingml/2006/main">
            <a:off x="7000875" y="1200150"/>
            <a:ext cx="190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E7D6B5"/>
                </a:solidFill>
                <a:latin typeface="Aptos"/>
                <a:ea typeface="Aptos"/>
                <a:cs typeface="Aptos"/>
              </a:defRPr>
            </a:pPr>
            <a:r>
              <a:rPr sz="750" b="1">
                <a:solidFill>
                  <a:srgbClr val="E7D6B5"/>
                </a:solidFill>
                <a:latin typeface="Aptos"/>
                <a:ea typeface="Aptos"/>
                <a:cs typeface="Aptos"/>
              </a:rPr>
              <a:t>TEAM PICTURE</a:t>
            </a:r>
          </a:p>
        </p:txBody>
      </p:sp>
      <p:sp>
        <p:nvSpPr>
          <p:cNvPr id="20" name="">
            <a:extLst xmlns:a="http://schemas.openxmlformats.org/drawingml/2006/main">
              <a:ext uri="{FF2B5EF4-FFF2-40B4-BE49-F238E27FC236}">
                <a16:creationId xmlns:a16="http://schemas.microsoft.com/office/drawing/2014/main" id="{51E1F1CA-9BCE-4E56-9561-CA04F827C5BA}"/>
              </a:ext>
            </a:extLst>
          </p:cNvPr>
          <p:cNvSpPr>
            <a:spLocks xmlns:a="http://schemas.openxmlformats.org/drawingml/2006/main" noGrp="1"/>
          </p:cNvSpPr>
          <p:nvPr/>
        </p:nvSpPr>
        <p:spPr>
          <a:xfrm xmlns:a="http://schemas.openxmlformats.org/drawingml/2006/main">
            <a:off x="7239000" y="2314575"/>
            <a:ext cx="38481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550" b="0">
                <a:solidFill>
                  <a:srgbClr val="FFFFFF"/>
                </a:solidFill>
                <a:latin typeface="Georgia"/>
                <a:ea typeface="Georgia"/>
                <a:cs typeface="Georgia"/>
              </a:defRPr>
            </a:pPr>
            <a:r>
              <a:rPr sz="2550" b="0">
                <a:solidFill>
                  <a:srgbClr val="FFFFFF"/>
                </a:solidFill>
                <a:latin typeface="Georgia"/>
                <a:ea typeface="Georgia"/>
                <a:cs typeface="Georgia"/>
              </a:rPr>
              <a:t>INSERT REAL</a:t>
            </a:r>
          </a:p>
          <a:p xmlns:a="http://schemas.openxmlformats.org/drawingml/2006/main">
            <a:pPr algn="ctr">
              <a:buNone/>
              <a:defRPr sz="2550" b="0">
                <a:solidFill>
                  <a:srgbClr val="FFFFFF"/>
                </a:solidFill>
                <a:latin typeface="Georgia"/>
                <a:ea typeface="Georgia"/>
                <a:cs typeface="Georgia"/>
              </a:defRPr>
            </a:pPr>
            <a:r>
              <a:rPr sz="2550" b="0">
                <a:solidFill>
                  <a:srgbClr val="FFFFFF"/>
                </a:solidFill>
                <a:latin typeface="Georgia"/>
                <a:ea typeface="Georgia"/>
                <a:cs typeface="Georgia"/>
              </a:rPr>
              <a:t>GROUP PHOTO</a:t>
            </a:r>
          </a:p>
        </p:txBody>
      </p:sp>
      <p:sp>
        <p:nvSpPr>
          <p:cNvPr id="21" name="">
            <a:extLst xmlns:a="http://schemas.openxmlformats.org/drawingml/2006/main">
              <a:ext uri="{FF2B5EF4-FFF2-40B4-BE49-F238E27FC236}">
                <a16:creationId xmlns:a16="http://schemas.microsoft.com/office/drawing/2014/main" id="{C1553164-24A5-414B-9FA3-BDE5E41FE2B0}"/>
              </a:ext>
            </a:extLst>
          </p:cNvPr>
          <p:cNvSpPr>
            <a:spLocks xmlns:a="http://schemas.openxmlformats.org/drawingml/2006/main" noGrp="1"/>
          </p:cNvSpPr>
          <p:nvPr/>
        </p:nvSpPr>
        <p:spPr>
          <a:xfrm xmlns:a="http://schemas.openxmlformats.org/drawingml/2006/main">
            <a:off x="7391400" y="3381375"/>
            <a:ext cx="35433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975" b="0">
                <a:solidFill>
                  <a:srgbClr val="AAB6B2"/>
                </a:solidFill>
                <a:latin typeface="Aptos"/>
                <a:ea typeface="Aptos"/>
                <a:cs typeface="Aptos"/>
              </a:defRPr>
            </a:pPr>
            <a:r>
              <a:rPr sz="975" b="0">
                <a:solidFill>
                  <a:srgbClr val="AAB6B2"/>
                </a:solidFill>
                <a:latin typeface="Aptos"/>
                <a:ea typeface="Aptos"/>
                <a:cs typeface="Aptos"/>
              </a:rPr>
              <a:t>No team image was present in the repository.</a:t>
            </a:r>
          </a:p>
          <a:p xmlns:a="http://schemas.openxmlformats.org/drawingml/2006/main">
            <a:pPr algn="ctr">
              <a:buNone/>
              <a:defRPr sz="975" b="0">
                <a:solidFill>
                  <a:srgbClr val="AAB6B2"/>
                </a:solidFill>
                <a:latin typeface="Aptos"/>
                <a:ea typeface="Aptos"/>
                <a:cs typeface="Aptos"/>
              </a:defRPr>
            </a:pPr>
            <a:r>
              <a:rPr sz="975" b="0">
                <a:solidFill>
                  <a:srgbClr val="AAB6B2"/>
                </a:solidFill>
                <a:latin typeface="Aptos"/>
                <a:ea typeface="Aptos"/>
                <a:cs typeface="Aptos"/>
              </a:rPr>
              <a:t>Replace this editable placeholder before hand-in.</a:t>
            </a:r>
          </a:p>
        </p:txBody>
      </p:sp>
      <p:sp>
        <p:nvSpPr>
          <p:cNvPr id="22" name="">
            <a:extLst xmlns:a="http://schemas.openxmlformats.org/drawingml/2006/main">
              <a:ext uri="{FF2B5EF4-FFF2-40B4-BE49-F238E27FC236}">
                <a16:creationId xmlns:a16="http://schemas.microsoft.com/office/drawing/2014/main" id="{A5F3CC39-E775-41AF-B514-3D92BCC85A42}"/>
              </a:ext>
            </a:extLst>
          </p:cNvPr>
          <p:cNvSpPr>
            <a:spLocks xmlns:a="http://schemas.openxmlformats.org/drawingml/2006/main" noGrp="1"/>
          </p:cNvSpPr>
          <p:nvPr/>
        </p:nvSpPr>
        <p:spPr>
          <a:xfrm xmlns:a="http://schemas.openxmlformats.org/drawingml/2006/main">
            <a:off x="7239000" y="4819650"/>
            <a:ext cx="38576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50" b="1">
                <a:solidFill>
                  <a:srgbClr val="E7D6B5"/>
                </a:solidFill>
                <a:latin typeface="Aptos"/>
                <a:ea typeface="Aptos"/>
                <a:cs typeface="Aptos"/>
              </a:defRPr>
            </a:pPr>
            <a:r>
              <a:rPr sz="750" b="1">
                <a:solidFill>
                  <a:srgbClr val="E7D6B5"/>
                </a:solidFill>
                <a:latin typeface="Aptos"/>
                <a:ea typeface="Aptos"/>
                <a:cs typeface="Aptos"/>
              </a:rPr>
              <a:t>TEAM NAME · MEMBER NAMES</a:t>
            </a:r>
          </a:p>
        </p:txBody>
      </p:sp>
      <p:sp>
        <p:nvSpPr>
          <p:cNvPr id="23" name="final-ask">
            <a:extLst xmlns:a="http://schemas.openxmlformats.org/drawingml/2006/main">
              <a:ext uri="{FF2B5EF4-FFF2-40B4-BE49-F238E27FC236}">
                <a16:creationId xmlns:a16="http://schemas.microsoft.com/office/drawing/2014/main" id="{8409F8D8-21CA-49F0-AF6E-907D3A6D0015}"/>
              </a:ext>
            </a:extLst>
          </p:cNvPr>
          <p:cNvSpPr>
            <a:spLocks xmlns:a="http://schemas.openxmlformats.org/drawingml/2006/main" noGrp="1"/>
          </p:cNvSpPr>
          <p:nvPr/>
        </p:nvSpPr>
        <p:spPr>
          <a:xfrm xmlns:a="http://schemas.openxmlformats.org/drawingml/2006/main">
            <a:off x="685800" y="5838825"/>
            <a:ext cx="10896600" cy="3810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C54A22B9-0192-41A1-B589-12C13428E19E}"/>
              </a:ext>
            </a:extLst>
          </p:cNvPr>
          <p:cNvSpPr>
            <a:spLocks xmlns:a="http://schemas.openxmlformats.org/drawingml/2006/main" noGrp="1"/>
          </p:cNvSpPr>
          <p:nvPr/>
        </p:nvSpPr>
        <p:spPr>
          <a:xfrm xmlns:a="http://schemas.openxmlformats.org/drawingml/2006/main">
            <a:off x="895350" y="5848350"/>
            <a:ext cx="10477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75" b="1">
                <a:solidFill>
                  <a:srgbClr val="17201E"/>
                </a:solidFill>
                <a:latin typeface="Aptos"/>
                <a:ea typeface="Aptos"/>
                <a:cs typeface="Aptos"/>
              </a:defRPr>
            </a:pPr>
            <a:r>
              <a:rPr sz="975" b="1">
                <a:solidFill>
                  <a:srgbClr val="17201E"/>
                </a:solidFill>
                <a:latin typeface="Aptos"/>
                <a:ea typeface="Aptos"/>
                <a:cs typeface="Aptos"/>
              </a:rPr>
              <a:t>ASK: PILOT TESSERA IN SHADOW MODE WITH REAL RM DECISIONS, THEN EARN THE RIGHT TO GENERATE.</a:t>
            </a:r>
          </a:p>
        </p:txBody>
      </p:sp>
      <p:sp>
        <p:nvSpPr>
          <p:cNvPr id="25" name="">
            <a:extLst xmlns:a="http://schemas.openxmlformats.org/drawingml/2006/main">
              <a:ext uri="{FF2B5EF4-FFF2-40B4-BE49-F238E27FC236}">
                <a16:creationId xmlns:a16="http://schemas.microsoft.com/office/drawing/2014/main" id="{785A1A09-A0A1-42E1-8E9A-9709065A3268}"/>
              </a:ext>
            </a:extLst>
          </p:cNvPr>
          <p:cNvSpPr>
            <a:spLocks xmlns:a="http://schemas.openxmlformats.org/drawingml/2006/main" noGrp="1"/>
          </p:cNvSpPr>
          <p:nvPr/>
        </p:nvSpPr>
        <p:spPr>
          <a:xfrm xmlns:a="http://schemas.openxmlformats.org/drawingml/2006/main">
            <a:off x="685800" y="6496050"/>
            <a:ext cx="857250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0">
                <a:solidFill>
                  <a:srgbClr val="9EAAA6"/>
                </a:solidFill>
                <a:latin typeface="Aptos"/>
                <a:ea typeface="Aptos"/>
                <a:cs typeface="Aptos"/>
              </a:defRPr>
            </a:pPr>
            <a:r>
              <a:rPr sz="675" b="0">
                <a:solidFill>
                  <a:srgbClr val="9EAAA6"/>
                </a:solidFill>
                <a:latin typeface="Aptos"/>
                <a:ea typeface="Aptos"/>
                <a:cs typeface="Aptos"/>
              </a:rPr>
              <a:t>Synthetic challenge data · unofficial concept · not investment advice</a:t>
            </a:r>
          </a:p>
        </p:txBody>
      </p:sp>
      <p:sp>
        <p:nvSpPr>
          <p:cNvPr id="26" name="">
            <a:extLst xmlns:a="http://schemas.openxmlformats.org/drawingml/2006/main">
              <a:ext uri="{FF2B5EF4-FFF2-40B4-BE49-F238E27FC236}">
                <a16:creationId xmlns:a16="http://schemas.microsoft.com/office/drawing/2014/main" id="{BAE1F6DA-98DA-4D00-856C-A4FF5176F061}"/>
              </a:ext>
            </a:extLst>
          </p:cNvPr>
          <p:cNvSpPr>
            <a:spLocks xmlns:a="http://schemas.openxmlformats.org/drawingml/2006/main" noGrp="1"/>
          </p:cNvSpPr>
          <p:nvPr/>
        </p:nvSpPr>
        <p:spPr>
          <a:xfrm xmlns:a="http://schemas.openxmlformats.org/drawingml/2006/main">
            <a:off x="10972800" y="6486525"/>
            <a:ext cx="609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E7D6B5"/>
                </a:solidFill>
                <a:latin typeface="Aptos Mono"/>
                <a:ea typeface="Aptos Mono"/>
                <a:cs typeface="Aptos Mono"/>
              </a:defRPr>
            </a:pPr>
            <a:r>
              <a:rPr sz="750" b="1">
                <a:solidFill>
                  <a:srgbClr val="E7D6B5"/>
                </a:solidFill>
                <a:latin typeface="Aptos Mono"/>
                <a:ea typeface="Aptos Mono"/>
                <a:cs typeface="Aptos Mono"/>
              </a:rPr>
              <a:t>06</a:t>
            </a:r>
          </a:p>
        </p:txBody>
      </p:sp>
    </p:spTree>
    <p:extLst>
      <p:ext uri="{BB962C8B-B14F-4D97-AF65-F5344CB8AC3E}">
        <p14:creationId xmlns:p14="http://schemas.microsoft.com/office/powerpoint/2010/main" val="174561295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E9C63388-FC6B-4521-85EE-F8249027369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kicker-06-marker">
            <a:extLst xmlns:a="http://schemas.openxmlformats.org/drawingml/2006/main">
              <a:ext uri="{FF2B5EF4-FFF2-40B4-BE49-F238E27FC236}">
                <a16:creationId xmlns:a16="http://schemas.microsoft.com/office/drawing/2014/main" id="{2FB1306C-B775-4322-9178-18A8EA534887}"/>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kicker-06-label">
            <a:extLst xmlns:a="http://schemas.openxmlformats.org/drawingml/2006/main">
              <a:ext uri="{FF2B5EF4-FFF2-40B4-BE49-F238E27FC236}">
                <a16:creationId xmlns:a16="http://schemas.microsoft.com/office/drawing/2014/main" id="{701669A7-6126-4F25-B5FE-4CDCC983ADB9}"/>
              </a:ext>
            </a:extLst>
          </p:cNvPr>
          <p:cNvSpPr>
            <a:spLocks xmlns:a="http://schemas.openxmlformats.org/drawingml/2006/main" noGrp="1"/>
          </p:cNvSpPr>
          <p:nvPr/>
        </p:nvSpPr>
        <p:spPr>
          <a:xfrm xmlns:a="http://schemas.openxmlformats.org/drawingml/2006/main">
            <a:off x="781050" y="371475"/>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2D5C56"/>
                </a:solidFill>
                <a:latin typeface="Aptos"/>
                <a:ea typeface="Aptos"/>
                <a:cs typeface="Aptos"/>
              </a:defRPr>
            </a:pPr>
            <a:r>
              <a:rPr sz="825" b="1">
                <a:solidFill>
                  <a:srgbClr val="2D5C56"/>
                </a:solidFill>
                <a:latin typeface="Aptos"/>
                <a:ea typeface="Aptos"/>
                <a:cs typeface="Aptos"/>
              </a:rPr>
              <a:t>CLIENT PROOF · LAU CHI MING</a:t>
            </a:r>
          </a:p>
        </p:txBody>
      </p:sp>
      <p:sp>
        <p:nvSpPr>
          <p:cNvPr id="4" name="">
            <a:extLst xmlns:a="http://schemas.openxmlformats.org/drawingml/2006/main">
              <a:ext uri="{FF2B5EF4-FFF2-40B4-BE49-F238E27FC236}">
                <a16:creationId xmlns:a16="http://schemas.microsoft.com/office/drawing/2014/main" id="{3C9951F9-4187-424C-ACB2-ECF0E0EF768E}"/>
              </a:ext>
            </a:extLst>
          </p:cNvPr>
          <p:cNvSpPr>
            <a:spLocks xmlns:a="http://schemas.openxmlformats.org/drawingml/2006/main" noGrp="1"/>
          </p:cNvSpPr>
          <p:nvPr/>
        </p:nvSpPr>
        <p:spPr>
          <a:xfrm xmlns:a="http://schemas.openxmlformats.org/drawingml/2006/main">
            <a:off x="609600" y="685800"/>
            <a:ext cx="10858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925" b="0">
                <a:solidFill>
                  <a:srgbClr val="17201E"/>
                </a:solidFill>
                <a:latin typeface="Georgia"/>
                <a:ea typeface="Georgia"/>
                <a:cs typeface="Georgia"/>
              </a:defRPr>
            </a:pPr>
            <a:r>
              <a:rPr sz="2925" b="0">
                <a:solidFill>
                  <a:srgbClr val="17201E"/>
                </a:solidFill>
                <a:latin typeface="Georgia"/>
                <a:ea typeface="Georgia"/>
                <a:cs typeface="Georgia"/>
              </a:rPr>
              <a:t>Four wrappers create one 49.0% property bet—and just 0.59 LTV points remain.</a:t>
            </a:r>
          </a:p>
        </p:txBody>
      </p:sp>
      <p:sp>
        <p:nvSpPr>
          <p:cNvPr id="5" name="">
            <a:extLst xmlns:a="http://schemas.openxmlformats.org/drawingml/2006/main">
              <a:ext uri="{FF2B5EF4-FFF2-40B4-BE49-F238E27FC236}">
                <a16:creationId xmlns:a16="http://schemas.microsoft.com/office/drawing/2014/main" id="{9E05D041-5060-47F1-A262-76ACD1FBB351}"/>
              </a:ext>
            </a:extLst>
          </p:cNvPr>
          <p:cNvSpPr>
            <a:spLocks xmlns:a="http://schemas.openxmlformats.org/drawingml/2006/main" noGrp="1"/>
          </p:cNvSpPr>
          <p:nvPr/>
        </p:nvSpPr>
        <p:spPr>
          <a:xfrm xmlns:a="http://schemas.openxmlformats.org/drawingml/2006/main">
            <a:off x="609600" y="1609725"/>
            <a:ext cx="87630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75" b="0">
                <a:solidFill>
                  <a:srgbClr val="6F766F"/>
                </a:solidFill>
                <a:latin typeface="Aptos"/>
                <a:ea typeface="Aptos"/>
                <a:cs typeface="Aptos"/>
              </a:defRPr>
            </a:pPr>
            <a:r>
              <a:rPr sz="1275" b="0">
                <a:solidFill>
                  <a:srgbClr val="6F766F"/>
                </a:solidFill>
                <a:latin typeface="Aptos"/>
                <a:ea typeface="Aptos"/>
                <a:cs typeface="Aptos"/>
              </a:rPr>
              <a:t>The asset-class report fragments the risk. Look-through and credit math put it back together.</a:t>
            </a:r>
          </a:p>
        </p:txBody>
      </p:sp>
      <p:sp>
        <p:nvSpPr>
          <p:cNvPr id="6" name="">
            <a:extLst xmlns:a="http://schemas.openxmlformats.org/drawingml/2006/main">
              <a:ext uri="{FF2B5EF4-FFF2-40B4-BE49-F238E27FC236}">
                <a16:creationId xmlns:a16="http://schemas.microsoft.com/office/drawing/2014/main" id="{06DC87CA-E95D-49EB-AFF5-7943F8E2CC8E}"/>
              </a:ext>
            </a:extLst>
          </p:cNvPr>
          <p:cNvSpPr>
            <a:spLocks xmlns:a="http://schemas.openxmlformats.org/drawingml/2006/main" noGrp="1"/>
          </p:cNvSpPr>
          <p:nvPr/>
        </p:nvSpPr>
        <p:spPr>
          <a:xfrm xmlns:a="http://schemas.openxmlformats.org/drawingml/2006/main">
            <a:off x="609600" y="2200275"/>
            <a:ext cx="476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BANK-HELD PORTFOLIO LOOK-THROUGH</a:t>
            </a:r>
          </a:p>
        </p:txBody>
      </p:sp>
      <p:sp>
        <p:nvSpPr>
          <p:cNvPr id="7" name="lau-stack-1">
            <a:extLst xmlns:a="http://schemas.openxmlformats.org/drawingml/2006/main">
              <a:ext uri="{FF2B5EF4-FFF2-40B4-BE49-F238E27FC236}">
                <a16:creationId xmlns:a16="http://schemas.microsoft.com/office/drawing/2014/main" id="{9F2CDBE1-9F0C-4732-ADE9-6CC0E30AFA35}"/>
              </a:ext>
            </a:extLst>
          </p:cNvPr>
          <p:cNvSpPr>
            <a:spLocks xmlns:a="http://schemas.openxmlformats.org/drawingml/2006/main" noGrp="1"/>
          </p:cNvSpPr>
          <p:nvPr/>
        </p:nvSpPr>
        <p:spPr>
          <a:xfrm xmlns:a="http://schemas.openxmlformats.org/drawingml/2006/main">
            <a:off x="609600" y="2628900"/>
            <a:ext cx="974522" cy="476250"/>
          </a:xfrm>
          <a:prstGeom xmlns:a="http://schemas.openxmlformats.org/drawingml/2006/main" prst="rect">
            <a:avLst/>
          </a:prstGeom>
          <a:solidFill xmlns:a="http://schemas.openxmlformats.org/drawingml/2006/main">
            <a:srgbClr val="2D5C56"/>
          </a:solidFill>
          <a:ln xmlns:a="http://schemas.openxmlformats.org/drawingml/2006/main" w="0">
            <a:solidFill>
              <a:srgbClr val="000000">
                <a:alpha val="0"/>
              </a:srgbClr>
            </a:solidFill>
            <a:prstDash val="solid"/>
          </a:ln>
        </p:spPr>
      </p:sp>
      <p:sp>
        <p:nvSpPr>
          <p:cNvPr id="8" name="lau-stack-2">
            <a:extLst xmlns:a="http://schemas.openxmlformats.org/drawingml/2006/main">
              <a:ext uri="{FF2B5EF4-FFF2-40B4-BE49-F238E27FC236}">
                <a16:creationId xmlns:a16="http://schemas.microsoft.com/office/drawing/2014/main" id="{2A9144BE-9279-4D66-9D69-1147B1528A46}"/>
              </a:ext>
            </a:extLst>
          </p:cNvPr>
          <p:cNvSpPr>
            <a:spLocks xmlns:a="http://schemas.openxmlformats.org/drawingml/2006/main" noGrp="1"/>
          </p:cNvSpPr>
          <p:nvPr/>
        </p:nvSpPr>
        <p:spPr>
          <a:xfrm xmlns:a="http://schemas.openxmlformats.org/drawingml/2006/main">
            <a:off x="1584122" y="2628900"/>
            <a:ext cx="641394" cy="476250"/>
          </a:xfrm>
          <a:prstGeom xmlns:a="http://schemas.openxmlformats.org/drawingml/2006/main" prst="rect">
            <a:avLst/>
          </a:prstGeom>
          <a:solidFill xmlns:a="http://schemas.openxmlformats.org/drawingml/2006/main">
            <a:srgbClr val="5B7F78"/>
          </a:solidFill>
          <a:ln xmlns:a="http://schemas.openxmlformats.org/drawingml/2006/main" w="0">
            <a:solidFill>
              <a:srgbClr val="000000">
                <a:alpha val="0"/>
              </a:srgbClr>
            </a:solidFill>
            <a:prstDash val="solid"/>
          </a:ln>
        </p:spPr>
      </p:sp>
      <p:sp>
        <p:nvSpPr>
          <p:cNvPr id="9" name="lau-stack-3">
            <a:extLst xmlns:a="http://schemas.openxmlformats.org/drawingml/2006/main">
              <a:ext uri="{FF2B5EF4-FFF2-40B4-BE49-F238E27FC236}">
                <a16:creationId xmlns:a16="http://schemas.microsoft.com/office/drawing/2014/main" id="{A7BC2E65-ED13-4683-93A0-43A0B8EFC74D}"/>
              </a:ext>
            </a:extLst>
          </p:cNvPr>
          <p:cNvSpPr>
            <a:spLocks xmlns:a="http://schemas.openxmlformats.org/drawingml/2006/main" noGrp="1"/>
          </p:cNvSpPr>
          <p:nvPr/>
        </p:nvSpPr>
        <p:spPr>
          <a:xfrm xmlns:a="http://schemas.openxmlformats.org/drawingml/2006/main">
            <a:off x="2225516" y="2628900"/>
            <a:ext cx="472345" cy="4762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10" name="lau-stack-4">
            <a:extLst xmlns:a="http://schemas.openxmlformats.org/drawingml/2006/main">
              <a:ext uri="{FF2B5EF4-FFF2-40B4-BE49-F238E27FC236}">
                <a16:creationId xmlns:a16="http://schemas.microsoft.com/office/drawing/2014/main" id="{35032FCD-3D22-45F9-BBF2-EEC96C85B3D4}"/>
              </a:ext>
            </a:extLst>
          </p:cNvPr>
          <p:cNvSpPr>
            <a:spLocks xmlns:a="http://schemas.openxmlformats.org/drawingml/2006/main" noGrp="1"/>
          </p:cNvSpPr>
          <p:nvPr/>
        </p:nvSpPr>
        <p:spPr>
          <a:xfrm xmlns:a="http://schemas.openxmlformats.org/drawingml/2006/main">
            <a:off x="2697861" y="2628900"/>
            <a:ext cx="348044" cy="476250"/>
          </a:xfrm>
          <a:prstGeom xmlns:a="http://schemas.openxmlformats.org/drawingml/2006/main" prst="rect">
            <a:avLst/>
          </a:prstGeom>
          <a:solidFill xmlns:a="http://schemas.openxmlformats.org/drawingml/2006/main">
            <a:srgbClr val="B85D43"/>
          </a:solidFill>
          <a:ln xmlns:a="http://schemas.openxmlformats.org/drawingml/2006/main" w="0">
            <a:solidFill>
              <a:srgbClr val="000000">
                <a:alpha val="0"/>
              </a:srgbClr>
            </a:solidFill>
            <a:prstDash val="solid"/>
          </a:ln>
        </p:spPr>
      </p:sp>
      <p:sp>
        <p:nvSpPr>
          <p:cNvPr id="11" name="lau-stack-5">
            <a:extLst xmlns:a="http://schemas.openxmlformats.org/drawingml/2006/main">
              <a:ext uri="{FF2B5EF4-FFF2-40B4-BE49-F238E27FC236}">
                <a16:creationId xmlns:a16="http://schemas.microsoft.com/office/drawing/2014/main" id="{63F9BC72-5270-452F-B957-4A3267A54C49}"/>
              </a:ext>
            </a:extLst>
          </p:cNvPr>
          <p:cNvSpPr>
            <a:spLocks xmlns:a="http://schemas.openxmlformats.org/drawingml/2006/main" noGrp="1"/>
          </p:cNvSpPr>
          <p:nvPr/>
        </p:nvSpPr>
        <p:spPr>
          <a:xfrm xmlns:a="http://schemas.openxmlformats.org/drawingml/2006/main">
            <a:off x="3045905" y="2628900"/>
            <a:ext cx="2535746" cy="476250"/>
          </a:xfrm>
          <a:prstGeom xmlns:a="http://schemas.openxmlformats.org/drawingml/2006/main" prst="rect">
            <a:avLst/>
          </a:prstGeom>
          <a:solidFill xmlns:a="http://schemas.openxmlformats.org/drawingml/2006/main">
            <a:srgbClr val="E8E2D8"/>
          </a:solidFill>
          <a:ln xmlns:a="http://schemas.openxmlformats.org/drawingml/2006/main" w="0">
            <a:solidFill>
              <a:srgbClr val="000000">
                <a:alpha val="0"/>
              </a:srgbClr>
            </a:solidFill>
            <a:prstDash val="solid"/>
          </a:ln>
        </p:spPr>
      </p:sp>
      <p:sp>
        <p:nvSpPr>
          <p:cNvPr id="12" name="lau-legend-1">
            <a:extLst xmlns:a="http://schemas.openxmlformats.org/drawingml/2006/main">
              <a:ext uri="{FF2B5EF4-FFF2-40B4-BE49-F238E27FC236}">
                <a16:creationId xmlns:a16="http://schemas.microsoft.com/office/drawing/2014/main" id="{498BD3BC-B8F0-433B-9974-7289A93623BD}"/>
              </a:ext>
            </a:extLst>
          </p:cNvPr>
          <p:cNvSpPr>
            <a:spLocks xmlns:a="http://schemas.openxmlformats.org/drawingml/2006/main" noGrp="1"/>
          </p:cNvSpPr>
          <p:nvPr/>
        </p:nvSpPr>
        <p:spPr>
          <a:xfrm xmlns:a="http://schemas.openxmlformats.org/drawingml/2006/main">
            <a:off x="609600" y="3400425"/>
            <a:ext cx="76200" cy="76200"/>
          </a:xfrm>
          <a:prstGeom xmlns:a="http://schemas.openxmlformats.org/drawingml/2006/main" prst="rect">
            <a:avLst/>
          </a:prstGeom>
          <a:solidFill xmlns:a="http://schemas.openxmlformats.org/drawingml/2006/main">
            <a:srgbClr val="2D5C5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49343C39-F5A7-457A-8BA0-C123ACB0A5B4}"/>
              </a:ext>
            </a:extLst>
          </p:cNvPr>
          <p:cNvSpPr>
            <a:spLocks xmlns:a="http://schemas.openxmlformats.org/drawingml/2006/main" noGrp="1"/>
          </p:cNvSpPr>
          <p:nvPr/>
        </p:nvSpPr>
        <p:spPr>
          <a:xfrm xmlns:a="http://schemas.openxmlformats.org/drawingml/2006/main">
            <a:off x="790575" y="3362325"/>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Direct Mid-Levels property</a:t>
            </a:r>
          </a:p>
        </p:txBody>
      </p:sp>
      <p:sp>
        <p:nvSpPr>
          <p:cNvPr id="14" name="">
            <a:extLst xmlns:a="http://schemas.openxmlformats.org/drawingml/2006/main">
              <a:ext uri="{FF2B5EF4-FFF2-40B4-BE49-F238E27FC236}">
                <a16:creationId xmlns:a16="http://schemas.microsoft.com/office/drawing/2014/main" id="{0E902501-AA42-4B53-8A7A-6887A26BDC93}"/>
              </a:ext>
            </a:extLst>
          </p:cNvPr>
          <p:cNvSpPr>
            <a:spLocks xmlns:a="http://schemas.openxmlformats.org/drawingml/2006/main" noGrp="1"/>
          </p:cNvSpPr>
          <p:nvPr/>
        </p:nvSpPr>
        <p:spPr>
          <a:xfrm xmlns:a="http://schemas.openxmlformats.org/drawingml/2006/main">
            <a:off x="4476750" y="3362325"/>
            <a:ext cx="109537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19.6%</a:t>
            </a:r>
          </a:p>
        </p:txBody>
      </p:sp>
      <p:sp>
        <p:nvSpPr>
          <p:cNvPr id="15" name="lau-legend-rule-1">
            <a:extLst xmlns:a="http://schemas.openxmlformats.org/drawingml/2006/main">
              <a:ext uri="{FF2B5EF4-FFF2-40B4-BE49-F238E27FC236}">
                <a16:creationId xmlns:a16="http://schemas.microsoft.com/office/drawing/2014/main" id="{C25DA11F-1108-429C-9B14-A4CB91917A14}"/>
              </a:ext>
            </a:extLst>
          </p:cNvPr>
          <p:cNvSpPr>
            <a:spLocks xmlns:a="http://schemas.openxmlformats.org/drawingml/2006/main" noGrp="1"/>
          </p:cNvSpPr>
          <p:nvPr/>
        </p:nvSpPr>
        <p:spPr>
          <a:xfrm xmlns:a="http://schemas.openxmlformats.org/drawingml/2006/main">
            <a:off x="790575" y="3657600"/>
            <a:ext cx="478155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16" name="lau-legend-2">
            <a:extLst xmlns:a="http://schemas.openxmlformats.org/drawingml/2006/main">
              <a:ext uri="{FF2B5EF4-FFF2-40B4-BE49-F238E27FC236}">
                <a16:creationId xmlns:a16="http://schemas.microsoft.com/office/drawing/2014/main" id="{53CBB4E3-1F09-4473-A24D-F93E99369840}"/>
              </a:ext>
            </a:extLst>
          </p:cNvPr>
          <p:cNvSpPr>
            <a:spLocks xmlns:a="http://schemas.openxmlformats.org/drawingml/2006/main" noGrp="1"/>
          </p:cNvSpPr>
          <p:nvPr/>
        </p:nvSpPr>
        <p:spPr>
          <a:xfrm xmlns:a="http://schemas.openxmlformats.org/drawingml/2006/main">
            <a:off x="609600" y="3848100"/>
            <a:ext cx="76200" cy="76200"/>
          </a:xfrm>
          <a:prstGeom xmlns:a="http://schemas.openxmlformats.org/drawingml/2006/main" prst="rect">
            <a:avLst/>
          </a:prstGeom>
          <a:solidFill xmlns:a="http://schemas.openxmlformats.org/drawingml/2006/main">
            <a:srgbClr val="5B7F78"/>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BC65411F-E403-4D02-A913-437B5ED2EFAF}"/>
              </a:ext>
            </a:extLst>
          </p:cNvPr>
          <p:cNvSpPr>
            <a:spLocks xmlns:a="http://schemas.openxmlformats.org/drawingml/2006/main" noGrp="1"/>
          </p:cNvSpPr>
          <p:nvPr/>
        </p:nvSpPr>
        <p:spPr>
          <a:xfrm xmlns:a="http://schemas.openxmlformats.org/drawingml/2006/main">
            <a:off x="790575" y="3810000"/>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Golden Harbour perpetual</a:t>
            </a:r>
          </a:p>
        </p:txBody>
      </p:sp>
      <p:sp>
        <p:nvSpPr>
          <p:cNvPr id="18" name="">
            <a:extLst xmlns:a="http://schemas.openxmlformats.org/drawingml/2006/main">
              <a:ext uri="{FF2B5EF4-FFF2-40B4-BE49-F238E27FC236}">
                <a16:creationId xmlns:a16="http://schemas.microsoft.com/office/drawing/2014/main" id="{5DBBE742-41C9-4BC9-BEA6-69A569C39B67}"/>
              </a:ext>
            </a:extLst>
          </p:cNvPr>
          <p:cNvSpPr>
            <a:spLocks xmlns:a="http://schemas.openxmlformats.org/drawingml/2006/main" noGrp="1"/>
          </p:cNvSpPr>
          <p:nvPr/>
        </p:nvSpPr>
        <p:spPr>
          <a:xfrm xmlns:a="http://schemas.openxmlformats.org/drawingml/2006/main">
            <a:off x="4476750" y="3810000"/>
            <a:ext cx="109537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12.9%</a:t>
            </a:r>
          </a:p>
        </p:txBody>
      </p:sp>
      <p:sp>
        <p:nvSpPr>
          <p:cNvPr id="19" name="lau-legend-rule-2">
            <a:extLst xmlns:a="http://schemas.openxmlformats.org/drawingml/2006/main">
              <a:ext uri="{FF2B5EF4-FFF2-40B4-BE49-F238E27FC236}">
                <a16:creationId xmlns:a16="http://schemas.microsoft.com/office/drawing/2014/main" id="{D536DD75-6C1E-4C09-B339-99A9DD8B9632}"/>
              </a:ext>
            </a:extLst>
          </p:cNvPr>
          <p:cNvSpPr>
            <a:spLocks xmlns:a="http://schemas.openxmlformats.org/drawingml/2006/main" noGrp="1"/>
          </p:cNvSpPr>
          <p:nvPr/>
        </p:nvSpPr>
        <p:spPr>
          <a:xfrm xmlns:a="http://schemas.openxmlformats.org/drawingml/2006/main">
            <a:off x="790575" y="4105275"/>
            <a:ext cx="478155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20" name="lau-legend-3">
            <a:extLst xmlns:a="http://schemas.openxmlformats.org/drawingml/2006/main">
              <a:ext uri="{FF2B5EF4-FFF2-40B4-BE49-F238E27FC236}">
                <a16:creationId xmlns:a16="http://schemas.microsoft.com/office/drawing/2014/main" id="{7AAFB9B1-655A-4D69-BAC8-E9DCB60AAD74}"/>
              </a:ext>
            </a:extLst>
          </p:cNvPr>
          <p:cNvSpPr>
            <a:spLocks xmlns:a="http://schemas.openxmlformats.org/drawingml/2006/main" noGrp="1"/>
          </p:cNvSpPr>
          <p:nvPr/>
        </p:nvSpPr>
        <p:spPr>
          <a:xfrm xmlns:a="http://schemas.openxmlformats.org/drawingml/2006/main">
            <a:off x="609600" y="4295775"/>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05BCF35C-1AB8-43C8-A21D-5A3555A6AB41}"/>
              </a:ext>
            </a:extLst>
          </p:cNvPr>
          <p:cNvSpPr>
            <a:spLocks xmlns:a="http://schemas.openxmlformats.org/drawingml/2006/main" noGrp="1"/>
          </p:cNvSpPr>
          <p:nvPr/>
        </p:nvSpPr>
        <p:spPr>
          <a:xfrm xmlns:a="http://schemas.openxmlformats.org/drawingml/2006/main">
            <a:off x="790575" y="4257675"/>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Golden Harbour equity</a:t>
            </a:r>
          </a:p>
        </p:txBody>
      </p:sp>
      <p:sp>
        <p:nvSpPr>
          <p:cNvPr id="22" name="">
            <a:extLst xmlns:a="http://schemas.openxmlformats.org/drawingml/2006/main">
              <a:ext uri="{FF2B5EF4-FFF2-40B4-BE49-F238E27FC236}">
                <a16:creationId xmlns:a16="http://schemas.microsoft.com/office/drawing/2014/main" id="{65E3B390-5A8A-4B42-AA23-49C21D4CF5C5}"/>
              </a:ext>
            </a:extLst>
          </p:cNvPr>
          <p:cNvSpPr>
            <a:spLocks xmlns:a="http://schemas.openxmlformats.org/drawingml/2006/main" noGrp="1"/>
          </p:cNvSpPr>
          <p:nvPr/>
        </p:nvSpPr>
        <p:spPr>
          <a:xfrm xmlns:a="http://schemas.openxmlformats.org/drawingml/2006/main">
            <a:off x="4476750" y="4257675"/>
            <a:ext cx="109537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9.5%</a:t>
            </a:r>
          </a:p>
        </p:txBody>
      </p:sp>
      <p:sp>
        <p:nvSpPr>
          <p:cNvPr id="23" name="lau-legend-rule-3">
            <a:extLst xmlns:a="http://schemas.openxmlformats.org/drawingml/2006/main">
              <a:ext uri="{FF2B5EF4-FFF2-40B4-BE49-F238E27FC236}">
                <a16:creationId xmlns:a16="http://schemas.microsoft.com/office/drawing/2014/main" id="{E4E5A5E1-CBE2-40EE-80BD-345937D72DE1}"/>
              </a:ext>
            </a:extLst>
          </p:cNvPr>
          <p:cNvSpPr>
            <a:spLocks xmlns:a="http://schemas.openxmlformats.org/drawingml/2006/main" noGrp="1"/>
          </p:cNvSpPr>
          <p:nvPr/>
        </p:nvSpPr>
        <p:spPr>
          <a:xfrm xmlns:a="http://schemas.openxmlformats.org/drawingml/2006/main">
            <a:off x="790575" y="4552950"/>
            <a:ext cx="478155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24" name="lau-legend-4">
            <a:extLst xmlns:a="http://schemas.openxmlformats.org/drawingml/2006/main">
              <a:ext uri="{FF2B5EF4-FFF2-40B4-BE49-F238E27FC236}">
                <a16:creationId xmlns:a16="http://schemas.microsoft.com/office/drawing/2014/main" id="{A712DB48-C849-495B-AB8F-92D90CC26A48}"/>
              </a:ext>
            </a:extLst>
          </p:cNvPr>
          <p:cNvSpPr>
            <a:spLocks xmlns:a="http://schemas.openxmlformats.org/drawingml/2006/main" noGrp="1"/>
          </p:cNvSpPr>
          <p:nvPr/>
        </p:nvSpPr>
        <p:spPr>
          <a:xfrm xmlns:a="http://schemas.openxmlformats.org/drawingml/2006/main">
            <a:off x="609600" y="4743450"/>
            <a:ext cx="76200" cy="76200"/>
          </a:xfrm>
          <a:prstGeom xmlns:a="http://schemas.openxmlformats.org/drawingml/2006/main" prst="rect">
            <a:avLst/>
          </a:prstGeom>
          <a:solidFill xmlns:a="http://schemas.openxmlformats.org/drawingml/2006/main">
            <a:srgbClr val="B85D43"/>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EC177342-8521-4977-AB98-9E759DF41E91}"/>
              </a:ext>
            </a:extLst>
          </p:cNvPr>
          <p:cNvSpPr>
            <a:spLocks xmlns:a="http://schemas.openxmlformats.org/drawingml/2006/main" noGrp="1"/>
          </p:cNvSpPr>
          <p:nvPr/>
        </p:nvSpPr>
        <p:spPr>
          <a:xfrm xmlns:a="http://schemas.openxmlformats.org/drawingml/2006/main">
            <a:off x="790575" y="4705350"/>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Golden Harbour accumulator</a:t>
            </a:r>
          </a:p>
        </p:txBody>
      </p:sp>
      <p:sp>
        <p:nvSpPr>
          <p:cNvPr id="26" name="">
            <a:extLst xmlns:a="http://schemas.openxmlformats.org/drawingml/2006/main">
              <a:ext uri="{FF2B5EF4-FFF2-40B4-BE49-F238E27FC236}">
                <a16:creationId xmlns:a16="http://schemas.microsoft.com/office/drawing/2014/main" id="{C07BF49C-0231-4335-AA55-9C589E9B4246}"/>
              </a:ext>
            </a:extLst>
          </p:cNvPr>
          <p:cNvSpPr>
            <a:spLocks xmlns:a="http://schemas.openxmlformats.org/drawingml/2006/main" noGrp="1"/>
          </p:cNvSpPr>
          <p:nvPr/>
        </p:nvSpPr>
        <p:spPr>
          <a:xfrm xmlns:a="http://schemas.openxmlformats.org/drawingml/2006/main">
            <a:off x="4476750" y="4705350"/>
            <a:ext cx="109537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7.0%</a:t>
            </a:r>
          </a:p>
        </p:txBody>
      </p:sp>
      <p:sp>
        <p:nvSpPr>
          <p:cNvPr id="27" name="">
            <a:extLst xmlns:a="http://schemas.openxmlformats.org/drawingml/2006/main">
              <a:ext uri="{FF2B5EF4-FFF2-40B4-BE49-F238E27FC236}">
                <a16:creationId xmlns:a16="http://schemas.microsoft.com/office/drawing/2014/main" id="{2C6DF9EC-A1D0-4556-ADB3-3CA4D87180BD}"/>
              </a:ext>
            </a:extLst>
          </p:cNvPr>
          <p:cNvSpPr>
            <a:spLocks xmlns:a="http://schemas.openxmlformats.org/drawingml/2006/main" noGrp="1"/>
          </p:cNvSpPr>
          <p:nvPr/>
        </p:nvSpPr>
        <p:spPr>
          <a:xfrm xmlns:a="http://schemas.openxmlformats.org/drawingml/2006/main">
            <a:off x="790575" y="5257800"/>
            <a:ext cx="4095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B85D43"/>
                </a:solidFill>
                <a:latin typeface="Aptos"/>
                <a:ea typeface="Aptos"/>
                <a:cs typeface="Aptos"/>
              </a:defRPr>
            </a:pPr>
            <a:r>
              <a:rPr sz="900" b="1">
                <a:solidFill>
                  <a:srgbClr val="B85D43"/>
                </a:solidFill>
                <a:latin typeface="Aptos"/>
                <a:ea typeface="Aptos"/>
                <a:cs typeface="Aptos"/>
              </a:rPr>
              <a:t>+ operating business exposure outside the dataset</a:t>
            </a:r>
          </a:p>
        </p:txBody>
      </p:sp>
      <p:sp>
        <p:nvSpPr>
          <p:cNvPr id="28" name="ltv-panel">
            <a:extLst xmlns:a="http://schemas.openxmlformats.org/drawingml/2006/main">
              <a:ext uri="{FF2B5EF4-FFF2-40B4-BE49-F238E27FC236}">
                <a16:creationId xmlns:a16="http://schemas.microsoft.com/office/drawing/2014/main" id="{45D12E4E-7AA3-4E65-A482-463F4BD5CC11}"/>
              </a:ext>
            </a:extLst>
          </p:cNvPr>
          <p:cNvSpPr>
            <a:spLocks xmlns:a="http://schemas.openxmlformats.org/drawingml/2006/main" noGrp="1"/>
          </p:cNvSpPr>
          <p:nvPr/>
        </p:nvSpPr>
        <p:spPr>
          <a:xfrm xmlns:a="http://schemas.openxmlformats.org/drawingml/2006/main">
            <a:off x="6172200" y="2114550"/>
            <a:ext cx="5410200" cy="36004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5"/>
            </a:solidFill>
            <a:prstDash val="solid"/>
          </a:ln>
        </p:spPr>
      </p:sp>
      <p:sp>
        <p:nvSpPr>
          <p:cNvPr id="29" name="">
            <a:extLst xmlns:a="http://schemas.openxmlformats.org/drawingml/2006/main">
              <a:ext uri="{FF2B5EF4-FFF2-40B4-BE49-F238E27FC236}">
                <a16:creationId xmlns:a16="http://schemas.microsoft.com/office/drawing/2014/main" id="{CF0A8AAA-A27C-47EA-9A18-F76246145992}"/>
              </a:ext>
            </a:extLst>
          </p:cNvPr>
          <p:cNvSpPr>
            <a:spLocks xmlns:a="http://schemas.openxmlformats.org/drawingml/2006/main" noGrp="1"/>
          </p:cNvSpPr>
          <p:nvPr/>
        </p:nvSpPr>
        <p:spPr>
          <a:xfrm xmlns:a="http://schemas.openxmlformats.org/drawingml/2006/main">
            <a:off x="6438900" y="2343150"/>
            <a:ext cx="476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THE REPORTED HEADROOM IS NOT THE TRIGGER BUFFER</a:t>
            </a:r>
          </a:p>
        </p:txBody>
      </p:sp>
      <p:sp>
        <p:nvSpPr>
          <p:cNvPr id="30" name="">
            <a:extLst xmlns:a="http://schemas.openxmlformats.org/drawingml/2006/main">
              <a:ext uri="{FF2B5EF4-FFF2-40B4-BE49-F238E27FC236}">
                <a16:creationId xmlns:a16="http://schemas.microsoft.com/office/drawing/2014/main" id="{588FF9C5-1B6D-4103-9DE7-531A74CDE8AC}"/>
              </a:ext>
            </a:extLst>
          </p:cNvPr>
          <p:cNvSpPr>
            <a:spLocks xmlns:a="http://schemas.openxmlformats.org/drawingml/2006/main" noGrp="1"/>
          </p:cNvSpPr>
          <p:nvPr/>
        </p:nvSpPr>
        <p:spPr>
          <a:xfrm xmlns:a="http://schemas.openxmlformats.org/drawingml/2006/main">
            <a:off x="6448425" y="2743200"/>
            <a:ext cx="1809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925" b="0">
                <a:solidFill>
                  <a:srgbClr val="17201E"/>
                </a:solidFill>
                <a:latin typeface="Georgia"/>
                <a:ea typeface="Georgia"/>
                <a:cs typeface="Georgia"/>
              </a:defRPr>
            </a:pPr>
            <a:r>
              <a:rPr sz="2925" b="0">
                <a:solidFill>
                  <a:srgbClr val="17201E"/>
                </a:solidFill>
                <a:latin typeface="Georgia"/>
                <a:ea typeface="Georgia"/>
                <a:cs typeface="Georgia"/>
              </a:rPr>
              <a:t>69.41%</a:t>
            </a:r>
          </a:p>
        </p:txBody>
      </p:sp>
      <p:sp>
        <p:nvSpPr>
          <p:cNvPr id="31" name="">
            <a:extLst xmlns:a="http://schemas.openxmlformats.org/drawingml/2006/main">
              <a:ext uri="{FF2B5EF4-FFF2-40B4-BE49-F238E27FC236}">
                <a16:creationId xmlns:a16="http://schemas.microsoft.com/office/drawing/2014/main" id="{BBBA62A4-2B2A-46E7-8EE0-0566C1F16674}"/>
              </a:ext>
            </a:extLst>
          </p:cNvPr>
          <p:cNvSpPr>
            <a:spLocks xmlns:a="http://schemas.openxmlformats.org/drawingml/2006/main" noGrp="1"/>
          </p:cNvSpPr>
          <p:nvPr/>
        </p:nvSpPr>
        <p:spPr>
          <a:xfrm xmlns:a="http://schemas.openxmlformats.org/drawingml/2006/main">
            <a:off x="6448425" y="32385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CURRENT LTV</a:t>
            </a:r>
          </a:p>
        </p:txBody>
      </p:sp>
      <p:sp>
        <p:nvSpPr>
          <p:cNvPr id="32" name="">
            <a:extLst xmlns:a="http://schemas.openxmlformats.org/drawingml/2006/main">
              <a:ext uri="{FF2B5EF4-FFF2-40B4-BE49-F238E27FC236}">
                <a16:creationId xmlns:a16="http://schemas.microsoft.com/office/drawing/2014/main" id="{C42C9BF8-F067-41EA-91BB-9FD04DF3E480}"/>
              </a:ext>
            </a:extLst>
          </p:cNvPr>
          <p:cNvSpPr>
            <a:spLocks xmlns:a="http://schemas.openxmlformats.org/drawingml/2006/main" noGrp="1"/>
          </p:cNvSpPr>
          <p:nvPr/>
        </p:nvSpPr>
        <p:spPr>
          <a:xfrm xmlns:a="http://schemas.openxmlformats.org/drawingml/2006/main">
            <a:off x="8562975" y="2743200"/>
            <a:ext cx="1809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925" b="0">
                <a:solidFill>
                  <a:srgbClr val="B85D43"/>
                </a:solidFill>
                <a:latin typeface="Georgia"/>
                <a:ea typeface="Georgia"/>
                <a:cs typeface="Georgia"/>
              </a:defRPr>
            </a:pPr>
            <a:r>
              <a:rPr sz="2925" b="0">
                <a:solidFill>
                  <a:srgbClr val="B85D43"/>
                </a:solidFill>
                <a:latin typeface="Georgia"/>
                <a:ea typeface="Georgia"/>
                <a:cs typeface="Georgia"/>
              </a:rPr>
              <a:t>70.00%</a:t>
            </a:r>
          </a:p>
        </p:txBody>
      </p:sp>
      <p:sp>
        <p:nvSpPr>
          <p:cNvPr id="33" name="">
            <a:extLst xmlns:a="http://schemas.openxmlformats.org/drawingml/2006/main">
              <a:ext uri="{FF2B5EF4-FFF2-40B4-BE49-F238E27FC236}">
                <a16:creationId xmlns:a16="http://schemas.microsoft.com/office/drawing/2014/main" id="{2A4CF0F9-B572-4E9D-926A-7FBC576A6578}"/>
              </a:ext>
            </a:extLst>
          </p:cNvPr>
          <p:cNvSpPr>
            <a:spLocks xmlns:a="http://schemas.openxmlformats.org/drawingml/2006/main" noGrp="1"/>
          </p:cNvSpPr>
          <p:nvPr/>
        </p:nvSpPr>
        <p:spPr>
          <a:xfrm xmlns:a="http://schemas.openxmlformats.org/drawingml/2006/main">
            <a:off x="8562975" y="32385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MARGIN-CALL TRIGGER</a:t>
            </a:r>
          </a:p>
        </p:txBody>
      </p:sp>
      <p:sp>
        <p:nvSpPr>
          <p:cNvPr id="34" name="ltv-gauge-bg">
            <a:extLst xmlns:a="http://schemas.openxmlformats.org/drawingml/2006/main">
              <a:ext uri="{FF2B5EF4-FFF2-40B4-BE49-F238E27FC236}">
                <a16:creationId xmlns:a16="http://schemas.microsoft.com/office/drawing/2014/main" id="{507EFA7D-3551-414E-8985-72228505A456}"/>
              </a:ext>
            </a:extLst>
          </p:cNvPr>
          <p:cNvSpPr>
            <a:spLocks xmlns:a="http://schemas.openxmlformats.org/drawingml/2006/main" noGrp="1"/>
          </p:cNvSpPr>
          <p:nvPr/>
        </p:nvSpPr>
        <p:spPr>
          <a:xfrm xmlns:a="http://schemas.openxmlformats.org/drawingml/2006/main">
            <a:off x="6448425" y="3695700"/>
            <a:ext cx="4438650" cy="133350"/>
          </a:xfrm>
          <a:prstGeom xmlns:a="http://schemas.openxmlformats.org/drawingml/2006/main" prst="rect">
            <a:avLst/>
          </a:prstGeom>
          <a:solidFill xmlns:a="http://schemas.openxmlformats.org/drawingml/2006/main">
            <a:srgbClr val="E8E2D8"/>
          </a:solidFill>
          <a:ln xmlns:a="http://schemas.openxmlformats.org/drawingml/2006/main" w="0">
            <a:solidFill>
              <a:srgbClr val="000000">
                <a:alpha val="0"/>
              </a:srgbClr>
            </a:solidFill>
            <a:prstDash val="solid"/>
          </a:ln>
        </p:spPr>
      </p:sp>
      <p:sp>
        <p:nvSpPr>
          <p:cNvPr id="35" name="ltv-gauge-current">
            <a:extLst xmlns:a="http://schemas.openxmlformats.org/drawingml/2006/main">
              <a:ext uri="{FF2B5EF4-FFF2-40B4-BE49-F238E27FC236}">
                <a16:creationId xmlns:a16="http://schemas.microsoft.com/office/drawing/2014/main" id="{C1AC0C23-B74F-4690-9BEC-4E78A4261A4A}"/>
              </a:ext>
            </a:extLst>
          </p:cNvPr>
          <p:cNvSpPr>
            <a:spLocks xmlns:a="http://schemas.openxmlformats.org/drawingml/2006/main" noGrp="1"/>
          </p:cNvSpPr>
          <p:nvPr/>
        </p:nvSpPr>
        <p:spPr>
          <a:xfrm xmlns:a="http://schemas.openxmlformats.org/drawingml/2006/main">
            <a:off x="6448425" y="3695700"/>
            <a:ext cx="3851084" cy="133350"/>
          </a:xfrm>
          <a:prstGeom xmlns:a="http://schemas.openxmlformats.org/drawingml/2006/main" prst="rect">
            <a:avLst/>
          </a:prstGeom>
          <a:solidFill xmlns:a="http://schemas.openxmlformats.org/drawingml/2006/main">
            <a:srgbClr val="2D5C56"/>
          </a:solidFill>
          <a:ln xmlns:a="http://schemas.openxmlformats.org/drawingml/2006/main" w="0">
            <a:solidFill>
              <a:srgbClr val="000000">
                <a:alpha val="0"/>
              </a:srgbClr>
            </a:solidFill>
            <a:prstDash val="solid"/>
          </a:ln>
        </p:spPr>
      </p:sp>
      <p:sp>
        <p:nvSpPr>
          <p:cNvPr id="36" name="ltv-trigger-marker">
            <a:extLst xmlns:a="http://schemas.openxmlformats.org/drawingml/2006/main">
              <a:ext uri="{FF2B5EF4-FFF2-40B4-BE49-F238E27FC236}">
                <a16:creationId xmlns:a16="http://schemas.microsoft.com/office/drawing/2014/main" id="{07CE03E5-47C2-43A1-9452-4261DD7E8A17}"/>
              </a:ext>
            </a:extLst>
          </p:cNvPr>
          <p:cNvSpPr>
            <a:spLocks xmlns:a="http://schemas.openxmlformats.org/drawingml/2006/main" noGrp="1"/>
          </p:cNvSpPr>
          <p:nvPr/>
        </p:nvSpPr>
        <p:spPr>
          <a:xfrm xmlns:a="http://schemas.openxmlformats.org/drawingml/2006/main">
            <a:off x="10313194" y="3543300"/>
            <a:ext cx="38100" cy="457200"/>
          </a:xfrm>
          <a:prstGeom xmlns:a="http://schemas.openxmlformats.org/drawingml/2006/main" prst="rect">
            <a:avLst/>
          </a:prstGeom>
          <a:solidFill xmlns:a="http://schemas.openxmlformats.org/drawingml/2006/main">
            <a:srgbClr val="B85D43"/>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A73BF5AB-F797-4162-B608-D47CE4894123}"/>
              </a:ext>
            </a:extLst>
          </p:cNvPr>
          <p:cNvSpPr>
            <a:spLocks xmlns:a="http://schemas.openxmlformats.org/drawingml/2006/main" noGrp="1"/>
          </p:cNvSpPr>
          <p:nvPr/>
        </p:nvSpPr>
        <p:spPr>
          <a:xfrm xmlns:a="http://schemas.openxmlformats.org/drawingml/2006/main">
            <a:off x="9594659" y="3962400"/>
            <a:ext cx="666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675" b="1">
                <a:solidFill>
                  <a:srgbClr val="2D5C56"/>
                </a:solidFill>
                <a:latin typeface="Aptos"/>
                <a:ea typeface="Aptos"/>
                <a:cs typeface="Aptos"/>
              </a:defRPr>
            </a:pPr>
            <a:r>
              <a:rPr sz="675" b="1">
                <a:solidFill>
                  <a:srgbClr val="2D5C56"/>
                </a:solidFill>
                <a:latin typeface="Aptos"/>
                <a:ea typeface="Aptos"/>
                <a:cs typeface="Aptos"/>
              </a:rPr>
              <a:t>CURRENT</a:t>
            </a:r>
          </a:p>
        </p:txBody>
      </p:sp>
      <p:sp>
        <p:nvSpPr>
          <p:cNvPr id="38" name="">
            <a:extLst xmlns:a="http://schemas.openxmlformats.org/drawingml/2006/main">
              <a:ext uri="{FF2B5EF4-FFF2-40B4-BE49-F238E27FC236}">
                <a16:creationId xmlns:a16="http://schemas.microsoft.com/office/drawing/2014/main" id="{1C24FA44-3C8E-42D1-A318-8D96C963E5B0}"/>
              </a:ext>
            </a:extLst>
          </p:cNvPr>
          <p:cNvSpPr>
            <a:spLocks xmlns:a="http://schemas.openxmlformats.org/drawingml/2006/main" noGrp="1"/>
          </p:cNvSpPr>
          <p:nvPr/>
        </p:nvSpPr>
        <p:spPr>
          <a:xfrm xmlns:a="http://schemas.openxmlformats.org/drawingml/2006/main">
            <a:off x="10408444" y="3514725"/>
            <a:ext cx="666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1">
                <a:solidFill>
                  <a:srgbClr val="B85D43"/>
                </a:solidFill>
                <a:latin typeface="Aptos"/>
                <a:ea typeface="Aptos"/>
                <a:cs typeface="Aptos"/>
              </a:defRPr>
            </a:pPr>
            <a:r>
              <a:rPr sz="675" b="1">
                <a:solidFill>
                  <a:srgbClr val="B85D43"/>
                </a:solidFill>
                <a:latin typeface="Aptos"/>
                <a:ea typeface="Aptos"/>
                <a:cs typeface="Aptos"/>
              </a:rPr>
              <a:t>TRIGGER</a:t>
            </a:r>
          </a:p>
        </p:txBody>
      </p:sp>
      <p:sp>
        <p:nvSpPr>
          <p:cNvPr id="39" name="ltv-proof-rule">
            <a:extLst xmlns:a="http://schemas.openxmlformats.org/drawingml/2006/main">
              <a:ext uri="{FF2B5EF4-FFF2-40B4-BE49-F238E27FC236}">
                <a16:creationId xmlns:a16="http://schemas.microsoft.com/office/drawing/2014/main" id="{0A33BEF4-8EBB-4517-8AAB-513F72B44D99}"/>
              </a:ext>
            </a:extLst>
          </p:cNvPr>
          <p:cNvSpPr>
            <a:spLocks xmlns:a="http://schemas.openxmlformats.org/drawingml/2006/main" noGrp="1"/>
          </p:cNvSpPr>
          <p:nvPr/>
        </p:nvSpPr>
        <p:spPr>
          <a:xfrm xmlns:a="http://schemas.openxmlformats.org/drawingml/2006/main">
            <a:off x="6448425" y="4333875"/>
            <a:ext cx="443865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EB8E2018-9CF5-4789-B7DF-E666B47CA821}"/>
              </a:ext>
            </a:extLst>
          </p:cNvPr>
          <p:cNvSpPr>
            <a:spLocks xmlns:a="http://schemas.openxmlformats.org/drawingml/2006/main" noGrp="1"/>
          </p:cNvSpPr>
          <p:nvPr/>
        </p:nvSpPr>
        <p:spPr>
          <a:xfrm xmlns:a="http://schemas.openxmlformats.org/drawingml/2006/main">
            <a:off x="6448425" y="4533900"/>
            <a:ext cx="204787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17201E"/>
                </a:solidFill>
                <a:latin typeface="Georgia"/>
                <a:ea typeface="Georgia"/>
                <a:cs typeface="Georgia"/>
              </a:defRPr>
            </a:pPr>
            <a:r>
              <a:rPr sz="1800" b="0">
                <a:solidFill>
                  <a:srgbClr val="17201E"/>
                </a:solidFill>
                <a:latin typeface="Georgia"/>
                <a:ea typeface="Georgia"/>
                <a:cs typeface="Georgia"/>
              </a:rPr>
              <a:t>HKD 25.56m</a:t>
            </a:r>
          </a:p>
        </p:txBody>
      </p:sp>
      <p:sp>
        <p:nvSpPr>
          <p:cNvPr id="41" name="">
            <a:extLst xmlns:a="http://schemas.openxmlformats.org/drawingml/2006/main">
              <a:ext uri="{FF2B5EF4-FFF2-40B4-BE49-F238E27FC236}">
                <a16:creationId xmlns:a16="http://schemas.microsoft.com/office/drawing/2014/main" id="{20D39ECB-8EC3-4CD6-93BC-A98D7EA0DC42}"/>
              </a:ext>
            </a:extLst>
          </p:cNvPr>
          <p:cNvSpPr>
            <a:spLocks xmlns:a="http://schemas.openxmlformats.org/drawingml/2006/main" noGrp="1"/>
          </p:cNvSpPr>
          <p:nvPr/>
        </p:nvSpPr>
        <p:spPr>
          <a:xfrm xmlns:a="http://schemas.openxmlformats.org/drawingml/2006/main">
            <a:off x="6448425" y="4991100"/>
            <a:ext cx="204787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REPORTED HEADROOM: LENDING VALUE MINUS DRAWN</a:t>
            </a:r>
          </a:p>
        </p:txBody>
      </p:sp>
      <p:sp>
        <p:nvSpPr>
          <p:cNvPr id="42" name="">
            <a:extLst xmlns:a="http://schemas.openxmlformats.org/drawingml/2006/main">
              <a:ext uri="{FF2B5EF4-FFF2-40B4-BE49-F238E27FC236}">
                <a16:creationId xmlns:a16="http://schemas.microsoft.com/office/drawing/2014/main" id="{B130511F-4340-443A-916C-E7713411DAFA}"/>
              </a:ext>
            </a:extLst>
          </p:cNvPr>
          <p:cNvSpPr>
            <a:spLocks xmlns:a="http://schemas.openxmlformats.org/drawingml/2006/main" noGrp="1"/>
          </p:cNvSpPr>
          <p:nvPr/>
        </p:nvSpPr>
        <p:spPr>
          <a:xfrm xmlns:a="http://schemas.openxmlformats.org/drawingml/2006/main">
            <a:off x="8715375" y="4533900"/>
            <a:ext cx="214312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B85D43"/>
                </a:solidFill>
                <a:latin typeface="Georgia"/>
                <a:ea typeface="Georgia"/>
                <a:cs typeface="Georgia"/>
              </a:defRPr>
            </a:pPr>
            <a:r>
              <a:rPr sz="1800" b="0">
                <a:solidFill>
                  <a:srgbClr val="B85D43"/>
                </a:solidFill>
                <a:latin typeface="Georgia"/>
                <a:ea typeface="Georgia"/>
                <a:cs typeface="Georgia"/>
              </a:rPr>
              <a:t>HKD 0.71m</a:t>
            </a:r>
          </a:p>
        </p:txBody>
      </p:sp>
      <p:sp>
        <p:nvSpPr>
          <p:cNvPr id="43" name="">
            <a:extLst xmlns:a="http://schemas.openxmlformats.org/drawingml/2006/main">
              <a:ext uri="{FF2B5EF4-FFF2-40B4-BE49-F238E27FC236}">
                <a16:creationId xmlns:a16="http://schemas.microsoft.com/office/drawing/2014/main" id="{09A871C2-2B2F-419F-971F-A9EE54064618}"/>
              </a:ext>
            </a:extLst>
          </p:cNvPr>
          <p:cNvSpPr>
            <a:spLocks xmlns:a="http://schemas.openxmlformats.org/drawingml/2006/main" noGrp="1"/>
          </p:cNvSpPr>
          <p:nvPr/>
        </p:nvSpPr>
        <p:spPr>
          <a:xfrm xmlns:a="http://schemas.openxmlformats.org/drawingml/2006/main">
            <a:off x="8715375" y="4991100"/>
            <a:ext cx="21431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ACTUAL LENDING-VALUE CUSHION TO 70%</a:t>
            </a:r>
          </a:p>
        </p:txBody>
      </p:sp>
      <p:sp>
        <p:nvSpPr>
          <p:cNvPr id="44" name="ltv-callout">
            <a:extLst xmlns:a="http://schemas.openxmlformats.org/drawingml/2006/main">
              <a:ext uri="{FF2B5EF4-FFF2-40B4-BE49-F238E27FC236}">
                <a16:creationId xmlns:a16="http://schemas.microsoft.com/office/drawing/2014/main" id="{C3734E44-08AE-460C-B85D-CD004DCF01D3}"/>
              </a:ext>
            </a:extLst>
          </p:cNvPr>
          <p:cNvSpPr>
            <a:spLocks xmlns:a="http://schemas.openxmlformats.org/drawingml/2006/main" noGrp="1"/>
          </p:cNvSpPr>
          <p:nvPr/>
        </p:nvSpPr>
        <p:spPr>
          <a:xfrm xmlns:a="http://schemas.openxmlformats.org/drawingml/2006/main">
            <a:off x="6438900" y="5305425"/>
            <a:ext cx="4438650" cy="276225"/>
          </a:xfrm>
          <a:prstGeom xmlns:a="http://schemas.openxmlformats.org/drawingml/2006/main" prst="rect">
            <a:avLst/>
          </a:prstGeom>
          <a:solidFill xmlns:a="http://schemas.openxmlformats.org/drawingml/2006/main">
            <a:srgbClr val="F1DDD4"/>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78BF9E45-1DBA-4CF9-9017-380736153932}"/>
              </a:ext>
            </a:extLst>
          </p:cNvPr>
          <p:cNvSpPr>
            <a:spLocks xmlns:a="http://schemas.openxmlformats.org/drawingml/2006/main" noGrp="1"/>
          </p:cNvSpPr>
          <p:nvPr/>
        </p:nvSpPr>
        <p:spPr>
          <a:xfrm xmlns:a="http://schemas.openxmlformats.org/drawingml/2006/main">
            <a:off x="6572250" y="5314950"/>
            <a:ext cx="41719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B85D43"/>
                </a:solidFill>
                <a:latin typeface="Aptos"/>
                <a:ea typeface="Aptos"/>
                <a:cs typeface="Aptos"/>
              </a:defRPr>
            </a:pPr>
            <a:r>
              <a:rPr sz="900" b="1">
                <a:solidFill>
                  <a:srgbClr val="B85D43"/>
                </a:solidFill>
                <a:latin typeface="Aptos"/>
                <a:ea typeface="Aptos"/>
                <a:cs typeface="Aptos"/>
              </a:rPr>
              <a:t>A 0.85% fall in eligible lending value reaches the trigger.</a:t>
            </a:r>
          </a:p>
        </p:txBody>
      </p:sp>
      <p:sp>
        <p:nvSpPr>
          <p:cNvPr id="46" name="footer-rule-6">
            <a:extLst xmlns:a="http://schemas.openxmlformats.org/drawingml/2006/main">
              <a:ext uri="{FF2B5EF4-FFF2-40B4-BE49-F238E27FC236}">
                <a16:creationId xmlns:a16="http://schemas.microsoft.com/office/drawing/2014/main" id="{4E7C4F32-B890-47E1-BAEB-CE49906E646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1C06435F-1EB0-4218-8E07-CACFBDA00E90}"/>
              </a:ext>
            </a:extLst>
          </p:cNvPr>
          <p:cNvSpPr>
            <a:spLocks xmlns:a="http://schemas.openxmlformats.org/drawingml/2006/main" noGrp="1"/>
          </p:cNvSpPr>
          <p:nvPr/>
        </p:nvSpPr>
        <p:spPr>
          <a:xfrm xmlns:a="http://schemas.openxmlformats.org/drawingml/2006/main">
            <a:off x="609600" y="6543675"/>
            <a:ext cx="942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0">
                <a:solidFill>
                  <a:srgbClr val="6F766F"/>
                </a:solidFill>
                <a:latin typeface="Aptos"/>
                <a:ea typeface="Aptos"/>
                <a:cs typeface="Aptos"/>
              </a:defRPr>
            </a:pPr>
            <a:r>
              <a:rPr sz="675" b="0">
                <a:solidFill>
                  <a:srgbClr val="6F766F"/>
                </a:solidFill>
                <a:latin typeface="Aptos"/>
                <a:ea typeface="Aptos"/>
                <a:cs typeface="Aptos"/>
              </a:rPr>
              <a:t>Source: holdings.csv · instruments.csv · credit_facilities.csv CF-0002 · planned_cash_needs.csv CN-013 · synthetic data</a:t>
            </a:r>
          </a:p>
        </p:txBody>
      </p:sp>
      <p:sp>
        <p:nvSpPr>
          <p:cNvPr id="48" name="">
            <a:extLst xmlns:a="http://schemas.openxmlformats.org/drawingml/2006/main">
              <a:ext uri="{FF2B5EF4-FFF2-40B4-BE49-F238E27FC236}">
                <a16:creationId xmlns:a16="http://schemas.microsoft.com/office/drawing/2014/main" id="{353BF4C1-1824-4599-B7A1-4E9463CD8FEA}"/>
              </a:ext>
            </a:extLst>
          </p:cNvPr>
          <p:cNvSpPr>
            <a:spLocks xmlns:a="http://schemas.openxmlformats.org/drawingml/2006/main" noGrp="1"/>
          </p:cNvSpPr>
          <p:nvPr/>
        </p:nvSpPr>
        <p:spPr>
          <a:xfrm xmlns:a="http://schemas.openxmlformats.org/drawingml/2006/main">
            <a:off x="10991850" y="65341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2D5C56"/>
                </a:solidFill>
                <a:latin typeface="Aptos Mono"/>
                <a:ea typeface="Aptos Mono"/>
                <a:cs typeface="Aptos Mono"/>
              </a:defRPr>
            </a:pPr>
            <a:r>
              <a:rPr sz="750" b="1">
                <a:solidFill>
                  <a:srgbClr val="2D5C56"/>
                </a:solidFill>
                <a:latin typeface="Aptos Mono"/>
                <a:ea typeface="Aptos Mono"/>
                <a:cs typeface="Aptos Mono"/>
              </a:rPr>
              <a:t>A1</a:t>
            </a:r>
          </a:p>
        </p:txBody>
      </p:sp>
    </p:spTree>
    <p:extLst>
      <p:ext uri="{BB962C8B-B14F-4D97-AF65-F5344CB8AC3E}">
        <p14:creationId xmlns:p14="http://schemas.microsoft.com/office/powerpoint/2010/main" val="178323206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60CCA7FB-61CC-4C6D-A448-6C52E6D09B1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kicker-08-marker">
            <a:extLst xmlns:a="http://schemas.openxmlformats.org/drawingml/2006/main">
              <a:ext uri="{FF2B5EF4-FFF2-40B4-BE49-F238E27FC236}">
                <a16:creationId xmlns:a16="http://schemas.microsoft.com/office/drawing/2014/main" id="{5567857E-B135-4106-8DB0-D7F20DF6038E}"/>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kicker-08-label">
            <a:extLst xmlns:a="http://schemas.openxmlformats.org/drawingml/2006/main">
              <a:ext uri="{FF2B5EF4-FFF2-40B4-BE49-F238E27FC236}">
                <a16:creationId xmlns:a16="http://schemas.microsoft.com/office/drawing/2014/main" id="{5B3EA2DE-C746-48A9-8868-FE4515C979AC}"/>
              </a:ext>
            </a:extLst>
          </p:cNvPr>
          <p:cNvSpPr>
            <a:spLocks xmlns:a="http://schemas.openxmlformats.org/drawingml/2006/main" noGrp="1"/>
          </p:cNvSpPr>
          <p:nvPr/>
        </p:nvSpPr>
        <p:spPr>
          <a:xfrm xmlns:a="http://schemas.openxmlformats.org/drawingml/2006/main">
            <a:off x="781050" y="371475"/>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2D5C56"/>
                </a:solidFill>
                <a:latin typeface="Aptos"/>
                <a:ea typeface="Aptos"/>
                <a:cs typeface="Aptos"/>
              </a:defRPr>
            </a:pPr>
            <a:r>
              <a:rPr sz="825" b="1">
                <a:solidFill>
                  <a:srgbClr val="2D5C56"/>
                </a:solidFill>
                <a:latin typeface="Aptos"/>
                <a:ea typeface="Aptos"/>
                <a:cs typeface="Aptos"/>
              </a:rPr>
              <a:t>TRUST PROOF · CHEUNG KWOK WING</a:t>
            </a:r>
          </a:p>
        </p:txBody>
      </p:sp>
      <p:sp>
        <p:nvSpPr>
          <p:cNvPr id="4" name="">
            <a:extLst xmlns:a="http://schemas.openxmlformats.org/drawingml/2006/main">
              <a:ext uri="{FF2B5EF4-FFF2-40B4-BE49-F238E27FC236}">
                <a16:creationId xmlns:a16="http://schemas.microsoft.com/office/drawing/2014/main" id="{EA69E573-A96D-4ED0-861F-53BAAE35F274}"/>
              </a:ext>
            </a:extLst>
          </p:cNvPr>
          <p:cNvSpPr>
            <a:spLocks xmlns:a="http://schemas.openxmlformats.org/drawingml/2006/main" noGrp="1"/>
          </p:cNvSpPr>
          <p:nvPr/>
        </p:nvSpPr>
        <p:spPr>
          <a:xfrm xmlns:a="http://schemas.openxmlformats.org/drawingml/2006/main">
            <a:off x="609600" y="685800"/>
            <a:ext cx="10668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150" b="0">
                <a:solidFill>
                  <a:srgbClr val="17201E"/>
                </a:solidFill>
                <a:latin typeface="Georgia"/>
                <a:ea typeface="Georgia"/>
                <a:cs typeface="Georgia"/>
              </a:defRPr>
            </a:pPr>
            <a:r>
              <a:rPr sz="3150" b="0">
                <a:solidFill>
                  <a:srgbClr val="17201E"/>
                </a:solidFill>
                <a:latin typeface="Georgia"/>
                <a:ea typeface="Georgia"/>
                <a:cs typeface="Georgia"/>
              </a:rPr>
              <a:t>The trustworthy answer begins with: “We need to verify your draw.”</a:t>
            </a:r>
          </a:p>
        </p:txBody>
      </p:sp>
      <p:sp>
        <p:nvSpPr>
          <p:cNvPr id="5" name="">
            <a:extLst xmlns:a="http://schemas.openxmlformats.org/drawingml/2006/main">
              <a:ext uri="{FF2B5EF4-FFF2-40B4-BE49-F238E27FC236}">
                <a16:creationId xmlns:a16="http://schemas.microsoft.com/office/drawing/2014/main" id="{C1423D54-0C8B-4DC0-B8ED-1A1ACE4B5B04}"/>
              </a:ext>
            </a:extLst>
          </p:cNvPr>
          <p:cNvSpPr>
            <a:spLocks xmlns:a="http://schemas.openxmlformats.org/drawingml/2006/main" noGrp="1"/>
          </p:cNvSpPr>
          <p:nvPr/>
        </p:nvSpPr>
        <p:spPr>
          <a:xfrm xmlns:a="http://schemas.openxmlformats.org/drawingml/2006/main">
            <a:off x="609600" y="1704975"/>
            <a:ext cx="933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F766F"/>
                </a:solidFill>
                <a:latin typeface="Aptos"/>
                <a:ea typeface="Aptos"/>
                <a:cs typeface="Aptos"/>
              </a:defRPr>
            </a:pPr>
            <a:r>
              <a:rPr sz="1200" b="0">
                <a:solidFill>
                  <a:srgbClr val="6F766F"/>
                </a:solidFill>
                <a:latin typeface="Aptos"/>
                <a:ea typeface="Aptos"/>
                <a:cs typeface="Aptos"/>
              </a:rPr>
              <a:t>A model that silently picks the convenient number is not an advisory system.</a:t>
            </a:r>
          </a:p>
        </p:txBody>
      </p:sp>
      <p:sp>
        <p:nvSpPr>
          <p:cNvPr id="6" name="conflict-panel">
            <a:extLst xmlns:a="http://schemas.openxmlformats.org/drawingml/2006/main">
              <a:ext uri="{FF2B5EF4-FFF2-40B4-BE49-F238E27FC236}">
                <a16:creationId xmlns:a16="http://schemas.microsoft.com/office/drawing/2014/main" id="{C5361D92-62AD-4AB1-99E8-E0C962ABB4A5}"/>
              </a:ext>
            </a:extLst>
          </p:cNvPr>
          <p:cNvSpPr>
            <a:spLocks xmlns:a="http://schemas.openxmlformats.org/drawingml/2006/main" noGrp="1"/>
          </p:cNvSpPr>
          <p:nvPr/>
        </p:nvSpPr>
        <p:spPr>
          <a:xfrm xmlns:a="http://schemas.openxmlformats.org/drawingml/2006/main">
            <a:off x="609600" y="2105025"/>
            <a:ext cx="4972050" cy="1905000"/>
          </a:xfrm>
          <a:prstGeom xmlns:a="http://schemas.openxmlformats.org/drawingml/2006/main" prst="rect">
            <a:avLst/>
          </a:prstGeom>
          <a:solidFill xmlns:a="http://schemas.openxmlformats.org/drawingml/2006/main">
            <a:srgbClr val="FBF9F4"/>
          </a:solidFill>
          <a:ln xmlns:a="http://schemas.openxmlformats.org/drawingml/2006/main" w="9525">
            <a:solidFill>
              <a:srgbClr val="D9D2C5"/>
            </a:solidFill>
            <a:prstDash val="solid"/>
          </a:ln>
        </p:spPr>
      </p:sp>
      <p:sp>
        <p:nvSpPr>
          <p:cNvPr id="7" name="">
            <a:extLst xmlns:a="http://schemas.openxmlformats.org/drawingml/2006/main">
              <a:ext uri="{FF2B5EF4-FFF2-40B4-BE49-F238E27FC236}">
                <a16:creationId xmlns:a16="http://schemas.microsoft.com/office/drawing/2014/main" id="{07F4869B-A70B-40AF-9859-BC05C0EF6DAF}"/>
              </a:ext>
            </a:extLst>
          </p:cNvPr>
          <p:cNvSpPr>
            <a:spLocks xmlns:a="http://schemas.openxmlformats.org/drawingml/2006/main" noGrp="1"/>
          </p:cNvSpPr>
          <p:nvPr/>
        </p:nvSpPr>
        <p:spPr>
          <a:xfrm xmlns:a="http://schemas.openxmlformats.org/drawingml/2006/main">
            <a:off x="838200" y="2333625"/>
            <a:ext cx="2381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THE RECORDS DISAGREE</a:t>
            </a:r>
          </a:p>
        </p:txBody>
      </p:sp>
      <p:sp>
        <p:nvSpPr>
          <p:cNvPr id="8" name="">
            <a:extLst xmlns:a="http://schemas.openxmlformats.org/drawingml/2006/main">
              <a:ext uri="{FF2B5EF4-FFF2-40B4-BE49-F238E27FC236}">
                <a16:creationId xmlns:a16="http://schemas.microsoft.com/office/drawing/2014/main" id="{0C9B722F-ADA6-41B6-A771-8068B67420BE}"/>
              </a:ext>
            </a:extLst>
          </p:cNvPr>
          <p:cNvSpPr>
            <a:spLocks xmlns:a="http://schemas.openxmlformats.org/drawingml/2006/main" noGrp="1"/>
          </p:cNvSpPr>
          <p:nvPr/>
        </p:nvSpPr>
        <p:spPr>
          <a:xfrm xmlns:a="http://schemas.openxmlformats.org/drawingml/2006/main">
            <a:off x="838200" y="2733675"/>
            <a:ext cx="1905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475" b="0">
                <a:solidFill>
                  <a:srgbClr val="17201E"/>
                </a:solidFill>
                <a:latin typeface="Georgia"/>
                <a:ea typeface="Georgia"/>
                <a:cs typeface="Georgia"/>
              </a:defRPr>
            </a:pPr>
            <a:r>
              <a:rPr sz="2475" b="0">
                <a:solidFill>
                  <a:srgbClr val="17201E"/>
                </a:solidFill>
                <a:latin typeface="Georgia"/>
                <a:ea typeface="Georgia"/>
                <a:cs typeface="Georgia"/>
              </a:rPr>
              <a:t>USD 1.10m</a:t>
            </a:r>
          </a:p>
        </p:txBody>
      </p:sp>
      <p:sp>
        <p:nvSpPr>
          <p:cNvPr id="9" name="">
            <a:extLst xmlns:a="http://schemas.openxmlformats.org/drawingml/2006/main">
              <a:ext uri="{FF2B5EF4-FFF2-40B4-BE49-F238E27FC236}">
                <a16:creationId xmlns:a16="http://schemas.microsoft.com/office/drawing/2014/main" id="{E39A0B21-D6B9-4410-AB94-26681D7CEF54}"/>
              </a:ext>
            </a:extLst>
          </p:cNvPr>
          <p:cNvSpPr>
            <a:spLocks xmlns:a="http://schemas.openxmlformats.org/drawingml/2006/main" noGrp="1"/>
          </p:cNvSpPr>
          <p:nvPr/>
        </p:nvSpPr>
        <p:spPr>
          <a:xfrm xmlns:a="http://schemas.openxmlformats.org/drawingml/2006/main">
            <a:off x="838200" y="3190875"/>
            <a:ext cx="190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LATEST RM NOTE · N-016</a:t>
            </a:r>
          </a:p>
        </p:txBody>
      </p:sp>
      <p:sp>
        <p:nvSpPr>
          <p:cNvPr id="10" name="">
            <a:extLst xmlns:a="http://schemas.openxmlformats.org/drawingml/2006/main">
              <a:ext uri="{FF2B5EF4-FFF2-40B4-BE49-F238E27FC236}">
                <a16:creationId xmlns:a16="http://schemas.microsoft.com/office/drawing/2014/main" id="{CBE0AC04-24EB-4515-A455-B149C80157E3}"/>
              </a:ext>
            </a:extLst>
          </p:cNvPr>
          <p:cNvSpPr>
            <a:spLocks xmlns:a="http://schemas.openxmlformats.org/drawingml/2006/main" noGrp="1"/>
          </p:cNvSpPr>
          <p:nvPr/>
        </p:nvSpPr>
        <p:spPr>
          <a:xfrm xmlns:a="http://schemas.openxmlformats.org/drawingml/2006/main">
            <a:off x="2876550" y="2714625"/>
            <a:ext cx="4191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325" b="0">
                <a:solidFill>
                  <a:srgbClr val="B85D43"/>
                </a:solidFill>
                <a:latin typeface="Georgia"/>
                <a:ea typeface="Georgia"/>
                <a:cs typeface="Georgia"/>
              </a:defRPr>
            </a:pPr>
            <a:r>
              <a:rPr sz="2325" b="0">
                <a:solidFill>
                  <a:srgbClr val="B85D43"/>
                </a:solidFill>
                <a:latin typeface="Georgia"/>
                <a:ea typeface="Georgia"/>
                <a:cs typeface="Georgia"/>
              </a:rPr>
              <a:t>≠</a:t>
            </a:r>
          </a:p>
        </p:txBody>
      </p:sp>
      <p:sp>
        <p:nvSpPr>
          <p:cNvPr id="11" name="">
            <a:extLst xmlns:a="http://schemas.openxmlformats.org/drawingml/2006/main">
              <a:ext uri="{FF2B5EF4-FFF2-40B4-BE49-F238E27FC236}">
                <a16:creationId xmlns:a16="http://schemas.microsoft.com/office/drawing/2014/main" id="{CC0A18C5-6549-459B-A2F0-62671A5023A0}"/>
              </a:ext>
            </a:extLst>
          </p:cNvPr>
          <p:cNvSpPr>
            <a:spLocks xmlns:a="http://schemas.openxmlformats.org/drawingml/2006/main" noGrp="1"/>
          </p:cNvSpPr>
          <p:nvPr/>
        </p:nvSpPr>
        <p:spPr>
          <a:xfrm xmlns:a="http://schemas.openxmlformats.org/drawingml/2006/main">
            <a:off x="3457575" y="2733675"/>
            <a:ext cx="188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475" b="0">
                <a:solidFill>
                  <a:srgbClr val="B85D43"/>
                </a:solidFill>
                <a:latin typeface="Georgia"/>
                <a:ea typeface="Georgia"/>
                <a:cs typeface="Georgia"/>
              </a:defRPr>
            </a:pPr>
            <a:r>
              <a:rPr sz="2475" b="0">
                <a:solidFill>
                  <a:srgbClr val="B85D43"/>
                </a:solidFill>
                <a:latin typeface="Georgia"/>
                <a:ea typeface="Georgia"/>
                <a:cs typeface="Georgia"/>
              </a:rPr>
              <a:t>USD 1.28m</a:t>
            </a:r>
          </a:p>
        </p:txBody>
      </p:sp>
      <p:sp>
        <p:nvSpPr>
          <p:cNvPr id="12" name="">
            <a:extLst xmlns:a="http://schemas.openxmlformats.org/drawingml/2006/main">
              <a:ext uri="{FF2B5EF4-FFF2-40B4-BE49-F238E27FC236}">
                <a16:creationId xmlns:a16="http://schemas.microsoft.com/office/drawing/2014/main" id="{338C7BCC-0D1A-4C6B-B4FB-214B23DF9E4F}"/>
              </a:ext>
            </a:extLst>
          </p:cNvPr>
          <p:cNvSpPr>
            <a:spLocks xmlns:a="http://schemas.openxmlformats.org/drawingml/2006/main" noGrp="1"/>
          </p:cNvSpPr>
          <p:nvPr/>
        </p:nvSpPr>
        <p:spPr>
          <a:xfrm xmlns:a="http://schemas.openxmlformats.org/drawingml/2006/main">
            <a:off x="3457575" y="3190875"/>
            <a:ext cx="18859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PLANNED NEED · CN-012</a:t>
            </a:r>
          </a:p>
        </p:txBody>
      </p:sp>
      <p:sp>
        <p:nvSpPr>
          <p:cNvPr id="13" name="conflict-action">
            <a:extLst xmlns:a="http://schemas.openxmlformats.org/drawingml/2006/main">
              <a:ext uri="{FF2B5EF4-FFF2-40B4-BE49-F238E27FC236}">
                <a16:creationId xmlns:a16="http://schemas.microsoft.com/office/drawing/2014/main" id="{A08EE641-BD82-42E3-8A07-2063BA9AFB50}"/>
              </a:ext>
            </a:extLst>
          </p:cNvPr>
          <p:cNvSpPr>
            <a:spLocks xmlns:a="http://schemas.openxmlformats.org/drawingml/2006/main" noGrp="1"/>
          </p:cNvSpPr>
          <p:nvPr/>
        </p:nvSpPr>
        <p:spPr>
          <a:xfrm xmlns:a="http://schemas.openxmlformats.org/drawingml/2006/main">
            <a:off x="838200" y="3486150"/>
            <a:ext cx="4505325" cy="333375"/>
          </a:xfrm>
          <a:prstGeom xmlns:a="http://schemas.openxmlformats.org/drawingml/2006/main" prst="rect">
            <a:avLst/>
          </a:prstGeom>
          <a:solidFill xmlns:a="http://schemas.openxmlformats.org/drawingml/2006/main">
            <a:srgbClr val="F1DDD4"/>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0A3D1FE3-2C2F-4CB4-9EF4-5C8D98DAC8F2}"/>
              </a:ext>
            </a:extLst>
          </p:cNvPr>
          <p:cNvSpPr>
            <a:spLocks xmlns:a="http://schemas.openxmlformats.org/drawingml/2006/main" noGrp="1"/>
          </p:cNvSpPr>
          <p:nvPr/>
        </p:nvSpPr>
        <p:spPr>
          <a:xfrm xmlns:a="http://schemas.openxmlformats.org/drawingml/2006/main">
            <a:off x="962025" y="3495675"/>
            <a:ext cx="4257675"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750" b="1">
                <a:solidFill>
                  <a:srgbClr val="B85D43"/>
                </a:solidFill>
                <a:latin typeface="Aptos"/>
                <a:ea typeface="Aptos"/>
                <a:cs typeface="Aptos"/>
              </a:defRPr>
            </a:pPr>
            <a:r>
              <a:rPr sz="750" b="1">
                <a:solidFill>
                  <a:srgbClr val="B85D43"/>
                </a:solidFill>
                <a:latin typeface="Aptos"/>
                <a:ea typeface="Aptos"/>
                <a:cs typeface="Aptos"/>
              </a:rPr>
              <a:t>CONFIDENCE ↓  ·  TURN THE CONFLICT INTO THE FIRST QUESTION</a:t>
            </a:r>
          </a:p>
        </p:txBody>
      </p:sp>
      <p:sp>
        <p:nvSpPr>
          <p:cNvPr id="15" name="conversation-panel">
            <a:extLst xmlns:a="http://schemas.openxmlformats.org/drawingml/2006/main">
              <a:ext uri="{FF2B5EF4-FFF2-40B4-BE49-F238E27FC236}">
                <a16:creationId xmlns:a16="http://schemas.microsoft.com/office/drawing/2014/main" id="{FF8B613C-0ED3-4335-BFFA-58F3938AE624}"/>
              </a:ext>
            </a:extLst>
          </p:cNvPr>
          <p:cNvSpPr>
            <a:spLocks xmlns:a="http://schemas.openxmlformats.org/drawingml/2006/main" noGrp="1"/>
          </p:cNvSpPr>
          <p:nvPr/>
        </p:nvSpPr>
        <p:spPr>
          <a:xfrm xmlns:a="http://schemas.openxmlformats.org/drawingml/2006/main">
            <a:off x="5867400" y="2105025"/>
            <a:ext cx="5715000" cy="1905000"/>
          </a:xfrm>
          <a:prstGeom xmlns:a="http://schemas.openxmlformats.org/drawingml/2006/main" prst="rect">
            <a:avLst/>
          </a:prstGeom>
          <a:solidFill xmlns:a="http://schemas.openxmlformats.org/drawingml/2006/main">
            <a:srgbClr val="17201E"/>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CBBC12D-912C-4AAB-B80D-42FB5C532F57}"/>
              </a:ext>
            </a:extLst>
          </p:cNvPr>
          <p:cNvSpPr>
            <a:spLocks xmlns:a="http://schemas.openxmlformats.org/drawingml/2006/main" noGrp="1"/>
          </p:cNvSpPr>
          <p:nvPr/>
        </p:nvSpPr>
        <p:spPr>
          <a:xfrm xmlns:a="http://schemas.openxmlformats.org/drawingml/2006/main">
            <a:off x="6115050" y="2333625"/>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E7D6B5"/>
                </a:solidFill>
                <a:latin typeface="Aptos"/>
                <a:ea typeface="Aptos"/>
                <a:cs typeface="Aptos"/>
              </a:defRPr>
            </a:pPr>
            <a:r>
              <a:rPr sz="750" b="1">
                <a:solidFill>
                  <a:srgbClr val="E7D6B5"/>
                </a:solidFill>
                <a:latin typeface="Aptos"/>
                <a:ea typeface="Aptos"/>
                <a:cs typeface="Aptos"/>
              </a:rPr>
              <a:t>CONVERSATION OPEN</a:t>
            </a:r>
          </a:p>
        </p:txBody>
      </p:sp>
      <p:sp>
        <p:nvSpPr>
          <p:cNvPr id="17" name="">
            <a:extLst xmlns:a="http://schemas.openxmlformats.org/drawingml/2006/main">
              <a:ext uri="{FF2B5EF4-FFF2-40B4-BE49-F238E27FC236}">
                <a16:creationId xmlns:a16="http://schemas.microsoft.com/office/drawing/2014/main" id="{5E239647-EE22-4628-96D5-BF9E2A65B9C9}"/>
              </a:ext>
            </a:extLst>
          </p:cNvPr>
          <p:cNvSpPr>
            <a:spLocks xmlns:a="http://schemas.openxmlformats.org/drawingml/2006/main" noGrp="1"/>
          </p:cNvSpPr>
          <p:nvPr/>
        </p:nvSpPr>
        <p:spPr>
          <a:xfrm xmlns:a="http://schemas.openxmlformats.org/drawingml/2006/main">
            <a:off x="6115050" y="2724150"/>
            <a:ext cx="50482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FFFFFF"/>
                </a:solidFill>
                <a:latin typeface="Georgia"/>
                <a:ea typeface="Georgia"/>
                <a:cs typeface="Georgia"/>
              </a:defRPr>
            </a:pPr>
            <a:r>
              <a:rPr sz="1800" b="0">
                <a:solidFill>
                  <a:srgbClr val="FFFFFF"/>
                </a:solidFill>
                <a:latin typeface="Georgia"/>
                <a:ea typeface="Georgia"/>
                <a:cs typeface="Georgia"/>
              </a:rPr>
              <a:t>“The issue is not whether the bonds repay—it is whether their timetable still fits yours.”</a:t>
            </a:r>
          </a:p>
        </p:txBody>
      </p:sp>
      <p:sp>
        <p:nvSpPr>
          <p:cNvPr id="18" name="">
            <a:extLst xmlns:a="http://schemas.openxmlformats.org/drawingml/2006/main">
              <a:ext uri="{FF2B5EF4-FFF2-40B4-BE49-F238E27FC236}">
                <a16:creationId xmlns:a16="http://schemas.microsoft.com/office/drawing/2014/main" id="{E078ACE8-2BAC-42E5-83E2-D80F915CA2E1}"/>
              </a:ext>
            </a:extLst>
          </p:cNvPr>
          <p:cNvSpPr>
            <a:spLocks xmlns:a="http://schemas.openxmlformats.org/drawingml/2006/main" noGrp="1"/>
          </p:cNvSpPr>
          <p:nvPr/>
        </p:nvSpPr>
        <p:spPr>
          <a:xfrm xmlns:a="http://schemas.openxmlformats.org/drawingml/2006/main">
            <a:off x="6115050" y="36290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9EAAA6"/>
                </a:solidFill>
                <a:latin typeface="Aptos"/>
                <a:ea typeface="Aptos"/>
                <a:cs typeface="Aptos"/>
              </a:defRPr>
            </a:pPr>
            <a:r>
              <a:rPr sz="750" b="0">
                <a:solidFill>
                  <a:srgbClr val="9EAAA6"/>
                </a:solidFill>
                <a:latin typeface="Aptos"/>
                <a:ea typeface="Aptos"/>
                <a:cs typeface="Aptos"/>
              </a:rPr>
              <a:t>RM-approved draft · no trade instruction</a:t>
            </a:r>
          </a:p>
        </p:txBody>
      </p:sp>
      <p:sp>
        <p:nvSpPr>
          <p:cNvPr id="19" name="">
            <a:extLst xmlns:a="http://schemas.openxmlformats.org/drawingml/2006/main">
              <a:ext uri="{FF2B5EF4-FFF2-40B4-BE49-F238E27FC236}">
                <a16:creationId xmlns:a16="http://schemas.microsoft.com/office/drawing/2014/main" id="{1F3119C4-D12E-4316-9C3A-6FD06B88CEA0}"/>
              </a:ext>
            </a:extLst>
          </p:cNvPr>
          <p:cNvSpPr>
            <a:spLocks xmlns:a="http://schemas.openxmlformats.org/drawingml/2006/main" noGrp="1"/>
          </p:cNvSpPr>
          <p:nvPr/>
        </p:nvSpPr>
        <p:spPr>
          <a:xfrm xmlns:a="http://schemas.openxmlformats.org/drawingml/2006/main">
            <a:off x="609600" y="4391025"/>
            <a:ext cx="876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THE LIFE HORIZON AND THE ASSET HORIZON HAVE DRIFTED APART</a:t>
            </a:r>
          </a:p>
        </p:txBody>
      </p:sp>
      <p:sp>
        <p:nvSpPr>
          <p:cNvPr id="20" name="horizon-line">
            <a:extLst xmlns:a="http://schemas.openxmlformats.org/drawingml/2006/main">
              <a:ext uri="{FF2B5EF4-FFF2-40B4-BE49-F238E27FC236}">
                <a16:creationId xmlns:a16="http://schemas.microsoft.com/office/drawing/2014/main" id="{95169826-E2EB-4CD5-8A31-9714DF7CDB40}"/>
              </a:ext>
            </a:extLst>
          </p:cNvPr>
          <p:cNvSpPr>
            <a:spLocks xmlns:a="http://schemas.openxmlformats.org/drawingml/2006/main" noGrp="1"/>
          </p:cNvSpPr>
          <p:nvPr/>
        </p:nvSpPr>
        <p:spPr>
          <a:xfrm xmlns:a="http://schemas.openxmlformats.org/drawingml/2006/main">
            <a:off x="876300" y="5181600"/>
            <a:ext cx="10039350" cy="2857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21" name="horizon-point-1">
            <a:extLst xmlns:a="http://schemas.openxmlformats.org/drawingml/2006/main">
              <a:ext uri="{FF2B5EF4-FFF2-40B4-BE49-F238E27FC236}">
                <a16:creationId xmlns:a16="http://schemas.microsoft.com/office/drawing/2014/main" id="{DFE4D87E-CB9A-4AB7-8EF9-31CA1F38D6BC}"/>
              </a:ext>
            </a:extLst>
          </p:cNvPr>
          <p:cNvSpPr>
            <a:spLocks xmlns:a="http://schemas.openxmlformats.org/drawingml/2006/main" noGrp="1"/>
          </p:cNvSpPr>
          <p:nvPr/>
        </p:nvSpPr>
        <p:spPr>
          <a:xfrm xmlns:a="http://schemas.openxmlformats.org/drawingml/2006/main">
            <a:off x="781050" y="5095875"/>
            <a:ext cx="190500" cy="190500"/>
          </a:xfrm>
          <a:prstGeom xmlns:a="http://schemas.openxmlformats.org/drawingml/2006/main" prst="ellipse">
            <a:avLst/>
          </a:prstGeom>
          <a:solidFill xmlns:a="http://schemas.openxmlformats.org/drawingml/2006/main">
            <a:srgbClr val="B78F50"/>
          </a:solidFill>
          <a:ln xmlns:a="http://schemas.openxmlformats.org/drawingml/2006/main" w="0">
            <a:solidFill>
              <a:srgbClr val="B78F50"/>
            </a:solidFill>
            <a:prstDash val="solid"/>
          </a:ln>
        </p:spPr>
      </p:sp>
      <p:sp>
        <p:nvSpPr>
          <p:cNvPr id="22" name="">
            <a:extLst xmlns:a="http://schemas.openxmlformats.org/drawingml/2006/main">
              <a:ext uri="{FF2B5EF4-FFF2-40B4-BE49-F238E27FC236}">
                <a16:creationId xmlns:a16="http://schemas.microsoft.com/office/drawing/2014/main" id="{3AF7215C-70E2-4ADA-B8D4-A4522432C649}"/>
              </a:ext>
            </a:extLst>
          </p:cNvPr>
          <p:cNvSpPr>
            <a:spLocks xmlns:a="http://schemas.openxmlformats.org/drawingml/2006/main" noGrp="1"/>
          </p:cNvSpPr>
          <p:nvPr/>
        </p:nvSpPr>
        <p:spPr>
          <a:xfrm xmlns:a="http://schemas.openxmlformats.org/drawingml/2006/main">
            <a:off x="476250" y="4705350"/>
            <a:ext cx="80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350" b="0">
                <a:solidFill>
                  <a:srgbClr val="B78F50"/>
                </a:solidFill>
                <a:latin typeface="Georgia"/>
                <a:ea typeface="Georgia"/>
                <a:cs typeface="Georgia"/>
              </a:defRPr>
            </a:pPr>
            <a:r>
              <a:rPr sz="1350" b="0">
                <a:solidFill>
                  <a:srgbClr val="B78F50"/>
                </a:solidFill>
                <a:latin typeface="Georgia"/>
                <a:ea typeface="Georgia"/>
                <a:cs typeface="Georgia"/>
              </a:rPr>
              <a:t>2026</a:t>
            </a:r>
          </a:p>
        </p:txBody>
      </p:sp>
      <p:sp>
        <p:nvSpPr>
          <p:cNvPr id="23" name="">
            <a:extLst xmlns:a="http://schemas.openxmlformats.org/drawingml/2006/main">
              <a:ext uri="{FF2B5EF4-FFF2-40B4-BE49-F238E27FC236}">
                <a16:creationId xmlns:a16="http://schemas.microsoft.com/office/drawing/2014/main" id="{FE7EE03C-54E5-487C-8C08-DAEE7EFA86C6}"/>
              </a:ext>
            </a:extLst>
          </p:cNvPr>
          <p:cNvSpPr>
            <a:spLocks xmlns:a="http://schemas.openxmlformats.org/drawingml/2006/main" noGrp="1"/>
          </p:cNvSpPr>
          <p:nvPr/>
        </p:nvSpPr>
        <p:spPr>
          <a:xfrm xmlns:a="http://schemas.openxmlformats.org/drawingml/2006/main">
            <a:off x="323850" y="5400675"/>
            <a:ext cx="11049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50" b="1">
                <a:solidFill>
                  <a:srgbClr val="6F766F"/>
                </a:solidFill>
                <a:latin typeface="Aptos"/>
                <a:ea typeface="Aptos"/>
                <a:cs typeface="Aptos"/>
              </a:defRPr>
            </a:pPr>
            <a:r>
              <a:rPr sz="750" b="1">
                <a:solidFill>
                  <a:srgbClr val="6F766F"/>
                </a:solidFill>
                <a:latin typeface="Aptos"/>
                <a:ea typeface="Aptos"/>
                <a:cs typeface="Aptos"/>
              </a:rPr>
              <a:t>AGE 71</a:t>
            </a:r>
          </a:p>
          <a:p xmlns:a="http://schemas.openxmlformats.org/drawingml/2006/main">
            <a:pPr algn="ctr">
              <a:buNone/>
              <a:defRPr sz="750" b="1">
                <a:solidFill>
                  <a:srgbClr val="6F766F"/>
                </a:solidFill>
                <a:latin typeface="Aptos"/>
                <a:ea typeface="Aptos"/>
                <a:cs typeface="Aptos"/>
              </a:defRPr>
            </a:pPr>
            <a:r>
              <a:rPr sz="750" b="1">
                <a:solidFill>
                  <a:srgbClr val="6F766F"/>
                </a:solidFill>
                <a:latin typeface="Aptos"/>
                <a:ea typeface="Aptos"/>
                <a:cs typeface="Aptos"/>
              </a:rPr>
              <a:t>TODAY</a:t>
            </a:r>
          </a:p>
        </p:txBody>
      </p:sp>
      <p:sp>
        <p:nvSpPr>
          <p:cNvPr id="24" name="horizon-point-2">
            <a:extLst xmlns:a="http://schemas.openxmlformats.org/drawingml/2006/main">
              <a:ext uri="{FF2B5EF4-FFF2-40B4-BE49-F238E27FC236}">
                <a16:creationId xmlns:a16="http://schemas.microsoft.com/office/drawing/2014/main" id="{9907D76D-6221-4F24-BBB4-4B4E289D1644}"/>
              </a:ext>
            </a:extLst>
          </p:cNvPr>
          <p:cNvSpPr>
            <a:spLocks xmlns:a="http://schemas.openxmlformats.org/drawingml/2006/main" noGrp="1"/>
          </p:cNvSpPr>
          <p:nvPr/>
        </p:nvSpPr>
        <p:spPr>
          <a:xfrm xmlns:a="http://schemas.openxmlformats.org/drawingml/2006/main">
            <a:off x="7121692" y="5095875"/>
            <a:ext cx="190500" cy="190500"/>
          </a:xfrm>
          <a:prstGeom xmlns:a="http://schemas.openxmlformats.org/drawingml/2006/main" prst="ellipse">
            <a:avLst/>
          </a:prstGeom>
          <a:solidFill xmlns:a="http://schemas.openxmlformats.org/drawingml/2006/main">
            <a:srgbClr val="2D5C56"/>
          </a:solidFill>
          <a:ln xmlns:a="http://schemas.openxmlformats.org/drawingml/2006/main" w="0">
            <a:solidFill>
              <a:srgbClr val="2D5C56"/>
            </a:solidFill>
            <a:prstDash val="solid"/>
          </a:ln>
        </p:spPr>
      </p:sp>
      <p:sp>
        <p:nvSpPr>
          <p:cNvPr id="25" name="">
            <a:extLst xmlns:a="http://schemas.openxmlformats.org/drawingml/2006/main">
              <a:ext uri="{FF2B5EF4-FFF2-40B4-BE49-F238E27FC236}">
                <a16:creationId xmlns:a16="http://schemas.microsoft.com/office/drawing/2014/main" id="{AB2B2364-867B-47D6-875A-FCFDC981FC8C}"/>
              </a:ext>
            </a:extLst>
          </p:cNvPr>
          <p:cNvSpPr>
            <a:spLocks xmlns:a="http://schemas.openxmlformats.org/drawingml/2006/main" noGrp="1"/>
          </p:cNvSpPr>
          <p:nvPr/>
        </p:nvSpPr>
        <p:spPr>
          <a:xfrm xmlns:a="http://schemas.openxmlformats.org/drawingml/2006/main">
            <a:off x="6816892" y="4705350"/>
            <a:ext cx="80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350" b="0">
                <a:solidFill>
                  <a:srgbClr val="2D5C56"/>
                </a:solidFill>
                <a:latin typeface="Georgia"/>
                <a:ea typeface="Georgia"/>
                <a:cs typeface="Georgia"/>
              </a:defRPr>
            </a:pPr>
            <a:r>
              <a:rPr sz="1350" b="0">
                <a:solidFill>
                  <a:srgbClr val="2D5C56"/>
                </a:solidFill>
                <a:latin typeface="Georgia"/>
                <a:ea typeface="Georgia"/>
                <a:cs typeface="Georgia"/>
              </a:rPr>
              <a:t>2038</a:t>
            </a:r>
          </a:p>
        </p:txBody>
      </p:sp>
      <p:sp>
        <p:nvSpPr>
          <p:cNvPr id="26" name="">
            <a:extLst xmlns:a="http://schemas.openxmlformats.org/drawingml/2006/main">
              <a:ext uri="{FF2B5EF4-FFF2-40B4-BE49-F238E27FC236}">
                <a16:creationId xmlns:a16="http://schemas.microsoft.com/office/drawing/2014/main" id="{7FB135CE-3169-420D-AC5B-345D7EB3809F}"/>
              </a:ext>
            </a:extLst>
          </p:cNvPr>
          <p:cNvSpPr>
            <a:spLocks xmlns:a="http://schemas.openxmlformats.org/drawingml/2006/main" noGrp="1"/>
          </p:cNvSpPr>
          <p:nvPr/>
        </p:nvSpPr>
        <p:spPr>
          <a:xfrm xmlns:a="http://schemas.openxmlformats.org/drawingml/2006/main">
            <a:off x="6664492" y="5400675"/>
            <a:ext cx="11049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50" b="1">
                <a:solidFill>
                  <a:srgbClr val="6F766F"/>
                </a:solidFill>
                <a:latin typeface="Aptos"/>
                <a:ea typeface="Aptos"/>
                <a:cs typeface="Aptos"/>
              </a:defRPr>
            </a:pPr>
            <a:r>
              <a:rPr sz="750" b="1">
                <a:solidFill>
                  <a:srgbClr val="6F766F"/>
                </a:solidFill>
                <a:latin typeface="Aptos"/>
                <a:ea typeface="Aptos"/>
                <a:cs typeface="Aptos"/>
              </a:rPr>
              <a:t>12-YEAR HORIZON</a:t>
            </a:r>
          </a:p>
          <a:p xmlns:a="http://schemas.openxmlformats.org/drawingml/2006/main">
            <a:pPr algn="ctr">
              <a:buNone/>
              <a:defRPr sz="750" b="1">
                <a:solidFill>
                  <a:srgbClr val="6F766F"/>
                </a:solidFill>
                <a:latin typeface="Aptos"/>
                <a:ea typeface="Aptos"/>
                <a:cs typeface="Aptos"/>
              </a:defRPr>
            </a:pPr>
            <a:r>
              <a:rPr sz="750" b="1">
                <a:solidFill>
                  <a:srgbClr val="6F766F"/>
                </a:solidFill>
                <a:latin typeface="Aptos"/>
                <a:ea typeface="Aptos"/>
                <a:cs typeface="Aptos"/>
              </a:rPr>
              <a:t>ENDS</a:t>
            </a:r>
          </a:p>
        </p:txBody>
      </p:sp>
      <p:sp>
        <p:nvSpPr>
          <p:cNvPr id="27" name="horizon-point-3">
            <a:extLst xmlns:a="http://schemas.openxmlformats.org/drawingml/2006/main">
              <a:ext uri="{FF2B5EF4-FFF2-40B4-BE49-F238E27FC236}">
                <a16:creationId xmlns:a16="http://schemas.microsoft.com/office/drawing/2014/main" id="{3FB81610-64C5-4895-B36A-824F5FCB830E}"/>
              </a:ext>
            </a:extLst>
          </p:cNvPr>
          <p:cNvSpPr>
            <a:spLocks xmlns:a="http://schemas.openxmlformats.org/drawingml/2006/main" noGrp="1"/>
          </p:cNvSpPr>
          <p:nvPr/>
        </p:nvSpPr>
        <p:spPr>
          <a:xfrm xmlns:a="http://schemas.openxmlformats.org/drawingml/2006/main">
            <a:off x="10820400" y="5095875"/>
            <a:ext cx="190500" cy="190500"/>
          </a:xfrm>
          <a:prstGeom xmlns:a="http://schemas.openxmlformats.org/drawingml/2006/main" prst="ellipse">
            <a:avLst/>
          </a:prstGeom>
          <a:solidFill xmlns:a="http://schemas.openxmlformats.org/drawingml/2006/main">
            <a:srgbClr val="B85D43"/>
          </a:solidFill>
          <a:ln xmlns:a="http://schemas.openxmlformats.org/drawingml/2006/main" w="0">
            <a:solidFill>
              <a:srgbClr val="B85D43"/>
            </a:solidFill>
            <a:prstDash val="solid"/>
          </a:ln>
        </p:spPr>
      </p:sp>
      <p:sp>
        <p:nvSpPr>
          <p:cNvPr id="28" name="">
            <a:extLst xmlns:a="http://schemas.openxmlformats.org/drawingml/2006/main">
              <a:ext uri="{FF2B5EF4-FFF2-40B4-BE49-F238E27FC236}">
                <a16:creationId xmlns:a16="http://schemas.microsoft.com/office/drawing/2014/main" id="{0D79D832-5E32-4608-9215-8A3158AC5DA1}"/>
              </a:ext>
            </a:extLst>
          </p:cNvPr>
          <p:cNvSpPr>
            <a:spLocks xmlns:a="http://schemas.openxmlformats.org/drawingml/2006/main" noGrp="1"/>
          </p:cNvSpPr>
          <p:nvPr/>
        </p:nvSpPr>
        <p:spPr>
          <a:xfrm xmlns:a="http://schemas.openxmlformats.org/drawingml/2006/main">
            <a:off x="10515600" y="4705350"/>
            <a:ext cx="80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350" b="0">
                <a:solidFill>
                  <a:srgbClr val="B85D43"/>
                </a:solidFill>
                <a:latin typeface="Georgia"/>
                <a:ea typeface="Georgia"/>
                <a:cs typeface="Georgia"/>
              </a:defRPr>
            </a:pPr>
            <a:r>
              <a:rPr sz="1350" b="0">
                <a:solidFill>
                  <a:srgbClr val="B85D43"/>
                </a:solidFill>
                <a:latin typeface="Georgia"/>
                <a:ea typeface="Georgia"/>
                <a:cs typeface="Georgia"/>
              </a:rPr>
              <a:t>2045</a:t>
            </a:r>
          </a:p>
        </p:txBody>
      </p:sp>
      <p:sp>
        <p:nvSpPr>
          <p:cNvPr id="29" name="">
            <a:extLst xmlns:a="http://schemas.openxmlformats.org/drawingml/2006/main">
              <a:ext uri="{FF2B5EF4-FFF2-40B4-BE49-F238E27FC236}">
                <a16:creationId xmlns:a16="http://schemas.microsoft.com/office/drawing/2014/main" id="{20B9CE5F-11AE-4443-ADEE-590913B6D380}"/>
              </a:ext>
            </a:extLst>
          </p:cNvPr>
          <p:cNvSpPr>
            <a:spLocks xmlns:a="http://schemas.openxmlformats.org/drawingml/2006/main" noGrp="1"/>
          </p:cNvSpPr>
          <p:nvPr/>
        </p:nvSpPr>
        <p:spPr>
          <a:xfrm xmlns:a="http://schemas.openxmlformats.org/drawingml/2006/main">
            <a:off x="10363200" y="5400675"/>
            <a:ext cx="11049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50" b="1">
                <a:solidFill>
                  <a:srgbClr val="6F766F"/>
                </a:solidFill>
                <a:latin typeface="Aptos"/>
                <a:ea typeface="Aptos"/>
                <a:cs typeface="Aptos"/>
              </a:defRPr>
            </a:pPr>
            <a:r>
              <a:rPr sz="750" b="1">
                <a:solidFill>
                  <a:srgbClr val="6F766F"/>
                </a:solidFill>
                <a:latin typeface="Aptos"/>
                <a:ea typeface="Aptos"/>
                <a:cs typeface="Aptos"/>
              </a:rPr>
              <a:t>LARGEST BOND</a:t>
            </a:r>
          </a:p>
          <a:p xmlns:a="http://schemas.openxmlformats.org/drawingml/2006/main">
            <a:pPr algn="ctr">
              <a:buNone/>
              <a:defRPr sz="750" b="1">
                <a:solidFill>
                  <a:srgbClr val="6F766F"/>
                </a:solidFill>
                <a:latin typeface="Aptos"/>
                <a:ea typeface="Aptos"/>
                <a:cs typeface="Aptos"/>
              </a:defRPr>
            </a:pPr>
            <a:r>
              <a:rPr sz="750" b="1">
                <a:solidFill>
                  <a:srgbClr val="6F766F"/>
                </a:solidFill>
                <a:latin typeface="Aptos"/>
                <a:ea typeface="Aptos"/>
                <a:cs typeface="Aptos"/>
              </a:rPr>
              <a:t>MATURES</a:t>
            </a:r>
          </a:p>
        </p:txBody>
      </p:sp>
      <p:sp>
        <p:nvSpPr>
          <p:cNvPr id="30" name="">
            <a:extLst xmlns:a="http://schemas.openxmlformats.org/drawingml/2006/main">
              <a:ext uri="{FF2B5EF4-FFF2-40B4-BE49-F238E27FC236}">
                <a16:creationId xmlns:a16="http://schemas.microsoft.com/office/drawing/2014/main" id="{054F3A05-1992-4FC8-ABC1-F89EB7D13C03}"/>
              </a:ext>
            </a:extLst>
          </p:cNvPr>
          <p:cNvSpPr>
            <a:spLocks xmlns:a="http://schemas.openxmlformats.org/drawingml/2006/main" noGrp="1"/>
          </p:cNvSpPr>
          <p:nvPr/>
        </p:nvSpPr>
        <p:spPr>
          <a:xfrm xmlns:a="http://schemas.openxmlformats.org/drawingml/2006/main">
            <a:off x="609600" y="5829300"/>
            <a:ext cx="1619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0">
                <a:solidFill>
                  <a:srgbClr val="17201E"/>
                </a:solidFill>
                <a:latin typeface="Georgia"/>
                <a:ea typeface="Georgia"/>
                <a:cs typeface="Georgia"/>
              </a:defRPr>
            </a:pPr>
            <a:r>
              <a:rPr sz="1875" b="0">
                <a:solidFill>
                  <a:srgbClr val="17201E"/>
                </a:solidFill>
                <a:latin typeface="Georgia"/>
                <a:ea typeface="Georgia"/>
                <a:cs typeface="Georgia"/>
              </a:rPr>
              <a:t>66.6%</a:t>
            </a:r>
          </a:p>
        </p:txBody>
      </p:sp>
      <p:sp>
        <p:nvSpPr>
          <p:cNvPr id="31" name="">
            <a:extLst xmlns:a="http://schemas.openxmlformats.org/drawingml/2006/main">
              <a:ext uri="{FF2B5EF4-FFF2-40B4-BE49-F238E27FC236}">
                <a16:creationId xmlns:a16="http://schemas.microsoft.com/office/drawing/2014/main" id="{EACD7A52-6BAA-4F92-BDCA-7137BA9939E4}"/>
              </a:ext>
            </a:extLst>
          </p:cNvPr>
          <p:cNvSpPr>
            <a:spLocks xmlns:a="http://schemas.openxmlformats.org/drawingml/2006/main" noGrp="1"/>
          </p:cNvSpPr>
          <p:nvPr/>
        </p:nvSpPr>
        <p:spPr>
          <a:xfrm xmlns:a="http://schemas.openxmlformats.org/drawingml/2006/main">
            <a:off x="609600" y="6267450"/>
            <a:ext cx="1619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FIXED INCOME</a:t>
            </a:r>
          </a:p>
        </p:txBody>
      </p:sp>
      <p:sp>
        <p:nvSpPr>
          <p:cNvPr id="32" name="">
            <a:extLst xmlns:a="http://schemas.openxmlformats.org/drawingml/2006/main">
              <a:ext uri="{FF2B5EF4-FFF2-40B4-BE49-F238E27FC236}">
                <a16:creationId xmlns:a16="http://schemas.microsoft.com/office/drawing/2014/main" id="{C6657E1C-BAEB-4F03-9511-9E7AF9190FE5}"/>
              </a:ext>
            </a:extLst>
          </p:cNvPr>
          <p:cNvSpPr>
            <a:spLocks xmlns:a="http://schemas.openxmlformats.org/drawingml/2006/main" noGrp="1"/>
          </p:cNvSpPr>
          <p:nvPr/>
        </p:nvSpPr>
        <p:spPr>
          <a:xfrm xmlns:a="http://schemas.openxmlformats.org/drawingml/2006/main">
            <a:off x="2552700" y="5829300"/>
            <a:ext cx="2000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0">
                <a:solidFill>
                  <a:srgbClr val="17201E"/>
                </a:solidFill>
                <a:latin typeface="Georgia"/>
                <a:ea typeface="Georgia"/>
                <a:cs typeface="Georgia"/>
              </a:defRPr>
            </a:pPr>
            <a:r>
              <a:rPr sz="1875" b="0">
                <a:solidFill>
                  <a:srgbClr val="17201E"/>
                </a:solidFill>
                <a:latin typeface="Georgia"/>
                <a:ea typeface="Georgia"/>
                <a:cs typeface="Georgia"/>
              </a:rPr>
              <a:t>20.8%</a:t>
            </a:r>
          </a:p>
        </p:txBody>
      </p:sp>
      <p:sp>
        <p:nvSpPr>
          <p:cNvPr id="33" name="">
            <a:extLst xmlns:a="http://schemas.openxmlformats.org/drawingml/2006/main">
              <a:ext uri="{FF2B5EF4-FFF2-40B4-BE49-F238E27FC236}">
                <a16:creationId xmlns:a16="http://schemas.microsoft.com/office/drawing/2014/main" id="{17450AC4-D421-4E8A-8B2E-12847ADE150C}"/>
              </a:ext>
            </a:extLst>
          </p:cNvPr>
          <p:cNvSpPr>
            <a:spLocks xmlns:a="http://schemas.openxmlformats.org/drawingml/2006/main" noGrp="1"/>
          </p:cNvSpPr>
          <p:nvPr/>
        </p:nvSpPr>
        <p:spPr>
          <a:xfrm xmlns:a="http://schemas.openxmlformats.org/drawingml/2006/main">
            <a:off x="2552700" y="6267450"/>
            <a:ext cx="2000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ONE TREASURY DUE 2045</a:t>
            </a:r>
          </a:p>
        </p:txBody>
      </p:sp>
      <p:sp>
        <p:nvSpPr>
          <p:cNvPr id="34" name="">
            <a:extLst xmlns:a="http://schemas.openxmlformats.org/drawingml/2006/main">
              <a:ext uri="{FF2B5EF4-FFF2-40B4-BE49-F238E27FC236}">
                <a16:creationId xmlns:a16="http://schemas.microsoft.com/office/drawing/2014/main" id="{0880AC55-D631-4516-AA73-49E8532A62AD}"/>
              </a:ext>
            </a:extLst>
          </p:cNvPr>
          <p:cNvSpPr>
            <a:spLocks xmlns:a="http://schemas.openxmlformats.org/drawingml/2006/main" noGrp="1"/>
          </p:cNvSpPr>
          <p:nvPr/>
        </p:nvSpPr>
        <p:spPr>
          <a:xfrm xmlns:a="http://schemas.openxmlformats.org/drawingml/2006/main">
            <a:off x="4838700" y="5829300"/>
            <a:ext cx="2381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0">
                <a:solidFill>
                  <a:srgbClr val="17201E"/>
                </a:solidFill>
                <a:latin typeface="Georgia"/>
                <a:ea typeface="Georgia"/>
                <a:cs typeface="Georgia"/>
              </a:defRPr>
            </a:pPr>
            <a:r>
              <a:rPr sz="1875" b="0">
                <a:solidFill>
                  <a:srgbClr val="17201E"/>
                </a:solidFill>
                <a:latin typeface="Georgia"/>
                <a:ea typeface="Georgia"/>
                <a:cs typeface="Georgia"/>
              </a:rPr>
              <a:t>1.5 yrs</a:t>
            </a:r>
          </a:p>
        </p:txBody>
      </p:sp>
      <p:sp>
        <p:nvSpPr>
          <p:cNvPr id="35" name="">
            <a:extLst xmlns:a="http://schemas.openxmlformats.org/drawingml/2006/main">
              <a:ext uri="{FF2B5EF4-FFF2-40B4-BE49-F238E27FC236}">
                <a16:creationId xmlns:a16="http://schemas.microsoft.com/office/drawing/2014/main" id="{F5A9B43E-0886-4989-917E-760EDA919438}"/>
              </a:ext>
            </a:extLst>
          </p:cNvPr>
          <p:cNvSpPr>
            <a:spLocks xmlns:a="http://schemas.openxmlformats.org/drawingml/2006/main" noGrp="1"/>
          </p:cNvSpPr>
          <p:nvPr/>
        </p:nvSpPr>
        <p:spPr>
          <a:xfrm xmlns:a="http://schemas.openxmlformats.org/drawingml/2006/main">
            <a:off x="4838700" y="62674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CASH-ONLY RUNWAY AT USD 1.28M</a:t>
            </a:r>
          </a:p>
        </p:txBody>
      </p:sp>
      <p:sp>
        <p:nvSpPr>
          <p:cNvPr id="36" name="">
            <a:extLst xmlns:a="http://schemas.openxmlformats.org/drawingml/2006/main">
              <a:ext uri="{FF2B5EF4-FFF2-40B4-BE49-F238E27FC236}">
                <a16:creationId xmlns:a16="http://schemas.microsoft.com/office/drawing/2014/main" id="{5CE5C966-EE72-4460-A89E-AD0A726F61C5}"/>
              </a:ext>
            </a:extLst>
          </p:cNvPr>
          <p:cNvSpPr>
            <a:spLocks xmlns:a="http://schemas.openxmlformats.org/drawingml/2006/main" noGrp="1"/>
          </p:cNvSpPr>
          <p:nvPr/>
        </p:nvSpPr>
        <p:spPr>
          <a:xfrm xmlns:a="http://schemas.openxmlformats.org/drawingml/2006/main">
            <a:off x="7791450" y="5905500"/>
            <a:ext cx="3676650" cy="2762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825" b="0">
                <a:solidFill>
                  <a:srgbClr val="6F766F"/>
                </a:solidFill>
                <a:latin typeface="Aptos"/>
                <a:ea typeface="Aptos"/>
                <a:cs typeface="Aptos"/>
              </a:defRPr>
            </a:pPr>
            <a:r>
              <a:rPr sz="825" b="0">
                <a:solidFill>
                  <a:srgbClr val="6F766F"/>
                </a:solidFill>
                <a:latin typeface="Aptos"/>
                <a:ea typeface="Aptos"/>
                <a:cs typeface="Aptos"/>
              </a:rPr>
              <a:t>Value paths include flows; do not call the decline ‘performance’ without attribution.</a:t>
            </a:r>
          </a:p>
        </p:txBody>
      </p:sp>
      <p:sp>
        <p:nvSpPr>
          <p:cNvPr id="37" name="footer-rule-8">
            <a:extLst xmlns:a="http://schemas.openxmlformats.org/drawingml/2006/main">
              <a:ext uri="{FF2B5EF4-FFF2-40B4-BE49-F238E27FC236}">
                <a16:creationId xmlns:a16="http://schemas.microsoft.com/office/drawing/2014/main" id="{9ADBF185-395B-4BE3-89E9-933D547E3A4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7CDA6070-975D-4ABB-BD03-CF7C58404FB1}"/>
              </a:ext>
            </a:extLst>
          </p:cNvPr>
          <p:cNvSpPr>
            <a:spLocks xmlns:a="http://schemas.openxmlformats.org/drawingml/2006/main" noGrp="1"/>
          </p:cNvSpPr>
          <p:nvPr/>
        </p:nvSpPr>
        <p:spPr>
          <a:xfrm xmlns:a="http://schemas.openxmlformats.org/drawingml/2006/main">
            <a:off x="609600" y="6543675"/>
            <a:ext cx="942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0">
                <a:solidFill>
                  <a:srgbClr val="6F766F"/>
                </a:solidFill>
                <a:latin typeface="Aptos"/>
                <a:ea typeface="Aptos"/>
                <a:cs typeface="Aptos"/>
              </a:defRPr>
            </a:pPr>
            <a:r>
              <a:rPr sz="675" b="0">
                <a:solidFill>
                  <a:srgbClr val="6F766F"/>
                </a:solidFill>
                <a:latin typeface="Aptos"/>
                <a:ea typeface="Aptos"/>
                <a:cs typeface="Aptos"/>
              </a:rPr>
              <a:t>Source: holdings.csv 2026-08-26 · planned_cash_needs.csv CN-012 · rm_notes.json N-016 · synthetic data</a:t>
            </a:r>
          </a:p>
        </p:txBody>
      </p:sp>
      <p:sp>
        <p:nvSpPr>
          <p:cNvPr id="39" name="">
            <a:extLst xmlns:a="http://schemas.openxmlformats.org/drawingml/2006/main">
              <a:ext uri="{FF2B5EF4-FFF2-40B4-BE49-F238E27FC236}">
                <a16:creationId xmlns:a16="http://schemas.microsoft.com/office/drawing/2014/main" id="{66935512-74FE-4E83-A3B1-3C707825CFB5}"/>
              </a:ext>
            </a:extLst>
          </p:cNvPr>
          <p:cNvSpPr>
            <a:spLocks xmlns:a="http://schemas.openxmlformats.org/drawingml/2006/main" noGrp="1"/>
          </p:cNvSpPr>
          <p:nvPr/>
        </p:nvSpPr>
        <p:spPr>
          <a:xfrm xmlns:a="http://schemas.openxmlformats.org/drawingml/2006/main">
            <a:off x="10991850" y="65341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2D5C56"/>
                </a:solidFill>
                <a:latin typeface="Aptos Mono"/>
                <a:ea typeface="Aptos Mono"/>
                <a:cs typeface="Aptos Mono"/>
              </a:defRPr>
            </a:pPr>
            <a:r>
              <a:rPr sz="750" b="1">
                <a:solidFill>
                  <a:srgbClr val="2D5C56"/>
                </a:solidFill>
                <a:latin typeface="Aptos Mono"/>
                <a:ea typeface="Aptos Mono"/>
                <a:cs typeface="Aptos Mono"/>
              </a:rPr>
              <a:t>A2</a:t>
            </a:r>
          </a:p>
        </p:txBody>
      </p:sp>
    </p:spTree>
    <p:extLst>
      <p:ext uri="{BB962C8B-B14F-4D97-AF65-F5344CB8AC3E}">
        <p14:creationId xmlns:p14="http://schemas.microsoft.com/office/powerpoint/2010/main" val="65661355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3CA4917C-C15D-4E5C-9810-1BFA278419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01E"/>
          </a:solidFill>
          <a:ln xmlns:a="http://schemas.openxmlformats.org/drawingml/2006/main" w="0">
            <a:solidFill>
              <a:srgbClr val="000000">
                <a:alpha val="0"/>
              </a:srgbClr>
            </a:solidFill>
            <a:prstDash val="solid"/>
          </a:ln>
        </p:spPr>
      </p:sp>
      <p:sp>
        <p:nvSpPr>
          <p:cNvPr id="2" name="kicker-09-marker">
            <a:extLst xmlns:a="http://schemas.openxmlformats.org/drawingml/2006/main">
              <a:ext uri="{FF2B5EF4-FFF2-40B4-BE49-F238E27FC236}">
                <a16:creationId xmlns:a16="http://schemas.microsoft.com/office/drawing/2014/main" id="{D222C706-5104-4F0B-B0AD-2D13F5027AD8}"/>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kicker-09-label">
            <a:extLst xmlns:a="http://schemas.openxmlformats.org/drawingml/2006/main">
              <a:ext uri="{FF2B5EF4-FFF2-40B4-BE49-F238E27FC236}">
                <a16:creationId xmlns:a16="http://schemas.microsoft.com/office/drawing/2014/main" id="{F06090EE-79BA-4C90-A159-9A99EC568972}"/>
              </a:ext>
            </a:extLst>
          </p:cNvPr>
          <p:cNvSpPr>
            <a:spLocks xmlns:a="http://schemas.openxmlformats.org/drawingml/2006/main" noGrp="1"/>
          </p:cNvSpPr>
          <p:nvPr/>
        </p:nvSpPr>
        <p:spPr>
          <a:xfrm xmlns:a="http://schemas.openxmlformats.org/drawingml/2006/main">
            <a:off x="781050" y="371475"/>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E7D6B5"/>
                </a:solidFill>
                <a:latin typeface="Aptos"/>
                <a:ea typeface="Aptos"/>
                <a:cs typeface="Aptos"/>
              </a:defRPr>
            </a:pPr>
            <a:r>
              <a:rPr sz="825" b="1">
                <a:solidFill>
                  <a:srgbClr val="E7D6B5"/>
                </a:solidFill>
                <a:latin typeface="Aptos"/>
                <a:ea typeface="Aptos"/>
                <a:cs typeface="Aptos"/>
              </a:rPr>
              <a:t>GOVERNANCE BY CONSTRUCTION</a:t>
            </a:r>
          </a:p>
        </p:txBody>
      </p:sp>
      <p:sp>
        <p:nvSpPr>
          <p:cNvPr id="4" name="">
            <a:extLst xmlns:a="http://schemas.openxmlformats.org/drawingml/2006/main">
              <a:ext uri="{FF2B5EF4-FFF2-40B4-BE49-F238E27FC236}">
                <a16:creationId xmlns:a16="http://schemas.microsoft.com/office/drawing/2014/main" id="{FE50F646-3A55-4306-8A1E-E36E5B17738F}"/>
              </a:ext>
            </a:extLst>
          </p:cNvPr>
          <p:cNvSpPr>
            <a:spLocks xmlns:a="http://schemas.openxmlformats.org/drawingml/2006/main" noGrp="1"/>
          </p:cNvSpPr>
          <p:nvPr/>
        </p:nvSpPr>
        <p:spPr>
          <a:xfrm xmlns:a="http://schemas.openxmlformats.org/drawingml/2006/main">
            <a:off x="609600" y="685800"/>
            <a:ext cx="10287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150" b="0">
                <a:solidFill>
                  <a:srgbClr val="FFFFFF"/>
                </a:solidFill>
                <a:latin typeface="Georgia"/>
                <a:ea typeface="Georgia"/>
                <a:cs typeface="Georgia"/>
              </a:defRPr>
            </a:pPr>
            <a:r>
              <a:rPr sz="3150" b="0">
                <a:solidFill>
                  <a:srgbClr val="FFFFFF"/>
                </a:solidFill>
                <a:latin typeface="Georgia"/>
                <a:ea typeface="Georgia"/>
                <a:cs typeface="Georgia"/>
              </a:rPr>
              <a:t>The model may write the sentence. It cannot choose its own facts.</a:t>
            </a:r>
          </a:p>
        </p:txBody>
      </p:sp>
      <p:sp>
        <p:nvSpPr>
          <p:cNvPr id="5" name="">
            <a:extLst xmlns:a="http://schemas.openxmlformats.org/drawingml/2006/main">
              <a:ext uri="{FF2B5EF4-FFF2-40B4-BE49-F238E27FC236}">
                <a16:creationId xmlns:a16="http://schemas.microsoft.com/office/drawing/2014/main" id="{5700D74E-2167-4C46-B5AA-F89B50EF0DCF}"/>
              </a:ext>
            </a:extLst>
          </p:cNvPr>
          <p:cNvSpPr>
            <a:spLocks xmlns:a="http://schemas.openxmlformats.org/drawingml/2006/main" noGrp="1"/>
          </p:cNvSpPr>
          <p:nvPr/>
        </p:nvSpPr>
        <p:spPr>
          <a:xfrm xmlns:a="http://schemas.openxmlformats.org/drawingml/2006/main">
            <a:off x="609600" y="1704975"/>
            <a:ext cx="9906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B8C3BF"/>
                </a:solidFill>
                <a:latin typeface="Aptos"/>
                <a:ea typeface="Aptos"/>
                <a:cs typeface="Aptos"/>
              </a:defRPr>
            </a:pPr>
            <a:r>
              <a:rPr sz="1200" b="0">
                <a:solidFill>
                  <a:srgbClr val="B8C3BF"/>
                </a:solidFill>
                <a:latin typeface="Aptos"/>
                <a:ea typeface="Aptos"/>
                <a:cs typeface="Aptos"/>
              </a:rPr>
              <a:t>Purpose-limited evidence, policy-before-language and a human decision ledger make trust part of the architecture.</a:t>
            </a:r>
          </a:p>
        </p:txBody>
      </p:sp>
      <p:sp>
        <p:nvSpPr>
          <p:cNvPr id="6" name="node-1">
            <a:extLst xmlns:a="http://schemas.openxmlformats.org/drawingml/2006/main">
              <a:ext uri="{FF2B5EF4-FFF2-40B4-BE49-F238E27FC236}">
                <a16:creationId xmlns:a16="http://schemas.microsoft.com/office/drawing/2014/main" id="{D5384A20-4947-46A7-BC0D-AAC4594850FB}"/>
              </a:ext>
            </a:extLst>
          </p:cNvPr>
          <p:cNvSpPr>
            <a:spLocks xmlns:a="http://schemas.openxmlformats.org/drawingml/2006/main" noGrp="1"/>
          </p:cNvSpPr>
          <p:nvPr/>
        </p:nvSpPr>
        <p:spPr>
          <a:xfrm xmlns:a="http://schemas.openxmlformats.org/drawingml/2006/main">
            <a:off x="609600" y="2238375"/>
            <a:ext cx="1724025" cy="135255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7" name="">
            <a:extLst xmlns:a="http://schemas.openxmlformats.org/drawingml/2006/main">
              <a:ext uri="{FF2B5EF4-FFF2-40B4-BE49-F238E27FC236}">
                <a16:creationId xmlns:a16="http://schemas.microsoft.com/office/drawing/2014/main" id="{EA9132EF-61F3-434C-8D56-615F18AD4145}"/>
              </a:ext>
            </a:extLst>
          </p:cNvPr>
          <p:cNvSpPr>
            <a:spLocks xmlns:a="http://schemas.openxmlformats.org/drawingml/2006/main" noGrp="1"/>
          </p:cNvSpPr>
          <p:nvPr/>
        </p:nvSpPr>
        <p:spPr>
          <a:xfrm xmlns:a="http://schemas.openxmlformats.org/drawingml/2006/main">
            <a:off x="762000" y="236220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01</a:t>
            </a:r>
          </a:p>
        </p:txBody>
      </p:sp>
      <p:sp>
        <p:nvSpPr>
          <p:cNvPr id="8" name="">
            <a:extLst xmlns:a="http://schemas.openxmlformats.org/drawingml/2006/main">
              <a:ext uri="{FF2B5EF4-FFF2-40B4-BE49-F238E27FC236}">
                <a16:creationId xmlns:a16="http://schemas.microsoft.com/office/drawing/2014/main" id="{ED58D955-B173-4CD2-9534-711F93FE1CD1}"/>
              </a:ext>
            </a:extLst>
          </p:cNvPr>
          <p:cNvSpPr>
            <a:spLocks xmlns:a="http://schemas.openxmlformats.org/drawingml/2006/main" noGrp="1"/>
          </p:cNvSpPr>
          <p:nvPr/>
        </p:nvSpPr>
        <p:spPr>
          <a:xfrm xmlns:a="http://schemas.openxmlformats.org/drawingml/2006/main">
            <a:off x="762000" y="2619375"/>
            <a:ext cx="1419225"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Bank records</a:t>
            </a:r>
          </a:p>
        </p:txBody>
      </p:sp>
      <p:sp>
        <p:nvSpPr>
          <p:cNvPr id="9" name="">
            <a:extLst xmlns:a="http://schemas.openxmlformats.org/drawingml/2006/main">
              <a:ext uri="{FF2B5EF4-FFF2-40B4-BE49-F238E27FC236}">
                <a16:creationId xmlns:a16="http://schemas.microsoft.com/office/drawing/2014/main" id="{CB2158D5-6104-4E3B-8E91-2E3E91DD3279}"/>
              </a:ext>
            </a:extLst>
          </p:cNvPr>
          <p:cNvSpPr>
            <a:spLocks xmlns:a="http://schemas.openxmlformats.org/drawingml/2006/main" noGrp="1"/>
          </p:cNvSpPr>
          <p:nvPr/>
        </p:nvSpPr>
        <p:spPr>
          <a:xfrm xmlns:a="http://schemas.openxmlformats.org/drawingml/2006/main">
            <a:off x="762000" y="3171825"/>
            <a:ext cx="141922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5 snapshots + notes</a:t>
            </a:r>
          </a:p>
        </p:txBody>
      </p:sp>
      <p:sp>
        <p:nvSpPr>
          <p:cNvPr id="10" name="architecture-link-1">
            <a:extLst xmlns:a="http://schemas.openxmlformats.org/drawingml/2006/main">
              <a:ext uri="{FF2B5EF4-FFF2-40B4-BE49-F238E27FC236}">
                <a16:creationId xmlns:a16="http://schemas.microsoft.com/office/drawing/2014/main" id="{C1EFABEF-38D5-41AD-8140-10E22B7218D1}"/>
              </a:ext>
            </a:extLst>
          </p:cNvPr>
          <p:cNvSpPr>
            <a:spLocks xmlns:a="http://schemas.openxmlformats.org/drawingml/2006/main" noGrp="1"/>
          </p:cNvSpPr>
          <p:nvPr/>
        </p:nvSpPr>
        <p:spPr>
          <a:xfrm xmlns:a="http://schemas.openxmlformats.org/drawingml/2006/main">
            <a:off x="2333625" y="2905125"/>
            <a:ext cx="123825" cy="190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11" name="node-2">
            <a:extLst xmlns:a="http://schemas.openxmlformats.org/drawingml/2006/main">
              <a:ext uri="{FF2B5EF4-FFF2-40B4-BE49-F238E27FC236}">
                <a16:creationId xmlns:a16="http://schemas.microsoft.com/office/drawing/2014/main" id="{E6187A99-F00E-45B2-A5C1-5DE7AC5CEF4B}"/>
              </a:ext>
            </a:extLst>
          </p:cNvPr>
          <p:cNvSpPr>
            <a:spLocks xmlns:a="http://schemas.openxmlformats.org/drawingml/2006/main" noGrp="1"/>
          </p:cNvSpPr>
          <p:nvPr/>
        </p:nvSpPr>
        <p:spPr>
          <a:xfrm xmlns:a="http://schemas.openxmlformats.org/drawingml/2006/main">
            <a:off x="2457450" y="2238375"/>
            <a:ext cx="1724025" cy="135255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12" name="">
            <a:extLst xmlns:a="http://schemas.openxmlformats.org/drawingml/2006/main">
              <a:ext uri="{FF2B5EF4-FFF2-40B4-BE49-F238E27FC236}">
                <a16:creationId xmlns:a16="http://schemas.microsoft.com/office/drawing/2014/main" id="{C244EB76-7C6A-4328-BFFB-E21884553D28}"/>
              </a:ext>
            </a:extLst>
          </p:cNvPr>
          <p:cNvSpPr>
            <a:spLocks xmlns:a="http://schemas.openxmlformats.org/drawingml/2006/main" noGrp="1"/>
          </p:cNvSpPr>
          <p:nvPr/>
        </p:nvSpPr>
        <p:spPr>
          <a:xfrm xmlns:a="http://schemas.openxmlformats.org/drawingml/2006/main">
            <a:off x="2609850" y="236220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02</a:t>
            </a:r>
          </a:p>
        </p:txBody>
      </p:sp>
      <p:sp>
        <p:nvSpPr>
          <p:cNvPr id="13" name="">
            <a:extLst xmlns:a="http://schemas.openxmlformats.org/drawingml/2006/main">
              <a:ext uri="{FF2B5EF4-FFF2-40B4-BE49-F238E27FC236}">
                <a16:creationId xmlns:a16="http://schemas.microsoft.com/office/drawing/2014/main" id="{715CB610-BFF9-44EF-8ED5-F29AE68C5735}"/>
              </a:ext>
            </a:extLst>
          </p:cNvPr>
          <p:cNvSpPr>
            <a:spLocks xmlns:a="http://schemas.openxmlformats.org/drawingml/2006/main" noGrp="1"/>
          </p:cNvSpPr>
          <p:nvPr/>
        </p:nvSpPr>
        <p:spPr>
          <a:xfrm xmlns:a="http://schemas.openxmlformats.org/drawingml/2006/main">
            <a:off x="2609850" y="2619375"/>
            <a:ext cx="1419225"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Temporal joins</a:t>
            </a:r>
          </a:p>
        </p:txBody>
      </p:sp>
      <p:sp>
        <p:nvSpPr>
          <p:cNvPr id="14" name="">
            <a:extLst xmlns:a="http://schemas.openxmlformats.org/drawingml/2006/main">
              <a:ext uri="{FF2B5EF4-FFF2-40B4-BE49-F238E27FC236}">
                <a16:creationId xmlns:a16="http://schemas.microsoft.com/office/drawing/2014/main" id="{6B0A59E8-8829-4F92-BFFB-137FBEE79065}"/>
              </a:ext>
            </a:extLst>
          </p:cNvPr>
          <p:cNvSpPr>
            <a:spLocks xmlns:a="http://schemas.openxmlformats.org/drawingml/2006/main" noGrp="1"/>
          </p:cNvSpPr>
          <p:nvPr/>
        </p:nvSpPr>
        <p:spPr>
          <a:xfrm xmlns:a="http://schemas.openxmlformats.org/drawingml/2006/main">
            <a:off x="2609850" y="3171825"/>
            <a:ext cx="141922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as-of safe + lag flags</a:t>
            </a:r>
          </a:p>
        </p:txBody>
      </p:sp>
      <p:sp>
        <p:nvSpPr>
          <p:cNvPr id="15" name="architecture-link-2">
            <a:extLst xmlns:a="http://schemas.openxmlformats.org/drawingml/2006/main">
              <a:ext uri="{FF2B5EF4-FFF2-40B4-BE49-F238E27FC236}">
                <a16:creationId xmlns:a16="http://schemas.microsoft.com/office/drawing/2014/main" id="{7CAA28F1-A9E6-42CD-8DBE-02DA92A52C8D}"/>
              </a:ext>
            </a:extLst>
          </p:cNvPr>
          <p:cNvSpPr>
            <a:spLocks xmlns:a="http://schemas.openxmlformats.org/drawingml/2006/main" noGrp="1"/>
          </p:cNvSpPr>
          <p:nvPr/>
        </p:nvSpPr>
        <p:spPr>
          <a:xfrm xmlns:a="http://schemas.openxmlformats.org/drawingml/2006/main">
            <a:off x="4181475" y="2905125"/>
            <a:ext cx="123825" cy="190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16" name="node-3">
            <a:extLst xmlns:a="http://schemas.openxmlformats.org/drawingml/2006/main">
              <a:ext uri="{FF2B5EF4-FFF2-40B4-BE49-F238E27FC236}">
                <a16:creationId xmlns:a16="http://schemas.microsoft.com/office/drawing/2014/main" id="{1F175B6F-D3E0-425B-AD81-A39F35323A75}"/>
              </a:ext>
            </a:extLst>
          </p:cNvPr>
          <p:cNvSpPr>
            <a:spLocks xmlns:a="http://schemas.openxmlformats.org/drawingml/2006/main" noGrp="1"/>
          </p:cNvSpPr>
          <p:nvPr/>
        </p:nvSpPr>
        <p:spPr>
          <a:xfrm xmlns:a="http://schemas.openxmlformats.org/drawingml/2006/main">
            <a:off x="4305300" y="2238375"/>
            <a:ext cx="1724025" cy="135255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17" name="">
            <a:extLst xmlns:a="http://schemas.openxmlformats.org/drawingml/2006/main">
              <a:ext uri="{FF2B5EF4-FFF2-40B4-BE49-F238E27FC236}">
                <a16:creationId xmlns:a16="http://schemas.microsoft.com/office/drawing/2014/main" id="{A77C6338-1C56-4098-BA56-AB0D959ABE8F}"/>
              </a:ext>
            </a:extLst>
          </p:cNvPr>
          <p:cNvSpPr>
            <a:spLocks xmlns:a="http://schemas.openxmlformats.org/drawingml/2006/main" noGrp="1"/>
          </p:cNvSpPr>
          <p:nvPr/>
        </p:nvSpPr>
        <p:spPr>
          <a:xfrm xmlns:a="http://schemas.openxmlformats.org/drawingml/2006/main">
            <a:off x="4457700" y="236220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03</a:t>
            </a:r>
          </a:p>
        </p:txBody>
      </p:sp>
      <p:sp>
        <p:nvSpPr>
          <p:cNvPr id="18" name="">
            <a:extLst xmlns:a="http://schemas.openxmlformats.org/drawingml/2006/main">
              <a:ext uri="{FF2B5EF4-FFF2-40B4-BE49-F238E27FC236}">
                <a16:creationId xmlns:a16="http://schemas.microsoft.com/office/drawing/2014/main" id="{AB3B6E19-2D0A-4687-9884-1B04FFFAD28E}"/>
              </a:ext>
            </a:extLst>
          </p:cNvPr>
          <p:cNvSpPr>
            <a:spLocks xmlns:a="http://schemas.openxmlformats.org/drawingml/2006/main" noGrp="1"/>
          </p:cNvSpPr>
          <p:nvPr/>
        </p:nvSpPr>
        <p:spPr>
          <a:xfrm xmlns:a="http://schemas.openxmlformats.org/drawingml/2006/main">
            <a:off x="4457700" y="2619375"/>
            <a:ext cx="1419225"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Policy compiler</a:t>
            </a:r>
          </a:p>
        </p:txBody>
      </p:sp>
      <p:sp>
        <p:nvSpPr>
          <p:cNvPr id="19" name="">
            <a:extLst xmlns:a="http://schemas.openxmlformats.org/drawingml/2006/main">
              <a:ext uri="{FF2B5EF4-FFF2-40B4-BE49-F238E27FC236}">
                <a16:creationId xmlns:a16="http://schemas.microsoft.com/office/drawing/2014/main" id="{3191221A-BEA4-48C6-8566-BDFAF6EE5070}"/>
              </a:ext>
            </a:extLst>
          </p:cNvPr>
          <p:cNvSpPr>
            <a:spLocks xmlns:a="http://schemas.openxmlformats.org/drawingml/2006/main" noGrp="1"/>
          </p:cNvSpPr>
          <p:nvPr/>
        </p:nvSpPr>
        <p:spPr>
          <a:xfrm xmlns:a="http://schemas.openxmlformats.org/drawingml/2006/main">
            <a:off x="4457700" y="3171825"/>
            <a:ext cx="141922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mandate + event authority</a:t>
            </a:r>
          </a:p>
        </p:txBody>
      </p:sp>
      <p:sp>
        <p:nvSpPr>
          <p:cNvPr id="20" name="architecture-link-3">
            <a:extLst xmlns:a="http://schemas.openxmlformats.org/drawingml/2006/main">
              <a:ext uri="{FF2B5EF4-FFF2-40B4-BE49-F238E27FC236}">
                <a16:creationId xmlns:a16="http://schemas.microsoft.com/office/drawing/2014/main" id="{22B1000B-5AC9-4C66-B9EC-31317D6B1323}"/>
              </a:ext>
            </a:extLst>
          </p:cNvPr>
          <p:cNvSpPr>
            <a:spLocks xmlns:a="http://schemas.openxmlformats.org/drawingml/2006/main" noGrp="1"/>
          </p:cNvSpPr>
          <p:nvPr/>
        </p:nvSpPr>
        <p:spPr>
          <a:xfrm xmlns:a="http://schemas.openxmlformats.org/drawingml/2006/main">
            <a:off x="6029325" y="2905125"/>
            <a:ext cx="123825" cy="190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21" name="node-4">
            <a:extLst xmlns:a="http://schemas.openxmlformats.org/drawingml/2006/main">
              <a:ext uri="{FF2B5EF4-FFF2-40B4-BE49-F238E27FC236}">
                <a16:creationId xmlns:a16="http://schemas.microsoft.com/office/drawing/2014/main" id="{2D6E163B-5494-4A4B-8FAE-D1B47EAA6080}"/>
              </a:ext>
            </a:extLst>
          </p:cNvPr>
          <p:cNvSpPr>
            <a:spLocks xmlns:a="http://schemas.openxmlformats.org/drawingml/2006/main" noGrp="1"/>
          </p:cNvSpPr>
          <p:nvPr/>
        </p:nvSpPr>
        <p:spPr>
          <a:xfrm xmlns:a="http://schemas.openxmlformats.org/drawingml/2006/main">
            <a:off x="6153150" y="2238375"/>
            <a:ext cx="1724025" cy="135255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22" name="">
            <a:extLst xmlns:a="http://schemas.openxmlformats.org/drawingml/2006/main">
              <a:ext uri="{FF2B5EF4-FFF2-40B4-BE49-F238E27FC236}">
                <a16:creationId xmlns:a16="http://schemas.microsoft.com/office/drawing/2014/main" id="{C0DA6D4C-BFB7-4FCC-8307-76E55F7BA6E7}"/>
              </a:ext>
            </a:extLst>
          </p:cNvPr>
          <p:cNvSpPr>
            <a:spLocks xmlns:a="http://schemas.openxmlformats.org/drawingml/2006/main" noGrp="1"/>
          </p:cNvSpPr>
          <p:nvPr/>
        </p:nvSpPr>
        <p:spPr>
          <a:xfrm xmlns:a="http://schemas.openxmlformats.org/drawingml/2006/main">
            <a:off x="6305550" y="236220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04</a:t>
            </a:r>
          </a:p>
        </p:txBody>
      </p:sp>
      <p:sp>
        <p:nvSpPr>
          <p:cNvPr id="23" name="">
            <a:extLst xmlns:a="http://schemas.openxmlformats.org/drawingml/2006/main">
              <a:ext uri="{FF2B5EF4-FFF2-40B4-BE49-F238E27FC236}">
                <a16:creationId xmlns:a16="http://schemas.microsoft.com/office/drawing/2014/main" id="{3388FC5A-7952-4C15-8973-E26D97A3D715}"/>
              </a:ext>
            </a:extLst>
          </p:cNvPr>
          <p:cNvSpPr>
            <a:spLocks xmlns:a="http://schemas.openxmlformats.org/drawingml/2006/main" noGrp="1"/>
          </p:cNvSpPr>
          <p:nvPr/>
        </p:nvSpPr>
        <p:spPr>
          <a:xfrm xmlns:a="http://schemas.openxmlformats.org/drawingml/2006/main">
            <a:off x="6305550" y="2619375"/>
            <a:ext cx="1419225"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Evidence bundle</a:t>
            </a:r>
          </a:p>
        </p:txBody>
      </p:sp>
      <p:sp>
        <p:nvSpPr>
          <p:cNvPr id="24" name="">
            <a:extLst xmlns:a="http://schemas.openxmlformats.org/drawingml/2006/main">
              <a:ext uri="{FF2B5EF4-FFF2-40B4-BE49-F238E27FC236}">
                <a16:creationId xmlns:a16="http://schemas.microsoft.com/office/drawing/2014/main" id="{FA95E361-9744-4257-A8F1-FD8B17419E92}"/>
              </a:ext>
            </a:extLst>
          </p:cNvPr>
          <p:cNvSpPr>
            <a:spLocks xmlns:a="http://schemas.openxmlformats.org/drawingml/2006/main" noGrp="1"/>
          </p:cNvSpPr>
          <p:nvPr/>
        </p:nvSpPr>
        <p:spPr>
          <a:xfrm xmlns:a="http://schemas.openxmlformats.org/drawingml/2006/main">
            <a:off x="6305550" y="3171825"/>
            <a:ext cx="141922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minimum relevant rows</a:t>
            </a:r>
          </a:p>
        </p:txBody>
      </p:sp>
      <p:sp>
        <p:nvSpPr>
          <p:cNvPr id="25" name="architecture-link-4">
            <a:extLst xmlns:a="http://schemas.openxmlformats.org/drawingml/2006/main">
              <a:ext uri="{FF2B5EF4-FFF2-40B4-BE49-F238E27FC236}">
                <a16:creationId xmlns:a16="http://schemas.microsoft.com/office/drawing/2014/main" id="{58B93C04-2F10-4ED6-9E10-3ECC0F56D90D}"/>
              </a:ext>
            </a:extLst>
          </p:cNvPr>
          <p:cNvSpPr>
            <a:spLocks xmlns:a="http://schemas.openxmlformats.org/drawingml/2006/main" noGrp="1"/>
          </p:cNvSpPr>
          <p:nvPr/>
        </p:nvSpPr>
        <p:spPr>
          <a:xfrm xmlns:a="http://schemas.openxmlformats.org/drawingml/2006/main">
            <a:off x="7877175" y="2905125"/>
            <a:ext cx="123825" cy="190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26" name="node-5">
            <a:extLst xmlns:a="http://schemas.openxmlformats.org/drawingml/2006/main">
              <a:ext uri="{FF2B5EF4-FFF2-40B4-BE49-F238E27FC236}">
                <a16:creationId xmlns:a16="http://schemas.microsoft.com/office/drawing/2014/main" id="{BC8693C4-1ACC-4405-8E83-93C4CA0BCA02}"/>
              </a:ext>
            </a:extLst>
          </p:cNvPr>
          <p:cNvSpPr>
            <a:spLocks xmlns:a="http://schemas.openxmlformats.org/drawingml/2006/main" noGrp="1"/>
          </p:cNvSpPr>
          <p:nvPr/>
        </p:nvSpPr>
        <p:spPr>
          <a:xfrm xmlns:a="http://schemas.openxmlformats.org/drawingml/2006/main">
            <a:off x="8001000" y="2238375"/>
            <a:ext cx="1724025" cy="135255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27" name="">
            <a:extLst xmlns:a="http://schemas.openxmlformats.org/drawingml/2006/main">
              <a:ext uri="{FF2B5EF4-FFF2-40B4-BE49-F238E27FC236}">
                <a16:creationId xmlns:a16="http://schemas.microsoft.com/office/drawing/2014/main" id="{3A2AD508-4119-4C29-89FB-18A740EE8803}"/>
              </a:ext>
            </a:extLst>
          </p:cNvPr>
          <p:cNvSpPr>
            <a:spLocks xmlns:a="http://schemas.openxmlformats.org/drawingml/2006/main" noGrp="1"/>
          </p:cNvSpPr>
          <p:nvPr/>
        </p:nvSpPr>
        <p:spPr>
          <a:xfrm xmlns:a="http://schemas.openxmlformats.org/drawingml/2006/main">
            <a:off x="8153400" y="236220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05</a:t>
            </a:r>
          </a:p>
        </p:txBody>
      </p:sp>
      <p:sp>
        <p:nvSpPr>
          <p:cNvPr id="28" name="">
            <a:extLst xmlns:a="http://schemas.openxmlformats.org/drawingml/2006/main">
              <a:ext uri="{FF2B5EF4-FFF2-40B4-BE49-F238E27FC236}">
                <a16:creationId xmlns:a16="http://schemas.microsoft.com/office/drawing/2014/main" id="{172F09E6-CAA3-41E1-A0E7-1E435723B2F0}"/>
              </a:ext>
            </a:extLst>
          </p:cNvPr>
          <p:cNvSpPr>
            <a:spLocks xmlns:a="http://schemas.openxmlformats.org/drawingml/2006/main" noGrp="1"/>
          </p:cNvSpPr>
          <p:nvPr/>
        </p:nvSpPr>
        <p:spPr>
          <a:xfrm xmlns:a="http://schemas.openxmlformats.org/drawingml/2006/main">
            <a:off x="8153400" y="2619375"/>
            <a:ext cx="1419225"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Private model</a:t>
            </a:r>
          </a:p>
        </p:txBody>
      </p:sp>
      <p:sp>
        <p:nvSpPr>
          <p:cNvPr id="29" name="">
            <a:extLst xmlns:a="http://schemas.openxmlformats.org/drawingml/2006/main">
              <a:ext uri="{FF2B5EF4-FFF2-40B4-BE49-F238E27FC236}">
                <a16:creationId xmlns:a16="http://schemas.microsoft.com/office/drawing/2014/main" id="{074B70B7-3C2A-4F2D-926A-802EE8B29277}"/>
              </a:ext>
            </a:extLst>
          </p:cNvPr>
          <p:cNvSpPr>
            <a:spLocks xmlns:a="http://schemas.openxmlformats.org/drawingml/2006/main" noGrp="1"/>
          </p:cNvSpPr>
          <p:nvPr/>
        </p:nvSpPr>
        <p:spPr>
          <a:xfrm xmlns:a="http://schemas.openxmlformats.org/drawingml/2006/main">
            <a:off x="8153400" y="3171825"/>
            <a:ext cx="141922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narrative inside bank</a:t>
            </a:r>
          </a:p>
        </p:txBody>
      </p:sp>
      <p:sp>
        <p:nvSpPr>
          <p:cNvPr id="30" name="architecture-link-5">
            <a:extLst xmlns:a="http://schemas.openxmlformats.org/drawingml/2006/main">
              <a:ext uri="{FF2B5EF4-FFF2-40B4-BE49-F238E27FC236}">
                <a16:creationId xmlns:a16="http://schemas.microsoft.com/office/drawing/2014/main" id="{9DDAECEF-3403-4CB4-8A2F-C633CF221E52}"/>
              </a:ext>
            </a:extLst>
          </p:cNvPr>
          <p:cNvSpPr>
            <a:spLocks xmlns:a="http://schemas.openxmlformats.org/drawingml/2006/main" noGrp="1"/>
          </p:cNvSpPr>
          <p:nvPr/>
        </p:nvSpPr>
        <p:spPr>
          <a:xfrm xmlns:a="http://schemas.openxmlformats.org/drawingml/2006/main">
            <a:off x="9725025" y="2905125"/>
            <a:ext cx="123825" cy="190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1" name="node-6">
            <a:extLst xmlns:a="http://schemas.openxmlformats.org/drawingml/2006/main">
              <a:ext uri="{FF2B5EF4-FFF2-40B4-BE49-F238E27FC236}">
                <a16:creationId xmlns:a16="http://schemas.microsoft.com/office/drawing/2014/main" id="{F6DBDBFD-7793-4FB9-896D-29528FE9DED6}"/>
              </a:ext>
            </a:extLst>
          </p:cNvPr>
          <p:cNvSpPr>
            <a:spLocks xmlns:a="http://schemas.openxmlformats.org/drawingml/2006/main" noGrp="1"/>
          </p:cNvSpPr>
          <p:nvPr/>
        </p:nvSpPr>
        <p:spPr>
          <a:xfrm xmlns:a="http://schemas.openxmlformats.org/drawingml/2006/main">
            <a:off x="9848850" y="2238375"/>
            <a:ext cx="1724025" cy="135255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32" name="">
            <a:extLst xmlns:a="http://schemas.openxmlformats.org/drawingml/2006/main">
              <a:ext uri="{FF2B5EF4-FFF2-40B4-BE49-F238E27FC236}">
                <a16:creationId xmlns:a16="http://schemas.microsoft.com/office/drawing/2014/main" id="{3CD56CE5-0E0E-4D0A-A993-83FD9EABCEBD}"/>
              </a:ext>
            </a:extLst>
          </p:cNvPr>
          <p:cNvSpPr>
            <a:spLocks xmlns:a="http://schemas.openxmlformats.org/drawingml/2006/main" noGrp="1"/>
          </p:cNvSpPr>
          <p:nvPr/>
        </p:nvSpPr>
        <p:spPr>
          <a:xfrm xmlns:a="http://schemas.openxmlformats.org/drawingml/2006/main">
            <a:off x="10001250" y="236220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06</a:t>
            </a:r>
          </a:p>
        </p:txBody>
      </p:sp>
      <p:sp>
        <p:nvSpPr>
          <p:cNvPr id="33" name="">
            <a:extLst xmlns:a="http://schemas.openxmlformats.org/drawingml/2006/main">
              <a:ext uri="{FF2B5EF4-FFF2-40B4-BE49-F238E27FC236}">
                <a16:creationId xmlns:a16="http://schemas.microsoft.com/office/drawing/2014/main" id="{31216417-AC22-44D9-BA72-00E5D3ECC954}"/>
              </a:ext>
            </a:extLst>
          </p:cNvPr>
          <p:cNvSpPr>
            <a:spLocks xmlns:a="http://schemas.openxmlformats.org/drawingml/2006/main" noGrp="1"/>
          </p:cNvSpPr>
          <p:nvPr/>
        </p:nvSpPr>
        <p:spPr>
          <a:xfrm xmlns:a="http://schemas.openxmlformats.org/drawingml/2006/main">
            <a:off x="10001250" y="2619375"/>
            <a:ext cx="1419225"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RM decision</a:t>
            </a:r>
          </a:p>
        </p:txBody>
      </p:sp>
      <p:sp>
        <p:nvSpPr>
          <p:cNvPr id="34" name="">
            <a:extLst xmlns:a="http://schemas.openxmlformats.org/drawingml/2006/main">
              <a:ext uri="{FF2B5EF4-FFF2-40B4-BE49-F238E27FC236}">
                <a16:creationId xmlns:a16="http://schemas.microsoft.com/office/drawing/2014/main" id="{60AEBA32-58A0-4D90-8A5B-34C720361DB6}"/>
              </a:ext>
            </a:extLst>
          </p:cNvPr>
          <p:cNvSpPr>
            <a:spLocks xmlns:a="http://schemas.openxmlformats.org/drawingml/2006/main" noGrp="1"/>
          </p:cNvSpPr>
          <p:nvPr/>
        </p:nvSpPr>
        <p:spPr>
          <a:xfrm xmlns:a="http://schemas.openxmlformats.org/drawingml/2006/main">
            <a:off x="10001250" y="3171825"/>
            <a:ext cx="141922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approve / edit / reject</a:t>
            </a:r>
          </a:p>
        </p:txBody>
      </p:sp>
      <p:sp>
        <p:nvSpPr>
          <p:cNvPr id="35" name="controls-panel">
            <a:extLst xmlns:a="http://schemas.openxmlformats.org/drawingml/2006/main">
              <a:ext uri="{FF2B5EF4-FFF2-40B4-BE49-F238E27FC236}">
                <a16:creationId xmlns:a16="http://schemas.microsoft.com/office/drawing/2014/main" id="{74865EC8-6477-4A1F-808E-D18F50C19840}"/>
              </a:ext>
            </a:extLst>
          </p:cNvPr>
          <p:cNvSpPr>
            <a:spLocks xmlns:a="http://schemas.openxmlformats.org/drawingml/2006/main" noGrp="1"/>
          </p:cNvSpPr>
          <p:nvPr/>
        </p:nvSpPr>
        <p:spPr>
          <a:xfrm xmlns:a="http://schemas.openxmlformats.org/drawingml/2006/main">
            <a:off x="609600" y="4010025"/>
            <a:ext cx="10972800" cy="1933575"/>
          </a:xfrm>
          <a:prstGeom xmlns:a="http://schemas.openxmlformats.org/drawingml/2006/main" prst="rect">
            <a:avLst/>
          </a:prstGeom>
          <a:solidFill xmlns:a="http://schemas.openxmlformats.org/drawingml/2006/main">
            <a:srgbClr val="FBF9F4"/>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0D16A517-B4F9-4D37-B38C-6BD96A4B1800}"/>
              </a:ext>
            </a:extLst>
          </p:cNvPr>
          <p:cNvSpPr>
            <a:spLocks xmlns:a="http://schemas.openxmlformats.org/drawingml/2006/main" noGrp="1"/>
          </p:cNvSpPr>
          <p:nvPr/>
        </p:nvSpPr>
        <p:spPr>
          <a:xfrm xmlns:a="http://schemas.openxmlformats.org/drawingml/2006/main">
            <a:off x="838200" y="4229100"/>
            <a:ext cx="209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FIVE NON-NEGOTIABLES</a:t>
            </a:r>
          </a:p>
        </p:txBody>
      </p:sp>
      <p:sp>
        <p:nvSpPr>
          <p:cNvPr id="37" name="">
            <a:extLst xmlns:a="http://schemas.openxmlformats.org/drawingml/2006/main">
              <a:ext uri="{FF2B5EF4-FFF2-40B4-BE49-F238E27FC236}">
                <a16:creationId xmlns:a16="http://schemas.microsoft.com/office/drawing/2014/main" id="{93DC911C-EDA3-4271-B80C-EDFC080D2E2E}"/>
              </a:ext>
            </a:extLst>
          </p:cNvPr>
          <p:cNvSpPr>
            <a:spLocks xmlns:a="http://schemas.openxmlformats.org/drawingml/2006/main" noGrp="1"/>
          </p:cNvSpPr>
          <p:nvPr/>
        </p:nvSpPr>
        <p:spPr>
          <a:xfrm xmlns:a="http://schemas.openxmlformats.org/drawingml/2006/main">
            <a:off x="838200" y="4629150"/>
            <a:ext cx="342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01</a:t>
            </a:r>
          </a:p>
        </p:txBody>
      </p:sp>
      <p:sp>
        <p:nvSpPr>
          <p:cNvPr id="38" name="">
            <a:extLst xmlns:a="http://schemas.openxmlformats.org/drawingml/2006/main">
              <a:ext uri="{FF2B5EF4-FFF2-40B4-BE49-F238E27FC236}">
                <a16:creationId xmlns:a16="http://schemas.microsoft.com/office/drawing/2014/main" id="{672FA831-E198-4CA7-BFB0-D721449E2D54}"/>
              </a:ext>
            </a:extLst>
          </p:cNvPr>
          <p:cNvSpPr>
            <a:spLocks xmlns:a="http://schemas.openxmlformats.org/drawingml/2006/main" noGrp="1"/>
          </p:cNvSpPr>
          <p:nvPr/>
        </p:nvSpPr>
        <p:spPr>
          <a:xfrm xmlns:a="http://schemas.openxmlformats.org/drawingml/2006/main">
            <a:off x="838200" y="4905375"/>
            <a:ext cx="17907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Authoritative events</a:t>
            </a:r>
          </a:p>
        </p:txBody>
      </p:sp>
      <p:sp>
        <p:nvSpPr>
          <p:cNvPr id="39" name="">
            <a:extLst xmlns:a="http://schemas.openxmlformats.org/drawingml/2006/main">
              <a:ext uri="{FF2B5EF4-FFF2-40B4-BE49-F238E27FC236}">
                <a16:creationId xmlns:a16="http://schemas.microsoft.com/office/drawing/2014/main" id="{79A2C245-B290-4F26-AB72-571DB530B294}"/>
              </a:ext>
            </a:extLst>
          </p:cNvPr>
          <p:cNvSpPr>
            <a:spLocks xmlns:a="http://schemas.openxmlformats.org/drawingml/2006/main" noGrp="1"/>
          </p:cNvSpPr>
          <p:nvPr/>
        </p:nvSpPr>
        <p:spPr>
          <a:xfrm xmlns:a="http://schemas.openxmlformats.org/drawingml/2006/main">
            <a:off x="838200" y="5238750"/>
            <a:ext cx="1809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2026 market claims only from event_log.csv</a:t>
            </a:r>
          </a:p>
        </p:txBody>
      </p:sp>
      <p:sp>
        <p:nvSpPr>
          <p:cNvPr id="40" name="control-separator-1">
            <a:extLst xmlns:a="http://schemas.openxmlformats.org/drawingml/2006/main">
              <a:ext uri="{FF2B5EF4-FFF2-40B4-BE49-F238E27FC236}">
                <a16:creationId xmlns:a16="http://schemas.microsoft.com/office/drawing/2014/main" id="{1C4CA4EA-D6E0-4341-BA10-6CA2FC0AA1A9}"/>
              </a:ext>
            </a:extLst>
          </p:cNvPr>
          <p:cNvSpPr>
            <a:spLocks xmlns:a="http://schemas.openxmlformats.org/drawingml/2006/main" noGrp="1"/>
          </p:cNvSpPr>
          <p:nvPr/>
        </p:nvSpPr>
        <p:spPr>
          <a:xfrm xmlns:a="http://schemas.openxmlformats.org/drawingml/2006/main">
            <a:off x="2771775" y="4600575"/>
            <a:ext cx="9525" cy="1085850"/>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286FBD00-7C47-456A-A0DE-3C0194C9F788}"/>
              </a:ext>
            </a:extLst>
          </p:cNvPr>
          <p:cNvSpPr>
            <a:spLocks xmlns:a="http://schemas.openxmlformats.org/drawingml/2006/main" noGrp="1"/>
          </p:cNvSpPr>
          <p:nvPr/>
        </p:nvSpPr>
        <p:spPr>
          <a:xfrm xmlns:a="http://schemas.openxmlformats.org/drawingml/2006/main">
            <a:off x="2943225" y="4629150"/>
            <a:ext cx="342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02</a:t>
            </a:r>
          </a:p>
        </p:txBody>
      </p:sp>
      <p:sp>
        <p:nvSpPr>
          <p:cNvPr id="42" name="">
            <a:extLst xmlns:a="http://schemas.openxmlformats.org/drawingml/2006/main">
              <a:ext uri="{FF2B5EF4-FFF2-40B4-BE49-F238E27FC236}">
                <a16:creationId xmlns:a16="http://schemas.microsoft.com/office/drawing/2014/main" id="{489C7F97-4200-43E7-9AAD-C1997492FF29}"/>
              </a:ext>
            </a:extLst>
          </p:cNvPr>
          <p:cNvSpPr>
            <a:spLocks xmlns:a="http://schemas.openxmlformats.org/drawingml/2006/main" noGrp="1"/>
          </p:cNvSpPr>
          <p:nvPr/>
        </p:nvSpPr>
        <p:spPr>
          <a:xfrm xmlns:a="http://schemas.openxmlformats.org/drawingml/2006/main">
            <a:off x="2943225" y="4905375"/>
            <a:ext cx="17907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Suitability first</a:t>
            </a:r>
          </a:p>
        </p:txBody>
      </p:sp>
      <p:sp>
        <p:nvSpPr>
          <p:cNvPr id="43" name="">
            <a:extLst xmlns:a="http://schemas.openxmlformats.org/drawingml/2006/main">
              <a:ext uri="{FF2B5EF4-FFF2-40B4-BE49-F238E27FC236}">
                <a16:creationId xmlns:a16="http://schemas.microsoft.com/office/drawing/2014/main" id="{CDFF3315-0115-43AF-BFFD-E472DFD0441F}"/>
              </a:ext>
            </a:extLst>
          </p:cNvPr>
          <p:cNvSpPr>
            <a:spLocks xmlns:a="http://schemas.openxmlformats.org/drawingml/2006/main" noGrp="1"/>
          </p:cNvSpPr>
          <p:nvPr/>
        </p:nvSpPr>
        <p:spPr>
          <a:xfrm xmlns:a="http://schemas.openxmlformats.org/drawingml/2006/main">
            <a:off x="2943225" y="5238750"/>
            <a:ext cx="1809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mandate, exclusions, credit and liquidity before prose</a:t>
            </a:r>
          </a:p>
        </p:txBody>
      </p:sp>
      <p:sp>
        <p:nvSpPr>
          <p:cNvPr id="44" name="control-separator-2">
            <a:extLst xmlns:a="http://schemas.openxmlformats.org/drawingml/2006/main">
              <a:ext uri="{FF2B5EF4-FFF2-40B4-BE49-F238E27FC236}">
                <a16:creationId xmlns:a16="http://schemas.microsoft.com/office/drawing/2014/main" id="{7566DFE9-ED3A-4097-9BE6-11377C00157D}"/>
              </a:ext>
            </a:extLst>
          </p:cNvPr>
          <p:cNvSpPr>
            <a:spLocks xmlns:a="http://schemas.openxmlformats.org/drawingml/2006/main" noGrp="1"/>
          </p:cNvSpPr>
          <p:nvPr/>
        </p:nvSpPr>
        <p:spPr>
          <a:xfrm xmlns:a="http://schemas.openxmlformats.org/drawingml/2006/main">
            <a:off x="4876800" y="4600575"/>
            <a:ext cx="9525" cy="1085850"/>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955C77CF-74F9-4D84-BBB7-1B6FBE4169A4}"/>
              </a:ext>
            </a:extLst>
          </p:cNvPr>
          <p:cNvSpPr>
            <a:spLocks xmlns:a="http://schemas.openxmlformats.org/drawingml/2006/main" noGrp="1"/>
          </p:cNvSpPr>
          <p:nvPr/>
        </p:nvSpPr>
        <p:spPr>
          <a:xfrm xmlns:a="http://schemas.openxmlformats.org/drawingml/2006/main">
            <a:off x="5048250" y="4629150"/>
            <a:ext cx="342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03</a:t>
            </a:r>
          </a:p>
        </p:txBody>
      </p:sp>
      <p:sp>
        <p:nvSpPr>
          <p:cNvPr id="46" name="">
            <a:extLst xmlns:a="http://schemas.openxmlformats.org/drawingml/2006/main">
              <a:ext uri="{FF2B5EF4-FFF2-40B4-BE49-F238E27FC236}">
                <a16:creationId xmlns:a16="http://schemas.microsoft.com/office/drawing/2014/main" id="{B98AF38C-AFC6-48F9-8F4D-1C752BCD62A5}"/>
              </a:ext>
            </a:extLst>
          </p:cNvPr>
          <p:cNvSpPr>
            <a:spLocks xmlns:a="http://schemas.openxmlformats.org/drawingml/2006/main" noGrp="1"/>
          </p:cNvSpPr>
          <p:nvPr/>
        </p:nvSpPr>
        <p:spPr>
          <a:xfrm xmlns:a="http://schemas.openxmlformats.org/drawingml/2006/main">
            <a:off x="5048250" y="4905375"/>
            <a:ext cx="17907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Conflicts stay visible</a:t>
            </a:r>
          </a:p>
        </p:txBody>
      </p:sp>
      <p:sp>
        <p:nvSpPr>
          <p:cNvPr id="47" name="">
            <a:extLst xmlns:a="http://schemas.openxmlformats.org/drawingml/2006/main">
              <a:ext uri="{FF2B5EF4-FFF2-40B4-BE49-F238E27FC236}">
                <a16:creationId xmlns:a16="http://schemas.microsoft.com/office/drawing/2014/main" id="{E79954ED-5FAD-4425-813F-FECA44D05D26}"/>
              </a:ext>
            </a:extLst>
          </p:cNvPr>
          <p:cNvSpPr>
            <a:spLocks xmlns:a="http://schemas.openxmlformats.org/drawingml/2006/main" noGrp="1"/>
          </p:cNvSpPr>
          <p:nvPr/>
        </p:nvSpPr>
        <p:spPr>
          <a:xfrm xmlns:a="http://schemas.openxmlformats.org/drawingml/2006/main">
            <a:off x="5048250" y="5238750"/>
            <a:ext cx="1809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uncertainty becomes a question, never an average</a:t>
            </a:r>
          </a:p>
        </p:txBody>
      </p:sp>
      <p:sp>
        <p:nvSpPr>
          <p:cNvPr id="48" name="control-separator-3">
            <a:extLst xmlns:a="http://schemas.openxmlformats.org/drawingml/2006/main">
              <a:ext uri="{FF2B5EF4-FFF2-40B4-BE49-F238E27FC236}">
                <a16:creationId xmlns:a16="http://schemas.microsoft.com/office/drawing/2014/main" id="{359C55C5-5F47-483F-91DD-DE38E9C612A2}"/>
              </a:ext>
            </a:extLst>
          </p:cNvPr>
          <p:cNvSpPr>
            <a:spLocks xmlns:a="http://schemas.openxmlformats.org/drawingml/2006/main" noGrp="1"/>
          </p:cNvSpPr>
          <p:nvPr/>
        </p:nvSpPr>
        <p:spPr>
          <a:xfrm xmlns:a="http://schemas.openxmlformats.org/drawingml/2006/main">
            <a:off x="6981825" y="4600575"/>
            <a:ext cx="9525" cy="1085850"/>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9171CE5A-4BC7-4CBB-BBA8-01541A4FA71E}"/>
              </a:ext>
            </a:extLst>
          </p:cNvPr>
          <p:cNvSpPr>
            <a:spLocks xmlns:a="http://schemas.openxmlformats.org/drawingml/2006/main" noGrp="1"/>
          </p:cNvSpPr>
          <p:nvPr/>
        </p:nvSpPr>
        <p:spPr>
          <a:xfrm xmlns:a="http://schemas.openxmlformats.org/drawingml/2006/main">
            <a:off x="7153275" y="4629150"/>
            <a:ext cx="342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04</a:t>
            </a:r>
          </a:p>
        </p:txBody>
      </p:sp>
      <p:sp>
        <p:nvSpPr>
          <p:cNvPr id="50" name="">
            <a:extLst xmlns:a="http://schemas.openxmlformats.org/drawingml/2006/main">
              <a:ext uri="{FF2B5EF4-FFF2-40B4-BE49-F238E27FC236}">
                <a16:creationId xmlns:a16="http://schemas.microsoft.com/office/drawing/2014/main" id="{45CE3527-B5CA-43EB-AFC9-54F9ED8699B8}"/>
              </a:ext>
            </a:extLst>
          </p:cNvPr>
          <p:cNvSpPr>
            <a:spLocks xmlns:a="http://schemas.openxmlformats.org/drawingml/2006/main" noGrp="1"/>
          </p:cNvSpPr>
          <p:nvPr/>
        </p:nvSpPr>
        <p:spPr>
          <a:xfrm xmlns:a="http://schemas.openxmlformats.org/drawingml/2006/main">
            <a:off x="7153275" y="4905375"/>
            <a:ext cx="17907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Zero public-LLM egress</a:t>
            </a:r>
          </a:p>
        </p:txBody>
      </p:sp>
      <p:sp>
        <p:nvSpPr>
          <p:cNvPr id="51" name="">
            <a:extLst xmlns:a="http://schemas.openxmlformats.org/drawingml/2006/main">
              <a:ext uri="{FF2B5EF4-FFF2-40B4-BE49-F238E27FC236}">
                <a16:creationId xmlns:a16="http://schemas.microsoft.com/office/drawing/2014/main" id="{C210D90C-F4E5-42C1-9AAE-21AFD6041C46}"/>
              </a:ext>
            </a:extLst>
          </p:cNvPr>
          <p:cNvSpPr>
            <a:spLocks xmlns:a="http://schemas.openxmlformats.org/drawingml/2006/main" noGrp="1"/>
          </p:cNvSpPr>
          <p:nvPr/>
        </p:nvSpPr>
        <p:spPr>
          <a:xfrm xmlns:a="http://schemas.openxmlformats.org/drawingml/2006/main">
            <a:off x="7153275" y="5238750"/>
            <a:ext cx="1809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private deployment + purpose-limited evidence</a:t>
            </a:r>
          </a:p>
        </p:txBody>
      </p:sp>
      <p:sp>
        <p:nvSpPr>
          <p:cNvPr id="52" name="control-separator-4">
            <a:extLst xmlns:a="http://schemas.openxmlformats.org/drawingml/2006/main">
              <a:ext uri="{FF2B5EF4-FFF2-40B4-BE49-F238E27FC236}">
                <a16:creationId xmlns:a16="http://schemas.microsoft.com/office/drawing/2014/main" id="{9D7624B7-E835-4726-9CEE-436344E29D36}"/>
              </a:ext>
            </a:extLst>
          </p:cNvPr>
          <p:cNvSpPr>
            <a:spLocks xmlns:a="http://schemas.openxmlformats.org/drawingml/2006/main" noGrp="1"/>
          </p:cNvSpPr>
          <p:nvPr/>
        </p:nvSpPr>
        <p:spPr>
          <a:xfrm xmlns:a="http://schemas.openxmlformats.org/drawingml/2006/main">
            <a:off x="9086850" y="4600575"/>
            <a:ext cx="9525" cy="1085850"/>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A0F42730-86C9-4E99-8DA0-28A34E11C110}"/>
              </a:ext>
            </a:extLst>
          </p:cNvPr>
          <p:cNvSpPr>
            <a:spLocks xmlns:a="http://schemas.openxmlformats.org/drawingml/2006/main" noGrp="1"/>
          </p:cNvSpPr>
          <p:nvPr/>
        </p:nvSpPr>
        <p:spPr>
          <a:xfrm xmlns:a="http://schemas.openxmlformats.org/drawingml/2006/main">
            <a:off x="9258300" y="4629150"/>
            <a:ext cx="342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05</a:t>
            </a:r>
          </a:p>
        </p:txBody>
      </p:sp>
      <p:sp>
        <p:nvSpPr>
          <p:cNvPr id="54" name="">
            <a:extLst xmlns:a="http://schemas.openxmlformats.org/drawingml/2006/main">
              <a:ext uri="{FF2B5EF4-FFF2-40B4-BE49-F238E27FC236}">
                <a16:creationId xmlns:a16="http://schemas.microsoft.com/office/drawing/2014/main" id="{8C4C3989-FF1C-40B8-AAE2-2ED7C717876D}"/>
              </a:ext>
            </a:extLst>
          </p:cNvPr>
          <p:cNvSpPr>
            <a:spLocks xmlns:a="http://schemas.openxmlformats.org/drawingml/2006/main" noGrp="1"/>
          </p:cNvSpPr>
          <p:nvPr/>
        </p:nvSpPr>
        <p:spPr>
          <a:xfrm xmlns:a="http://schemas.openxmlformats.org/drawingml/2006/main">
            <a:off x="9258300" y="4905375"/>
            <a:ext cx="17907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Human accountability</a:t>
            </a:r>
          </a:p>
        </p:txBody>
      </p:sp>
      <p:sp>
        <p:nvSpPr>
          <p:cNvPr id="55" name="">
            <a:extLst xmlns:a="http://schemas.openxmlformats.org/drawingml/2006/main">
              <a:ext uri="{FF2B5EF4-FFF2-40B4-BE49-F238E27FC236}">
                <a16:creationId xmlns:a16="http://schemas.microsoft.com/office/drawing/2014/main" id="{E708CCF7-8F03-49E6-9E41-D1D99C3207DA}"/>
              </a:ext>
            </a:extLst>
          </p:cNvPr>
          <p:cNvSpPr>
            <a:spLocks xmlns:a="http://schemas.openxmlformats.org/drawingml/2006/main" noGrp="1"/>
          </p:cNvSpPr>
          <p:nvPr/>
        </p:nvSpPr>
        <p:spPr>
          <a:xfrm xmlns:a="http://schemas.openxmlformats.org/drawingml/2006/main">
            <a:off x="9258300" y="5238750"/>
            <a:ext cx="1809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decision, edit and rationale remain attached</a:t>
            </a:r>
          </a:p>
        </p:txBody>
      </p:sp>
      <p:sp>
        <p:nvSpPr>
          <p:cNvPr id="56" name="footer-rule-9">
            <a:extLst xmlns:a="http://schemas.openxmlformats.org/drawingml/2006/main">
              <a:ext uri="{FF2B5EF4-FFF2-40B4-BE49-F238E27FC236}">
                <a16:creationId xmlns:a16="http://schemas.microsoft.com/office/drawing/2014/main" id="{7706294E-9B1D-4957-86E2-18B2D8054D9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40514D"/>
          </a:solidFill>
          <a:ln xmlns:a="http://schemas.openxmlformats.org/drawingml/2006/main" w="0">
            <a:solidFill>
              <a:srgbClr val="000000">
                <a:alpha val="0"/>
              </a:srgbClr>
            </a:solidFill>
            <a:prstDash val="solid"/>
          </a:ln>
        </p:spPr>
      </p:sp>
      <p:sp>
        <p:nvSpPr>
          <p:cNvPr id="57" name="">
            <a:extLst xmlns:a="http://schemas.openxmlformats.org/drawingml/2006/main">
              <a:ext uri="{FF2B5EF4-FFF2-40B4-BE49-F238E27FC236}">
                <a16:creationId xmlns:a16="http://schemas.microsoft.com/office/drawing/2014/main" id="{98BA762D-AA2D-49FC-A753-79E13E683CB3}"/>
              </a:ext>
            </a:extLst>
          </p:cNvPr>
          <p:cNvSpPr>
            <a:spLocks xmlns:a="http://schemas.openxmlformats.org/drawingml/2006/main" noGrp="1"/>
          </p:cNvSpPr>
          <p:nvPr/>
        </p:nvSpPr>
        <p:spPr>
          <a:xfrm xmlns:a="http://schemas.openxmlformats.org/drawingml/2006/main">
            <a:off x="609600" y="6543675"/>
            <a:ext cx="942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0">
                <a:solidFill>
                  <a:srgbClr val="9EAAA6"/>
                </a:solidFill>
                <a:latin typeface="Aptos"/>
                <a:ea typeface="Aptos"/>
                <a:cs typeface="Aptos"/>
              </a:defRPr>
            </a:pPr>
            <a:r>
              <a:rPr sz="675" b="0">
                <a:solidFill>
                  <a:srgbClr val="9EAAA6"/>
                </a:solidFill>
                <a:latin typeface="Aptos"/>
                <a:ea typeface="Aptos"/>
                <a:cs typeface="Aptos"/>
              </a:rPr>
              <a:t>Prototype governance: 0 duplicate-grain rows · 0 orphan references · 1 lagged mark · 1 surfaced record conflict</a:t>
            </a:r>
          </a:p>
        </p:txBody>
      </p:sp>
      <p:sp>
        <p:nvSpPr>
          <p:cNvPr id="58" name="">
            <a:extLst xmlns:a="http://schemas.openxmlformats.org/drawingml/2006/main">
              <a:ext uri="{FF2B5EF4-FFF2-40B4-BE49-F238E27FC236}">
                <a16:creationId xmlns:a16="http://schemas.microsoft.com/office/drawing/2014/main" id="{987CB454-9C7B-484B-8705-819AE0F17E8C}"/>
              </a:ext>
            </a:extLst>
          </p:cNvPr>
          <p:cNvSpPr>
            <a:spLocks xmlns:a="http://schemas.openxmlformats.org/drawingml/2006/main" noGrp="1"/>
          </p:cNvSpPr>
          <p:nvPr/>
        </p:nvSpPr>
        <p:spPr>
          <a:xfrm xmlns:a="http://schemas.openxmlformats.org/drawingml/2006/main">
            <a:off x="10991850" y="65341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E7D6B5"/>
                </a:solidFill>
                <a:latin typeface="Aptos Mono"/>
                <a:ea typeface="Aptos Mono"/>
                <a:cs typeface="Aptos Mono"/>
              </a:defRPr>
            </a:pPr>
            <a:r>
              <a:rPr sz="750" b="1">
                <a:solidFill>
                  <a:srgbClr val="E7D6B5"/>
                </a:solidFill>
                <a:latin typeface="Aptos Mono"/>
                <a:ea typeface="Aptos Mono"/>
                <a:cs typeface="Aptos Mono"/>
              </a:rPr>
              <a:t>A3</a:t>
            </a:r>
          </a:p>
        </p:txBody>
      </p:sp>
    </p:spTree>
    <p:extLst>
      <p:ext uri="{BB962C8B-B14F-4D97-AF65-F5344CB8AC3E}">
        <p14:creationId xmlns:p14="http://schemas.microsoft.com/office/powerpoint/2010/main" val="4165771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2026-09-05T02:59:33.4060000Z</dcterms:created>
  <dcterms:modified xsi:type="dcterms:W3CDTF">2026-09-05T02:59:33.4060000Z</dcterms:modified>
</coreProperties>
</file>